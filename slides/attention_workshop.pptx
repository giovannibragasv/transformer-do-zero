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640080" y="1097280"/>
            <a:ext cx="73152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9E2A2B"/>
                </a:solidFill>
              </a:defRPr>
            </a:lvl1pPr>
          </a:lstStyle>
          <a:p>
            <a:pPr/>
            <a:r>
              <a:t>CESUPA TECH SUMMIT 2026  ·  WORKSHOP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640079" y="1600200"/>
            <a:ext cx="6949442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8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Attention is All You Need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640079" y="2514600"/>
            <a:ext cx="6949442" cy="41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rgbClr val="5F5F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Construindo um Transformer do zero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640080" y="4846320"/>
            <a:ext cx="548640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Giovanni Vasconcelos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80" y="5230367"/>
            <a:ext cx="548640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14 de outubro de 2026</a:t>
            </a:r>
          </a:p>
        </p:txBody>
      </p:sp>
      <p:sp>
        <p:nvSpPr>
          <p:cNvPr id="26" name="Shape 6"/>
          <p:cNvSpPr/>
          <p:nvPr/>
        </p:nvSpPr>
        <p:spPr>
          <a:xfrm>
            <a:off x="7818119" y="1371600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8293607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8769095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9244583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9720071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10195559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10671047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11146535" y="137160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7818119" y="1847088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5"/>
          <p:cNvSpPr/>
          <p:nvPr/>
        </p:nvSpPr>
        <p:spPr>
          <a:xfrm>
            <a:off x="8293607" y="1847088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6"/>
          <p:cNvSpPr/>
          <p:nvPr/>
        </p:nvSpPr>
        <p:spPr>
          <a:xfrm>
            <a:off x="8769095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7"/>
          <p:cNvSpPr/>
          <p:nvPr/>
        </p:nvSpPr>
        <p:spPr>
          <a:xfrm>
            <a:off x="9244583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8"/>
          <p:cNvSpPr/>
          <p:nvPr/>
        </p:nvSpPr>
        <p:spPr>
          <a:xfrm>
            <a:off x="9720071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9"/>
          <p:cNvSpPr/>
          <p:nvPr/>
        </p:nvSpPr>
        <p:spPr>
          <a:xfrm>
            <a:off x="10195559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20"/>
          <p:cNvSpPr/>
          <p:nvPr/>
        </p:nvSpPr>
        <p:spPr>
          <a:xfrm>
            <a:off x="10671047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21"/>
          <p:cNvSpPr/>
          <p:nvPr/>
        </p:nvSpPr>
        <p:spPr>
          <a:xfrm>
            <a:off x="11146535" y="184708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Shape 22"/>
          <p:cNvSpPr/>
          <p:nvPr/>
        </p:nvSpPr>
        <p:spPr>
          <a:xfrm>
            <a:off x="7818119" y="2322576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23"/>
          <p:cNvSpPr/>
          <p:nvPr/>
        </p:nvSpPr>
        <p:spPr>
          <a:xfrm>
            <a:off x="8293607" y="2322576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Shape 24"/>
          <p:cNvSpPr/>
          <p:nvPr/>
        </p:nvSpPr>
        <p:spPr>
          <a:xfrm>
            <a:off x="8769095" y="2322576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9244583" y="2322576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26"/>
          <p:cNvSpPr/>
          <p:nvPr/>
        </p:nvSpPr>
        <p:spPr>
          <a:xfrm>
            <a:off x="9720071" y="2322576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27"/>
          <p:cNvSpPr/>
          <p:nvPr/>
        </p:nvSpPr>
        <p:spPr>
          <a:xfrm>
            <a:off x="10195559" y="2322576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28"/>
          <p:cNvSpPr/>
          <p:nvPr/>
        </p:nvSpPr>
        <p:spPr>
          <a:xfrm>
            <a:off x="10671047" y="2322576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29"/>
          <p:cNvSpPr/>
          <p:nvPr/>
        </p:nvSpPr>
        <p:spPr>
          <a:xfrm>
            <a:off x="11146535" y="2322576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30"/>
          <p:cNvSpPr/>
          <p:nvPr/>
        </p:nvSpPr>
        <p:spPr>
          <a:xfrm>
            <a:off x="7818119" y="2798064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Shape 31"/>
          <p:cNvSpPr/>
          <p:nvPr/>
        </p:nvSpPr>
        <p:spPr>
          <a:xfrm>
            <a:off x="8293607" y="2798064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Shape 32"/>
          <p:cNvSpPr/>
          <p:nvPr/>
        </p:nvSpPr>
        <p:spPr>
          <a:xfrm>
            <a:off x="8769095" y="2798064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33"/>
          <p:cNvSpPr/>
          <p:nvPr/>
        </p:nvSpPr>
        <p:spPr>
          <a:xfrm>
            <a:off x="9244583" y="2798064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Shape 34"/>
          <p:cNvSpPr/>
          <p:nvPr/>
        </p:nvSpPr>
        <p:spPr>
          <a:xfrm>
            <a:off x="9720071" y="2798064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5"/>
          <p:cNvSpPr/>
          <p:nvPr/>
        </p:nvSpPr>
        <p:spPr>
          <a:xfrm>
            <a:off x="10195559" y="2798064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36"/>
          <p:cNvSpPr/>
          <p:nvPr/>
        </p:nvSpPr>
        <p:spPr>
          <a:xfrm>
            <a:off x="10671047" y="2798064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37"/>
          <p:cNvSpPr/>
          <p:nvPr/>
        </p:nvSpPr>
        <p:spPr>
          <a:xfrm>
            <a:off x="11146535" y="2798064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38"/>
          <p:cNvSpPr/>
          <p:nvPr/>
        </p:nvSpPr>
        <p:spPr>
          <a:xfrm>
            <a:off x="7818119" y="3273552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39"/>
          <p:cNvSpPr/>
          <p:nvPr/>
        </p:nvSpPr>
        <p:spPr>
          <a:xfrm>
            <a:off x="8293607" y="3273552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hape 40"/>
          <p:cNvSpPr/>
          <p:nvPr/>
        </p:nvSpPr>
        <p:spPr>
          <a:xfrm>
            <a:off x="8769095" y="3273552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41"/>
          <p:cNvSpPr/>
          <p:nvPr/>
        </p:nvSpPr>
        <p:spPr>
          <a:xfrm>
            <a:off x="9244583" y="3273552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42"/>
          <p:cNvSpPr/>
          <p:nvPr/>
        </p:nvSpPr>
        <p:spPr>
          <a:xfrm>
            <a:off x="9720071" y="3273552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Shape 43"/>
          <p:cNvSpPr/>
          <p:nvPr/>
        </p:nvSpPr>
        <p:spPr>
          <a:xfrm>
            <a:off x="10195559" y="3273552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44"/>
          <p:cNvSpPr/>
          <p:nvPr/>
        </p:nvSpPr>
        <p:spPr>
          <a:xfrm>
            <a:off x="10671047" y="3273552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45"/>
          <p:cNvSpPr/>
          <p:nvPr/>
        </p:nvSpPr>
        <p:spPr>
          <a:xfrm>
            <a:off x="11146535" y="3273552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46"/>
          <p:cNvSpPr/>
          <p:nvPr/>
        </p:nvSpPr>
        <p:spPr>
          <a:xfrm>
            <a:off x="7818119" y="3749040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Shape 47"/>
          <p:cNvSpPr/>
          <p:nvPr/>
        </p:nvSpPr>
        <p:spPr>
          <a:xfrm>
            <a:off x="8293607" y="3749040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Shape 48"/>
          <p:cNvSpPr/>
          <p:nvPr/>
        </p:nvSpPr>
        <p:spPr>
          <a:xfrm>
            <a:off x="8769095" y="3749040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49"/>
          <p:cNvSpPr/>
          <p:nvPr/>
        </p:nvSpPr>
        <p:spPr>
          <a:xfrm>
            <a:off x="9244583" y="3749040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Shape 50"/>
          <p:cNvSpPr/>
          <p:nvPr/>
        </p:nvSpPr>
        <p:spPr>
          <a:xfrm>
            <a:off x="9720071" y="3749040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51"/>
          <p:cNvSpPr/>
          <p:nvPr/>
        </p:nvSpPr>
        <p:spPr>
          <a:xfrm>
            <a:off x="10195559" y="3749040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52"/>
          <p:cNvSpPr/>
          <p:nvPr/>
        </p:nvSpPr>
        <p:spPr>
          <a:xfrm>
            <a:off x="10671047" y="374904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53"/>
          <p:cNvSpPr/>
          <p:nvPr/>
        </p:nvSpPr>
        <p:spPr>
          <a:xfrm>
            <a:off x="11146535" y="3749040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54"/>
          <p:cNvSpPr/>
          <p:nvPr/>
        </p:nvSpPr>
        <p:spPr>
          <a:xfrm>
            <a:off x="7818119" y="4224528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55"/>
          <p:cNvSpPr/>
          <p:nvPr/>
        </p:nvSpPr>
        <p:spPr>
          <a:xfrm>
            <a:off x="8293607" y="4224528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56"/>
          <p:cNvSpPr/>
          <p:nvPr/>
        </p:nvSpPr>
        <p:spPr>
          <a:xfrm>
            <a:off x="8769095" y="4224528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57"/>
          <p:cNvSpPr/>
          <p:nvPr/>
        </p:nvSpPr>
        <p:spPr>
          <a:xfrm>
            <a:off x="9244583" y="4224528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58"/>
          <p:cNvSpPr/>
          <p:nvPr/>
        </p:nvSpPr>
        <p:spPr>
          <a:xfrm>
            <a:off x="9720071" y="4224528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59"/>
          <p:cNvSpPr/>
          <p:nvPr/>
        </p:nvSpPr>
        <p:spPr>
          <a:xfrm>
            <a:off x="10195559" y="4224528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Shape 60"/>
          <p:cNvSpPr/>
          <p:nvPr/>
        </p:nvSpPr>
        <p:spPr>
          <a:xfrm>
            <a:off x="10671047" y="4224528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61"/>
          <p:cNvSpPr/>
          <p:nvPr/>
        </p:nvSpPr>
        <p:spPr>
          <a:xfrm>
            <a:off x="11146535" y="4224528"/>
            <a:ext cx="475488" cy="475488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62"/>
          <p:cNvSpPr/>
          <p:nvPr/>
        </p:nvSpPr>
        <p:spPr>
          <a:xfrm>
            <a:off x="7818119" y="4700015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63"/>
          <p:cNvSpPr/>
          <p:nvPr/>
        </p:nvSpPr>
        <p:spPr>
          <a:xfrm>
            <a:off x="8293607" y="4700015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64"/>
          <p:cNvSpPr/>
          <p:nvPr/>
        </p:nvSpPr>
        <p:spPr>
          <a:xfrm>
            <a:off x="8769095" y="4700015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65"/>
          <p:cNvSpPr/>
          <p:nvPr/>
        </p:nvSpPr>
        <p:spPr>
          <a:xfrm>
            <a:off x="9244583" y="4700015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66"/>
          <p:cNvSpPr/>
          <p:nvPr/>
        </p:nvSpPr>
        <p:spPr>
          <a:xfrm>
            <a:off x="9720071" y="4700015"/>
            <a:ext cx="475488" cy="475488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67"/>
          <p:cNvSpPr/>
          <p:nvPr/>
        </p:nvSpPr>
        <p:spPr>
          <a:xfrm>
            <a:off x="10195559" y="4700015"/>
            <a:ext cx="475488" cy="475488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68"/>
          <p:cNvSpPr/>
          <p:nvPr/>
        </p:nvSpPr>
        <p:spPr>
          <a:xfrm>
            <a:off x="10671047" y="4700015"/>
            <a:ext cx="475488" cy="475488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69"/>
          <p:cNvSpPr/>
          <p:nvPr/>
        </p:nvSpPr>
        <p:spPr>
          <a:xfrm>
            <a:off x="11146535" y="4700015"/>
            <a:ext cx="475488" cy="475488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ROTEIRO</a:t>
            </a:r>
          </a:p>
        </p:txBody>
      </p:sp>
      <p:sp>
        <p:nvSpPr>
          <p:cNvPr id="92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que vamos fazer hoje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4" name="Shape 3"/>
          <p:cNvSpPr/>
          <p:nvPr/>
        </p:nvSpPr>
        <p:spPr>
          <a:xfrm>
            <a:off x="640080" y="1719072"/>
            <a:ext cx="292609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5"/>
          <p:cNvSpPr txBox="1"/>
          <p:nvPr/>
        </p:nvSpPr>
        <p:spPr>
          <a:xfrm>
            <a:off x="2377439" y="1745953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De onde veio a ideia de atenção, e por que ela mudou a computação</a:t>
            </a:r>
          </a:p>
        </p:txBody>
      </p:sp>
      <p:sp>
        <p:nvSpPr>
          <p:cNvPr id="96" name="Shape 6"/>
          <p:cNvSpPr/>
          <p:nvPr/>
        </p:nvSpPr>
        <p:spPr>
          <a:xfrm>
            <a:off x="640080" y="2340864"/>
            <a:ext cx="292609" cy="292609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7"/>
          <p:cNvSpPr txBox="1"/>
          <p:nvPr/>
        </p:nvSpPr>
        <p:spPr>
          <a:xfrm>
            <a:off x="1143000" y="2393889"/>
            <a:ext cx="11887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F5D8A"/>
                </a:solidFill>
              </a:defRPr>
            </a:lvl1pPr>
          </a:lstStyle>
          <a:p>
            <a:pPr/>
            <a:r>
              <a:t>Parte 1</a:t>
            </a:r>
          </a:p>
        </p:txBody>
      </p:sp>
      <p:sp>
        <p:nvSpPr>
          <p:cNvPr id="98" name="Text 8"/>
          <p:cNvSpPr txBox="1"/>
          <p:nvPr/>
        </p:nvSpPr>
        <p:spPr>
          <a:xfrm>
            <a:off x="2377439" y="2367745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Fazer a atenção passo a passo, num exemplo de três palavras</a:t>
            </a:r>
          </a:p>
        </p:txBody>
      </p:sp>
      <p:sp>
        <p:nvSpPr>
          <p:cNvPr id="99" name="Shape 9"/>
          <p:cNvSpPr/>
          <p:nvPr/>
        </p:nvSpPr>
        <p:spPr>
          <a:xfrm>
            <a:off x="640080" y="2962655"/>
            <a:ext cx="292609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11"/>
          <p:cNvSpPr txBox="1"/>
          <p:nvPr/>
        </p:nvSpPr>
        <p:spPr>
          <a:xfrm>
            <a:off x="2377439" y="2989537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Como a atenção vira um Transformer</a:t>
            </a:r>
          </a:p>
        </p:txBody>
      </p:sp>
      <p:sp>
        <p:nvSpPr>
          <p:cNvPr id="101" name="Shape 12"/>
          <p:cNvSpPr/>
          <p:nvPr/>
        </p:nvSpPr>
        <p:spPr>
          <a:xfrm>
            <a:off x="640080" y="3584447"/>
            <a:ext cx="292609" cy="292609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3"/>
          <p:cNvSpPr txBox="1"/>
          <p:nvPr/>
        </p:nvSpPr>
        <p:spPr>
          <a:xfrm>
            <a:off x="1143000" y="3637474"/>
            <a:ext cx="11887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F5D8A"/>
                </a:solidFill>
              </a:defRPr>
            </a:lvl1pPr>
          </a:lstStyle>
          <a:p>
            <a:pPr/>
            <a:r>
              <a:t>Parte 2</a:t>
            </a:r>
          </a:p>
        </p:txBody>
      </p:sp>
      <p:sp>
        <p:nvSpPr>
          <p:cNvPr id="103" name="Text 14"/>
          <p:cNvSpPr txBox="1"/>
          <p:nvPr/>
        </p:nvSpPr>
        <p:spPr>
          <a:xfrm>
            <a:off x="2377439" y="3611329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Montar o Transformer e ensiná-lo a ordenar números</a:t>
            </a:r>
          </a:p>
        </p:txBody>
      </p:sp>
      <p:sp>
        <p:nvSpPr>
          <p:cNvPr id="104" name="Shape 15"/>
          <p:cNvSpPr/>
          <p:nvPr/>
        </p:nvSpPr>
        <p:spPr>
          <a:xfrm>
            <a:off x="640080" y="4206240"/>
            <a:ext cx="292609" cy="292609"/>
          </a:xfrm>
          <a:prstGeom prst="rect">
            <a:avLst/>
          </a:prstGeom>
          <a:solidFill>
            <a:srgbClr val="FFFFFF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7"/>
          <p:cNvSpPr txBox="1"/>
          <p:nvPr/>
        </p:nvSpPr>
        <p:spPr>
          <a:xfrm>
            <a:off x="2377439" y="4233121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Intervalo</a:t>
            </a:r>
          </a:p>
        </p:txBody>
      </p:sp>
      <p:sp>
        <p:nvSpPr>
          <p:cNvPr id="106" name="Shape 18"/>
          <p:cNvSpPr/>
          <p:nvPr/>
        </p:nvSpPr>
        <p:spPr>
          <a:xfrm>
            <a:off x="640080" y="4828032"/>
            <a:ext cx="292609" cy="292609"/>
          </a:xfrm>
          <a:prstGeom prst="rect">
            <a:avLst/>
          </a:prstGeom>
          <a:solidFill>
            <a:srgbClr val="2F5D8A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9"/>
          <p:cNvSpPr txBox="1"/>
          <p:nvPr/>
        </p:nvSpPr>
        <p:spPr>
          <a:xfrm>
            <a:off x="1143000" y="4881057"/>
            <a:ext cx="118872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2F5D8A"/>
                </a:solidFill>
              </a:defRPr>
            </a:lvl1pPr>
          </a:lstStyle>
          <a:p>
            <a:pPr/>
            <a:r>
              <a:t>Parte 3</a:t>
            </a:r>
          </a:p>
        </p:txBody>
      </p:sp>
      <p:sp>
        <p:nvSpPr>
          <p:cNvPr id="108" name="Text 20"/>
          <p:cNvSpPr txBox="1"/>
          <p:nvPr/>
        </p:nvSpPr>
        <p:spPr>
          <a:xfrm>
            <a:off x="2377439" y="4854913"/>
            <a:ext cx="7772401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Treinar um modelo de xadrez e jogar contra ele</a:t>
            </a:r>
          </a:p>
        </p:txBody>
      </p:sp>
      <p:sp>
        <p:nvSpPr>
          <p:cNvPr id="109" name="Text 21"/>
          <p:cNvSpPr txBox="1"/>
          <p:nvPr/>
        </p:nvSpPr>
        <p:spPr>
          <a:xfrm>
            <a:off x="640080" y="5669279"/>
            <a:ext cx="105156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700">
                <a:solidFill>
                  <a:srgbClr val="5F5F5F"/>
                </a:solidFill>
              </a:defRPr>
            </a:lvl1pPr>
          </a:lstStyle>
          <a:p>
            <a:pPr/>
            <a:r>
              <a:t>Ninguém precisa saber nada de inteligência artificial, nem de xadrez.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MOTIVAÇÃO</a:t>
            </a:r>
          </a:p>
        </p:txBody>
      </p:sp>
      <p:sp>
        <p:nvSpPr>
          <p:cNvPr id="112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Onde vamos chegar</a:t>
            </a:r>
          </a:p>
        </p:txBody>
      </p:sp>
      <p:sp>
        <p:nvSpPr>
          <p:cNvPr id="113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4" name="Shape 3"/>
          <p:cNvSpPr/>
          <p:nvPr/>
        </p:nvSpPr>
        <p:spPr>
          <a:xfrm>
            <a:off x="640079" y="1600200"/>
            <a:ext cx="5852162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4"/>
          <p:cNvSpPr txBox="1"/>
          <p:nvPr/>
        </p:nvSpPr>
        <p:spPr>
          <a:xfrm>
            <a:off x="960119" y="1874520"/>
            <a:ext cx="5394962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;1.e4 e5 2.Nf3 Nc6 3.Bb5 a6</a:t>
            </a:r>
          </a:p>
          <a:p>
            <a:pPr>
              <a:spcBef>
                <a:spcPts val="600"/>
              </a:spcBef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4.Ba4 Nf6 5.O-O Be7 6.Re1 b5</a:t>
            </a:r>
          </a:p>
          <a:p>
            <a:pPr>
              <a:spcBef>
                <a:spcPts val="600"/>
              </a:spcBef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7.Bb3 d6 8.c3 O-O 9.h3 </a:t>
            </a:r>
            <a:r>
              <a:rPr b="1">
                <a:solidFill>
                  <a:srgbClr val="9E2A2B"/>
                </a:solidFill>
              </a:rPr>
              <a:t>Nb8</a:t>
            </a:r>
          </a:p>
        </p:txBody>
      </p:sp>
      <p:sp>
        <p:nvSpPr>
          <p:cNvPr id="116" name="Text 5"/>
          <p:cNvSpPr txBox="1"/>
          <p:nvPr/>
        </p:nvSpPr>
        <p:spPr>
          <a:xfrm>
            <a:off x="960119" y="3337559"/>
            <a:ext cx="53035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O modelo lê apenas o texto e prevê o próximo caractere.</a:t>
            </a:r>
          </a:p>
        </p:txBody>
      </p:sp>
      <p:sp>
        <p:nvSpPr>
          <p:cNvPr id="117" name="Shape 6"/>
          <p:cNvSpPr/>
          <p:nvPr/>
        </p:nvSpPr>
        <p:spPr>
          <a:xfrm>
            <a:off x="6720840" y="3200400"/>
            <a:ext cx="640081" cy="0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Shape 7"/>
          <p:cNvSpPr/>
          <p:nvPr/>
        </p:nvSpPr>
        <p:spPr>
          <a:xfrm>
            <a:off x="7589519" y="1600199"/>
            <a:ext cx="402337" cy="4023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8"/>
          <p:cNvSpPr/>
          <p:nvPr/>
        </p:nvSpPr>
        <p:spPr>
          <a:xfrm>
            <a:off x="7991856" y="1600199"/>
            <a:ext cx="402337" cy="402338"/>
          </a:xfrm>
          <a:prstGeom prst="rect">
            <a:avLst/>
          </a:prstGeom>
          <a:solidFill>
            <a:srgbClr val="E8C4C4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9"/>
          <p:cNvSpPr/>
          <p:nvPr/>
        </p:nvSpPr>
        <p:spPr>
          <a:xfrm>
            <a:off x="8394192" y="1600199"/>
            <a:ext cx="402337" cy="4023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Shape 10"/>
          <p:cNvSpPr/>
          <p:nvPr/>
        </p:nvSpPr>
        <p:spPr>
          <a:xfrm>
            <a:off x="8796528" y="1600199"/>
            <a:ext cx="402337" cy="402338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11"/>
          <p:cNvSpPr/>
          <p:nvPr/>
        </p:nvSpPr>
        <p:spPr>
          <a:xfrm>
            <a:off x="9198864" y="1600199"/>
            <a:ext cx="402337" cy="4023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12"/>
          <p:cNvSpPr/>
          <p:nvPr/>
        </p:nvSpPr>
        <p:spPr>
          <a:xfrm>
            <a:off x="9601199" y="1600199"/>
            <a:ext cx="402338" cy="402338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13"/>
          <p:cNvSpPr/>
          <p:nvPr/>
        </p:nvSpPr>
        <p:spPr>
          <a:xfrm>
            <a:off x="10003535" y="1600199"/>
            <a:ext cx="402337" cy="402338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4"/>
          <p:cNvSpPr/>
          <p:nvPr/>
        </p:nvSpPr>
        <p:spPr>
          <a:xfrm>
            <a:off x="10405871" y="1600199"/>
            <a:ext cx="402337" cy="402338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Shape 15"/>
          <p:cNvSpPr/>
          <p:nvPr/>
        </p:nvSpPr>
        <p:spPr>
          <a:xfrm>
            <a:off x="7589519" y="200253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Shape 16"/>
          <p:cNvSpPr/>
          <p:nvPr/>
        </p:nvSpPr>
        <p:spPr>
          <a:xfrm>
            <a:off x="7991856" y="200253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17"/>
          <p:cNvSpPr/>
          <p:nvPr/>
        </p:nvSpPr>
        <p:spPr>
          <a:xfrm>
            <a:off x="8394192" y="200253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18"/>
          <p:cNvSpPr/>
          <p:nvPr/>
        </p:nvSpPr>
        <p:spPr>
          <a:xfrm>
            <a:off x="8796528" y="200253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9"/>
          <p:cNvSpPr/>
          <p:nvPr/>
        </p:nvSpPr>
        <p:spPr>
          <a:xfrm>
            <a:off x="9198864" y="200253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Shape 20"/>
          <p:cNvSpPr/>
          <p:nvPr/>
        </p:nvSpPr>
        <p:spPr>
          <a:xfrm>
            <a:off x="9601199" y="2002535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21"/>
          <p:cNvSpPr/>
          <p:nvPr/>
        </p:nvSpPr>
        <p:spPr>
          <a:xfrm>
            <a:off x="10003535" y="200253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22"/>
          <p:cNvSpPr/>
          <p:nvPr/>
        </p:nvSpPr>
        <p:spPr>
          <a:xfrm>
            <a:off x="10405871" y="200253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23"/>
          <p:cNvSpPr/>
          <p:nvPr/>
        </p:nvSpPr>
        <p:spPr>
          <a:xfrm>
            <a:off x="7589519" y="240487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24"/>
          <p:cNvSpPr/>
          <p:nvPr/>
        </p:nvSpPr>
        <p:spPr>
          <a:xfrm>
            <a:off x="7991856" y="240487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25"/>
          <p:cNvSpPr/>
          <p:nvPr/>
        </p:nvSpPr>
        <p:spPr>
          <a:xfrm>
            <a:off x="8394192" y="2404872"/>
            <a:ext cx="402337" cy="402337"/>
          </a:xfrm>
          <a:prstGeom prst="rect">
            <a:avLst/>
          </a:prstGeom>
          <a:solidFill>
            <a:srgbClr val="E8C4C4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26"/>
          <p:cNvSpPr/>
          <p:nvPr/>
        </p:nvSpPr>
        <p:spPr>
          <a:xfrm>
            <a:off x="8796528" y="240487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27"/>
          <p:cNvSpPr/>
          <p:nvPr/>
        </p:nvSpPr>
        <p:spPr>
          <a:xfrm>
            <a:off x="9198864" y="240487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28"/>
          <p:cNvSpPr/>
          <p:nvPr/>
        </p:nvSpPr>
        <p:spPr>
          <a:xfrm>
            <a:off x="9601199" y="2404872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29"/>
          <p:cNvSpPr/>
          <p:nvPr/>
        </p:nvSpPr>
        <p:spPr>
          <a:xfrm>
            <a:off x="10003535" y="240487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30"/>
          <p:cNvSpPr/>
          <p:nvPr/>
        </p:nvSpPr>
        <p:spPr>
          <a:xfrm>
            <a:off x="10405871" y="240487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Shape 31"/>
          <p:cNvSpPr/>
          <p:nvPr/>
        </p:nvSpPr>
        <p:spPr>
          <a:xfrm>
            <a:off x="7589519" y="280720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32"/>
          <p:cNvSpPr/>
          <p:nvPr/>
        </p:nvSpPr>
        <p:spPr>
          <a:xfrm>
            <a:off x="7991856" y="280720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33"/>
          <p:cNvSpPr/>
          <p:nvPr/>
        </p:nvSpPr>
        <p:spPr>
          <a:xfrm>
            <a:off x="8394192" y="280720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34"/>
          <p:cNvSpPr/>
          <p:nvPr/>
        </p:nvSpPr>
        <p:spPr>
          <a:xfrm>
            <a:off x="8796528" y="280720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35"/>
          <p:cNvSpPr/>
          <p:nvPr/>
        </p:nvSpPr>
        <p:spPr>
          <a:xfrm>
            <a:off x="9198864" y="280720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36"/>
          <p:cNvSpPr/>
          <p:nvPr/>
        </p:nvSpPr>
        <p:spPr>
          <a:xfrm>
            <a:off x="9601199" y="2807207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37"/>
          <p:cNvSpPr/>
          <p:nvPr/>
        </p:nvSpPr>
        <p:spPr>
          <a:xfrm>
            <a:off x="10003535" y="280720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38"/>
          <p:cNvSpPr/>
          <p:nvPr/>
        </p:nvSpPr>
        <p:spPr>
          <a:xfrm>
            <a:off x="10405871" y="280720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39"/>
          <p:cNvSpPr/>
          <p:nvPr/>
        </p:nvSpPr>
        <p:spPr>
          <a:xfrm>
            <a:off x="7589519" y="3209544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Shape 40"/>
          <p:cNvSpPr/>
          <p:nvPr/>
        </p:nvSpPr>
        <p:spPr>
          <a:xfrm>
            <a:off x="7991856" y="3209544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41"/>
          <p:cNvSpPr/>
          <p:nvPr/>
        </p:nvSpPr>
        <p:spPr>
          <a:xfrm>
            <a:off x="8394192" y="3209544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42"/>
          <p:cNvSpPr/>
          <p:nvPr/>
        </p:nvSpPr>
        <p:spPr>
          <a:xfrm>
            <a:off x="8796528" y="3209544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43"/>
          <p:cNvSpPr/>
          <p:nvPr/>
        </p:nvSpPr>
        <p:spPr>
          <a:xfrm>
            <a:off x="9198864" y="3209544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44"/>
          <p:cNvSpPr/>
          <p:nvPr/>
        </p:nvSpPr>
        <p:spPr>
          <a:xfrm>
            <a:off x="9601199" y="3209544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Shape 45"/>
          <p:cNvSpPr/>
          <p:nvPr/>
        </p:nvSpPr>
        <p:spPr>
          <a:xfrm>
            <a:off x="10003535" y="3209544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Shape 46"/>
          <p:cNvSpPr/>
          <p:nvPr/>
        </p:nvSpPr>
        <p:spPr>
          <a:xfrm>
            <a:off x="10405871" y="3209544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Shape 47"/>
          <p:cNvSpPr/>
          <p:nvPr/>
        </p:nvSpPr>
        <p:spPr>
          <a:xfrm>
            <a:off x="7589519" y="3611879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48"/>
          <p:cNvSpPr/>
          <p:nvPr/>
        </p:nvSpPr>
        <p:spPr>
          <a:xfrm>
            <a:off x="7991856" y="3611879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49"/>
          <p:cNvSpPr/>
          <p:nvPr/>
        </p:nvSpPr>
        <p:spPr>
          <a:xfrm>
            <a:off x="8394192" y="3611879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50"/>
          <p:cNvSpPr/>
          <p:nvPr/>
        </p:nvSpPr>
        <p:spPr>
          <a:xfrm>
            <a:off x="8796528" y="3611879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51"/>
          <p:cNvSpPr/>
          <p:nvPr/>
        </p:nvSpPr>
        <p:spPr>
          <a:xfrm>
            <a:off x="9198864" y="3611879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52"/>
          <p:cNvSpPr/>
          <p:nvPr/>
        </p:nvSpPr>
        <p:spPr>
          <a:xfrm>
            <a:off x="9601199" y="3611879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53"/>
          <p:cNvSpPr/>
          <p:nvPr/>
        </p:nvSpPr>
        <p:spPr>
          <a:xfrm>
            <a:off x="10003535" y="3611879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54"/>
          <p:cNvSpPr/>
          <p:nvPr/>
        </p:nvSpPr>
        <p:spPr>
          <a:xfrm>
            <a:off x="10405871" y="3611879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Shape 55"/>
          <p:cNvSpPr/>
          <p:nvPr/>
        </p:nvSpPr>
        <p:spPr>
          <a:xfrm>
            <a:off x="7589519" y="401421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56"/>
          <p:cNvSpPr/>
          <p:nvPr/>
        </p:nvSpPr>
        <p:spPr>
          <a:xfrm>
            <a:off x="7991856" y="401421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57"/>
          <p:cNvSpPr/>
          <p:nvPr/>
        </p:nvSpPr>
        <p:spPr>
          <a:xfrm>
            <a:off x="8394192" y="401421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Shape 58"/>
          <p:cNvSpPr/>
          <p:nvPr/>
        </p:nvSpPr>
        <p:spPr>
          <a:xfrm>
            <a:off x="8796528" y="401421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59"/>
          <p:cNvSpPr/>
          <p:nvPr/>
        </p:nvSpPr>
        <p:spPr>
          <a:xfrm>
            <a:off x="9198864" y="401421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Shape 60"/>
          <p:cNvSpPr/>
          <p:nvPr/>
        </p:nvSpPr>
        <p:spPr>
          <a:xfrm>
            <a:off x="9601199" y="4014215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61"/>
          <p:cNvSpPr/>
          <p:nvPr/>
        </p:nvSpPr>
        <p:spPr>
          <a:xfrm>
            <a:off x="10003535" y="401421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62"/>
          <p:cNvSpPr/>
          <p:nvPr/>
        </p:nvSpPr>
        <p:spPr>
          <a:xfrm>
            <a:off x="10405871" y="401421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Shape 63"/>
          <p:cNvSpPr/>
          <p:nvPr/>
        </p:nvSpPr>
        <p:spPr>
          <a:xfrm>
            <a:off x="7589519" y="441655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64"/>
          <p:cNvSpPr/>
          <p:nvPr/>
        </p:nvSpPr>
        <p:spPr>
          <a:xfrm>
            <a:off x="7991856" y="441655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Shape 65"/>
          <p:cNvSpPr/>
          <p:nvPr/>
        </p:nvSpPr>
        <p:spPr>
          <a:xfrm>
            <a:off x="8394192" y="441655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Shape 66"/>
          <p:cNvSpPr/>
          <p:nvPr/>
        </p:nvSpPr>
        <p:spPr>
          <a:xfrm>
            <a:off x="8796528" y="441655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Shape 67"/>
          <p:cNvSpPr/>
          <p:nvPr/>
        </p:nvSpPr>
        <p:spPr>
          <a:xfrm>
            <a:off x="9198864" y="441655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Shape 68"/>
          <p:cNvSpPr/>
          <p:nvPr/>
        </p:nvSpPr>
        <p:spPr>
          <a:xfrm>
            <a:off x="9601199" y="4416552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69"/>
          <p:cNvSpPr/>
          <p:nvPr/>
        </p:nvSpPr>
        <p:spPr>
          <a:xfrm>
            <a:off x="10003535" y="441655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Shape 70"/>
          <p:cNvSpPr/>
          <p:nvPr/>
        </p:nvSpPr>
        <p:spPr>
          <a:xfrm>
            <a:off x="10405871" y="441655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Shape 71"/>
          <p:cNvSpPr/>
          <p:nvPr/>
        </p:nvSpPr>
        <p:spPr>
          <a:xfrm>
            <a:off x="7589519" y="1600199"/>
            <a:ext cx="3218689" cy="3218690"/>
          </a:xfrm>
          <a:prstGeom prst="rect">
            <a:avLst/>
          </a:prstGeom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72"/>
          <p:cNvSpPr txBox="1"/>
          <p:nvPr/>
        </p:nvSpPr>
        <p:spPr>
          <a:xfrm>
            <a:off x="7589519" y="4937759"/>
            <a:ext cx="32918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400">
                <a:solidFill>
                  <a:srgbClr val="5F5F5F"/>
                </a:solidFill>
              </a:defRPr>
            </a:lvl1pPr>
          </a:lstStyle>
          <a:p>
            <a:pPr/>
            <a:r>
              <a:t>O tabuleiro nunca é mostrado ao modelo.</a:t>
            </a:r>
          </a:p>
        </p:txBody>
      </p:sp>
      <p:sp>
        <p:nvSpPr>
          <p:cNvPr id="184" name="Text 73"/>
          <p:cNvSpPr txBox="1"/>
          <p:nvPr/>
        </p:nvSpPr>
        <p:spPr>
          <a:xfrm>
            <a:off x="640080" y="5440679"/>
            <a:ext cx="10515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Um Transformer montado por vocês, que aprende xadrez só lendo partidas.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PREPARAÇÃO</a:t>
            </a:r>
          </a:p>
        </p:txBody>
      </p:sp>
      <p:sp>
        <p:nvSpPr>
          <p:cNvPr id="187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Abrindo o notebook</a:t>
            </a:r>
          </a:p>
        </p:txBody>
      </p:sp>
      <p:sp>
        <p:nvSpPr>
          <p:cNvPr id="188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9" name="Text 3"/>
          <p:cNvSpPr txBox="1"/>
          <p:nvPr/>
        </p:nvSpPr>
        <p:spPr>
          <a:xfrm>
            <a:off x="640080" y="1645920"/>
            <a:ext cx="64008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0" name="Text 4"/>
          <p:cNvSpPr txBox="1"/>
          <p:nvPr/>
        </p:nvSpPr>
        <p:spPr>
          <a:xfrm>
            <a:off x="1463039" y="1691639"/>
            <a:ext cx="91440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Abra o link</a:t>
            </a:r>
          </a:p>
        </p:txBody>
      </p:sp>
      <p:sp>
        <p:nvSpPr>
          <p:cNvPr id="191" name="Text 5"/>
          <p:cNvSpPr txBox="1"/>
          <p:nvPr/>
        </p:nvSpPr>
        <p:spPr>
          <a:xfrm>
            <a:off x="1463039" y="2075688"/>
            <a:ext cx="1024128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colab.research.google.com/github/giovannibragasv/transformer-do-zero/blob/main/workshop_aluno.ipynb</a:t>
            </a:r>
          </a:p>
        </p:txBody>
      </p:sp>
      <p:sp>
        <p:nvSpPr>
          <p:cNvPr id="192" name="Text 6"/>
          <p:cNvSpPr txBox="1"/>
          <p:nvPr/>
        </p:nvSpPr>
        <p:spPr>
          <a:xfrm>
            <a:off x="640080" y="2670048"/>
            <a:ext cx="64008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3" name="Text 7"/>
          <p:cNvSpPr txBox="1"/>
          <p:nvPr/>
        </p:nvSpPr>
        <p:spPr>
          <a:xfrm>
            <a:off x="1463039" y="2715767"/>
            <a:ext cx="91440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Salve uma cópia</a:t>
            </a:r>
          </a:p>
        </p:txBody>
      </p:sp>
      <p:sp>
        <p:nvSpPr>
          <p:cNvPr id="194" name="Text 8"/>
          <p:cNvSpPr txBox="1"/>
          <p:nvPr/>
        </p:nvSpPr>
        <p:spPr>
          <a:xfrm>
            <a:off x="1463039" y="3099816"/>
            <a:ext cx="102412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Arquivo &gt; Salvar uma cópia no Drive</a:t>
            </a:r>
          </a:p>
        </p:txBody>
      </p:sp>
      <p:sp>
        <p:nvSpPr>
          <p:cNvPr id="195" name="Text 9"/>
          <p:cNvSpPr txBox="1"/>
          <p:nvPr/>
        </p:nvSpPr>
        <p:spPr>
          <a:xfrm>
            <a:off x="640080" y="3694176"/>
            <a:ext cx="64008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6" name="Text 10"/>
          <p:cNvSpPr txBox="1"/>
          <p:nvPr/>
        </p:nvSpPr>
        <p:spPr>
          <a:xfrm>
            <a:off x="1463039" y="3739896"/>
            <a:ext cx="91440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Ative a GPU</a:t>
            </a:r>
          </a:p>
        </p:txBody>
      </p:sp>
      <p:sp>
        <p:nvSpPr>
          <p:cNvPr id="197" name="Text 11"/>
          <p:cNvSpPr txBox="1"/>
          <p:nvPr/>
        </p:nvSpPr>
        <p:spPr>
          <a:xfrm>
            <a:off x="1463039" y="4123944"/>
            <a:ext cx="102412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Ambiente de execução &gt; Alterar o tipo de ambiente &gt; T4 GPU</a:t>
            </a:r>
          </a:p>
        </p:txBody>
      </p:sp>
      <p:sp>
        <p:nvSpPr>
          <p:cNvPr id="198" name="Text 12"/>
          <p:cNvSpPr txBox="1"/>
          <p:nvPr/>
        </p:nvSpPr>
        <p:spPr>
          <a:xfrm>
            <a:off x="640080" y="4718303"/>
            <a:ext cx="64008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9" name="Text 13"/>
          <p:cNvSpPr txBox="1"/>
          <p:nvPr/>
        </p:nvSpPr>
        <p:spPr>
          <a:xfrm>
            <a:off x="1463039" y="4764023"/>
            <a:ext cx="91440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Execute as células da seção 0</a:t>
            </a:r>
          </a:p>
        </p:txBody>
      </p:sp>
      <p:sp>
        <p:nvSpPr>
          <p:cNvPr id="200" name="Text 14"/>
          <p:cNvSpPr txBox="1"/>
          <p:nvPr/>
        </p:nvSpPr>
        <p:spPr>
          <a:xfrm>
            <a:off x="1463039" y="5148071"/>
            <a:ext cx="102412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Clique na célula e aperte Shift + Enter. A segunda deve imprimir: Dispositivo: cuda</a:t>
            </a:r>
          </a:p>
        </p:txBody>
      </p:sp>
      <p:sp>
        <p:nvSpPr>
          <p:cNvPr id="201" name="Text 15"/>
          <p:cNvSpPr txBox="1"/>
          <p:nvPr/>
        </p:nvSpPr>
        <p:spPr>
          <a:xfrm>
            <a:off x="640080" y="5897879"/>
            <a:ext cx="10058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400">
                <a:solidFill>
                  <a:srgbClr val="5F5F5F"/>
                </a:solidFill>
              </a:defRPr>
            </a:lvl1pPr>
          </a:lstStyle>
          <a:p>
            <a:pPr/>
            <a:r>
              <a:t>Você só precisa de um navegador e de uma conta Google.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HISTÓRIA</a:t>
            </a:r>
          </a:p>
        </p:txBody>
      </p:sp>
      <p:sp>
        <p:nvSpPr>
          <p:cNvPr id="204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Uma ideia de 2017 que mudou a computação</a:t>
            </a:r>
          </a:p>
        </p:txBody>
      </p:sp>
      <p:sp>
        <p:nvSpPr>
          <p:cNvPr id="205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06" name="Shape 3"/>
          <p:cNvSpPr/>
          <p:nvPr/>
        </p:nvSpPr>
        <p:spPr>
          <a:xfrm>
            <a:off x="914400" y="2377439"/>
            <a:ext cx="9144001" cy="1"/>
          </a:xfrm>
          <a:prstGeom prst="line">
            <a:avLst/>
          </a:prstGeom>
          <a:ln w="25400"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Shape 4"/>
          <p:cNvSpPr/>
          <p:nvPr/>
        </p:nvSpPr>
        <p:spPr>
          <a:xfrm>
            <a:off x="786383" y="2249423"/>
            <a:ext cx="256033" cy="256033"/>
          </a:xfrm>
          <a:prstGeom prst="ellipse">
            <a:avLst/>
          </a:prstGeom>
          <a:solidFill>
            <a:srgbClr val="9E2A2B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5"/>
          <p:cNvSpPr txBox="1"/>
          <p:nvPr/>
        </p:nvSpPr>
        <p:spPr>
          <a:xfrm>
            <a:off x="365759" y="1691639"/>
            <a:ext cx="14630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2017</a:t>
            </a:r>
          </a:p>
        </p:txBody>
      </p:sp>
      <p:sp>
        <p:nvSpPr>
          <p:cNvPr id="209" name="Text 6"/>
          <p:cNvSpPr txBox="1"/>
          <p:nvPr/>
        </p:nvSpPr>
        <p:spPr>
          <a:xfrm>
            <a:off x="822960" y="2697479"/>
            <a:ext cx="20574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O Google publica Attention Is All You Need</a:t>
            </a:r>
          </a:p>
        </p:txBody>
      </p:sp>
      <p:sp>
        <p:nvSpPr>
          <p:cNvPr id="210" name="Shape 7"/>
          <p:cNvSpPr/>
          <p:nvPr/>
        </p:nvSpPr>
        <p:spPr>
          <a:xfrm>
            <a:off x="3026664" y="2249423"/>
            <a:ext cx="256033" cy="256033"/>
          </a:xfrm>
          <a:prstGeom prst="ellipse">
            <a:avLst/>
          </a:prstGeom>
          <a:solidFill>
            <a:srgbClr val="2F5D8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8"/>
          <p:cNvSpPr txBox="1"/>
          <p:nvPr/>
        </p:nvSpPr>
        <p:spPr>
          <a:xfrm>
            <a:off x="2606039" y="1691639"/>
            <a:ext cx="14630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2018</a:t>
            </a:r>
          </a:p>
        </p:txBody>
      </p:sp>
      <p:sp>
        <p:nvSpPr>
          <p:cNvPr id="212" name="Text 9"/>
          <p:cNvSpPr txBox="1"/>
          <p:nvPr/>
        </p:nvSpPr>
        <p:spPr>
          <a:xfrm>
            <a:off x="3063239" y="2697479"/>
            <a:ext cx="2057401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Surgem os primeiros GPT e BERT, ambos Transformers</a:t>
            </a:r>
          </a:p>
        </p:txBody>
      </p:sp>
      <p:sp>
        <p:nvSpPr>
          <p:cNvPr id="213" name="Shape 10"/>
          <p:cNvSpPr/>
          <p:nvPr/>
        </p:nvSpPr>
        <p:spPr>
          <a:xfrm>
            <a:off x="5266944" y="2249423"/>
            <a:ext cx="256033" cy="256033"/>
          </a:xfrm>
          <a:prstGeom prst="ellipse">
            <a:avLst/>
          </a:prstGeom>
          <a:solidFill>
            <a:srgbClr val="2F5D8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1"/>
          <p:cNvSpPr txBox="1"/>
          <p:nvPr/>
        </p:nvSpPr>
        <p:spPr>
          <a:xfrm>
            <a:off x="4846320" y="1691639"/>
            <a:ext cx="14630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2020</a:t>
            </a:r>
          </a:p>
        </p:txBody>
      </p:sp>
      <p:sp>
        <p:nvSpPr>
          <p:cNvPr id="215" name="Text 12"/>
          <p:cNvSpPr txBox="1"/>
          <p:nvPr/>
        </p:nvSpPr>
        <p:spPr>
          <a:xfrm>
            <a:off x="5303520" y="2697479"/>
            <a:ext cx="20574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GPT-3. A atenção chega às imagens e às proteínas</a:t>
            </a:r>
          </a:p>
        </p:txBody>
      </p:sp>
      <p:sp>
        <p:nvSpPr>
          <p:cNvPr id="216" name="Shape 13"/>
          <p:cNvSpPr/>
          <p:nvPr/>
        </p:nvSpPr>
        <p:spPr>
          <a:xfrm>
            <a:off x="7507223" y="2249423"/>
            <a:ext cx="256033" cy="256033"/>
          </a:xfrm>
          <a:prstGeom prst="ellipse">
            <a:avLst/>
          </a:prstGeom>
          <a:solidFill>
            <a:srgbClr val="2F5D8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14"/>
          <p:cNvSpPr txBox="1"/>
          <p:nvPr/>
        </p:nvSpPr>
        <p:spPr>
          <a:xfrm>
            <a:off x="7086599" y="1691639"/>
            <a:ext cx="14630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2022</a:t>
            </a:r>
          </a:p>
        </p:txBody>
      </p:sp>
      <p:sp>
        <p:nvSpPr>
          <p:cNvPr id="218" name="Text 15"/>
          <p:cNvSpPr txBox="1"/>
          <p:nvPr/>
        </p:nvSpPr>
        <p:spPr>
          <a:xfrm>
            <a:off x="7543800" y="2697479"/>
            <a:ext cx="205740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ChatGPT: 100 milhões de usuários em dois meses</a:t>
            </a:r>
          </a:p>
        </p:txBody>
      </p:sp>
      <p:sp>
        <p:nvSpPr>
          <p:cNvPr id="219" name="Shape 16"/>
          <p:cNvSpPr/>
          <p:nvPr/>
        </p:nvSpPr>
        <p:spPr>
          <a:xfrm>
            <a:off x="9747504" y="2249423"/>
            <a:ext cx="256033" cy="256033"/>
          </a:xfrm>
          <a:prstGeom prst="ellipse">
            <a:avLst/>
          </a:prstGeom>
          <a:solidFill>
            <a:srgbClr val="2F5D8A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7"/>
          <p:cNvSpPr txBox="1"/>
          <p:nvPr/>
        </p:nvSpPr>
        <p:spPr>
          <a:xfrm>
            <a:off x="9326880" y="1691639"/>
            <a:ext cx="146304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Hoje</a:t>
            </a:r>
          </a:p>
        </p:txBody>
      </p:sp>
      <p:sp>
        <p:nvSpPr>
          <p:cNvPr id="221" name="Text 18"/>
          <p:cNvSpPr txBox="1"/>
          <p:nvPr/>
        </p:nvSpPr>
        <p:spPr>
          <a:xfrm>
            <a:off x="9784080" y="2697479"/>
            <a:ext cx="2057401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ChatGPT, Claude, Gemini, Copilot. Nobel de 2024 para o AlphaFold</a:t>
            </a:r>
          </a:p>
        </p:txBody>
      </p:sp>
      <p:sp>
        <p:nvSpPr>
          <p:cNvPr id="222" name="Shape 19"/>
          <p:cNvSpPr/>
          <p:nvPr/>
        </p:nvSpPr>
        <p:spPr>
          <a:xfrm>
            <a:off x="640079" y="4571999"/>
            <a:ext cx="10911537" cy="109728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20"/>
          <p:cNvSpPr txBox="1"/>
          <p:nvPr/>
        </p:nvSpPr>
        <p:spPr>
          <a:xfrm>
            <a:off x="914399" y="4942840"/>
            <a:ext cx="10362897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2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 "T" de ChatGPT significa </a:t>
            </a:r>
            <a:r>
              <a:rPr>
                <a:solidFill>
                  <a:srgbClr val="9E2A2B"/>
                </a:solidFill>
              </a:rPr>
              <a:t>Transformer</a:t>
            </a:r>
            <a:r>
              <a:t>. É ele que vamos construir hoje.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HISTÓRIA</a:t>
            </a:r>
          </a:p>
        </p:txBody>
      </p:sp>
      <p:sp>
        <p:nvSpPr>
          <p:cNvPr id="226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Antes de 2017: ler uma palavra de cada vez</a:t>
            </a:r>
          </a:p>
        </p:txBody>
      </p:sp>
      <p:sp>
        <p:nvSpPr>
          <p:cNvPr id="227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28" name="Shape 3"/>
          <p:cNvSpPr/>
          <p:nvPr/>
        </p:nvSpPr>
        <p:spPr>
          <a:xfrm>
            <a:off x="640080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4"/>
          <p:cNvSpPr txBox="1"/>
          <p:nvPr/>
        </p:nvSpPr>
        <p:spPr>
          <a:xfrm>
            <a:off x="640080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30" name="Shape 5"/>
          <p:cNvSpPr/>
          <p:nvPr/>
        </p:nvSpPr>
        <p:spPr>
          <a:xfrm>
            <a:off x="1742206" y="1737360"/>
            <a:ext cx="992398" cy="640081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6"/>
          <p:cNvSpPr txBox="1"/>
          <p:nvPr/>
        </p:nvSpPr>
        <p:spPr>
          <a:xfrm>
            <a:off x="1742206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B1B1B"/>
                </a:solidFill>
              </a:defRPr>
            </a:lvl1pPr>
          </a:lstStyle>
          <a:p>
            <a:pPr/>
            <a:r>
              <a:t>gato</a:t>
            </a:r>
          </a:p>
        </p:txBody>
      </p:sp>
      <p:sp>
        <p:nvSpPr>
          <p:cNvPr id="232" name="Shape 7"/>
          <p:cNvSpPr/>
          <p:nvPr/>
        </p:nvSpPr>
        <p:spPr>
          <a:xfrm>
            <a:off x="2844332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8"/>
          <p:cNvSpPr txBox="1"/>
          <p:nvPr/>
        </p:nvSpPr>
        <p:spPr>
          <a:xfrm>
            <a:off x="2844332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subiu</a:t>
            </a:r>
          </a:p>
        </p:txBody>
      </p:sp>
      <p:sp>
        <p:nvSpPr>
          <p:cNvPr id="234" name="Shape 9"/>
          <p:cNvSpPr/>
          <p:nvPr/>
        </p:nvSpPr>
        <p:spPr>
          <a:xfrm>
            <a:off x="3946459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0"/>
          <p:cNvSpPr txBox="1"/>
          <p:nvPr/>
        </p:nvSpPr>
        <p:spPr>
          <a:xfrm>
            <a:off x="3946459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36" name="Shape 11"/>
          <p:cNvSpPr/>
          <p:nvPr/>
        </p:nvSpPr>
        <p:spPr>
          <a:xfrm>
            <a:off x="5048584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2"/>
          <p:cNvSpPr txBox="1"/>
          <p:nvPr/>
        </p:nvSpPr>
        <p:spPr>
          <a:xfrm>
            <a:off x="5048584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telhado</a:t>
            </a:r>
          </a:p>
        </p:txBody>
      </p:sp>
      <p:sp>
        <p:nvSpPr>
          <p:cNvPr id="238" name="Shape 13"/>
          <p:cNvSpPr/>
          <p:nvPr/>
        </p:nvSpPr>
        <p:spPr>
          <a:xfrm>
            <a:off x="6150712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4"/>
          <p:cNvSpPr txBox="1"/>
          <p:nvPr/>
        </p:nvSpPr>
        <p:spPr>
          <a:xfrm>
            <a:off x="6150712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porque</a:t>
            </a:r>
          </a:p>
        </p:txBody>
      </p:sp>
      <p:sp>
        <p:nvSpPr>
          <p:cNvPr id="240" name="Shape 15"/>
          <p:cNvSpPr/>
          <p:nvPr/>
        </p:nvSpPr>
        <p:spPr>
          <a:xfrm>
            <a:off x="7252837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9E2A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6"/>
          <p:cNvSpPr txBox="1"/>
          <p:nvPr/>
        </p:nvSpPr>
        <p:spPr>
          <a:xfrm>
            <a:off x="7252837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9E2A2B"/>
                </a:solidFill>
              </a:defRPr>
            </a:lvl1pPr>
          </a:lstStyle>
          <a:p>
            <a:pPr/>
            <a:r>
              <a:t>ele</a:t>
            </a:r>
          </a:p>
        </p:txBody>
      </p:sp>
      <p:sp>
        <p:nvSpPr>
          <p:cNvPr id="242" name="Shape 17"/>
          <p:cNvSpPr/>
          <p:nvPr/>
        </p:nvSpPr>
        <p:spPr>
          <a:xfrm>
            <a:off x="8354963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8"/>
          <p:cNvSpPr txBox="1"/>
          <p:nvPr/>
        </p:nvSpPr>
        <p:spPr>
          <a:xfrm>
            <a:off x="8354963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estava</a:t>
            </a:r>
          </a:p>
        </p:txBody>
      </p:sp>
      <p:sp>
        <p:nvSpPr>
          <p:cNvPr id="244" name="Shape 19"/>
          <p:cNvSpPr/>
          <p:nvPr/>
        </p:nvSpPr>
        <p:spPr>
          <a:xfrm>
            <a:off x="9457090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Text 20"/>
          <p:cNvSpPr txBox="1"/>
          <p:nvPr/>
        </p:nvSpPr>
        <p:spPr>
          <a:xfrm>
            <a:off x="9457090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com</a:t>
            </a:r>
          </a:p>
        </p:txBody>
      </p:sp>
      <p:sp>
        <p:nvSpPr>
          <p:cNvPr id="246" name="Shape 21"/>
          <p:cNvSpPr/>
          <p:nvPr/>
        </p:nvSpPr>
        <p:spPr>
          <a:xfrm>
            <a:off x="10559216" y="1737360"/>
            <a:ext cx="992398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22"/>
          <p:cNvSpPr txBox="1"/>
          <p:nvPr/>
        </p:nvSpPr>
        <p:spPr>
          <a:xfrm>
            <a:off x="10559216" y="1952823"/>
            <a:ext cx="992398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1B1B"/>
                </a:solidFill>
              </a:defRPr>
            </a:lvl1pPr>
          </a:lstStyle>
          <a:p>
            <a:pPr/>
            <a:r>
              <a:t>medo</a:t>
            </a:r>
          </a:p>
        </p:txBody>
      </p:sp>
      <p:sp>
        <p:nvSpPr>
          <p:cNvPr id="248" name="Shape 23"/>
          <p:cNvSpPr/>
          <p:nvPr/>
        </p:nvSpPr>
        <p:spPr>
          <a:xfrm>
            <a:off x="1136278" y="2606039"/>
            <a:ext cx="9919139" cy="1"/>
          </a:xfrm>
          <a:prstGeom prst="line">
            <a:avLst/>
          </a:prstGeom>
          <a:ln w="25400">
            <a:solidFill>
              <a:srgbClr val="5F5F5F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24"/>
          <p:cNvSpPr txBox="1"/>
          <p:nvPr/>
        </p:nvSpPr>
        <p:spPr>
          <a:xfrm>
            <a:off x="640079" y="2743199"/>
            <a:ext cx="10911537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uma palavra por vez, passando um resumo adiante</a:t>
            </a:r>
          </a:p>
        </p:txBody>
      </p:sp>
      <p:sp>
        <p:nvSpPr>
          <p:cNvPr id="250" name="Text 25"/>
          <p:cNvSpPr txBox="1"/>
          <p:nvPr/>
        </p:nvSpPr>
        <p:spPr>
          <a:xfrm>
            <a:off x="640079" y="3703320"/>
            <a:ext cx="512064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9E2A2B"/>
                </a:solidFill>
              </a:defRPr>
            </a:lvl1pPr>
          </a:lstStyle>
          <a:p>
            <a:pPr/>
            <a:r>
              <a:t>Esquece</a:t>
            </a:r>
          </a:p>
        </p:txBody>
      </p:sp>
      <p:sp>
        <p:nvSpPr>
          <p:cNvPr id="251" name="Text 26"/>
          <p:cNvSpPr txBox="1"/>
          <p:nvPr/>
        </p:nvSpPr>
        <p:spPr>
          <a:xfrm>
            <a:off x="640079" y="4206240"/>
            <a:ext cx="5120642" cy="825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Quando chega em "ele", o "gato" já ficou lá atrás. É como um telefone sem fio: a mensagem se perde no caminho.</a:t>
            </a:r>
          </a:p>
        </p:txBody>
      </p:sp>
      <p:sp>
        <p:nvSpPr>
          <p:cNvPr id="252" name="Text 27"/>
          <p:cNvSpPr txBox="1"/>
          <p:nvPr/>
        </p:nvSpPr>
        <p:spPr>
          <a:xfrm>
            <a:off x="6217919" y="3703320"/>
            <a:ext cx="512064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9E2A2B"/>
                </a:solidFill>
              </a:defRPr>
            </a:lvl1pPr>
          </a:lstStyle>
          <a:p>
            <a:pPr/>
            <a:r>
              <a:t>É lento</a:t>
            </a:r>
          </a:p>
        </p:txBody>
      </p:sp>
      <p:sp>
        <p:nvSpPr>
          <p:cNvPr id="253" name="Text 28"/>
          <p:cNvSpPr txBox="1"/>
          <p:nvPr/>
        </p:nvSpPr>
        <p:spPr>
          <a:xfrm>
            <a:off x="6217919" y="4206240"/>
            <a:ext cx="5120642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Cada palavra espera a anterior. Não dá para aproveitar a GPU, que faz milhares de contas ao mesmo tempo.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IDEIA</a:t>
            </a:r>
          </a:p>
        </p:txBody>
      </p:sp>
      <p:sp>
        <p:nvSpPr>
          <p:cNvPr id="256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 modelo de linguagem adivinha o que vem depois</a:t>
            </a:r>
          </a:p>
        </p:txBody>
      </p:sp>
      <p:sp>
        <p:nvSpPr>
          <p:cNvPr id="257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58" name="Text 3"/>
          <p:cNvSpPr txBox="1"/>
          <p:nvPr/>
        </p:nvSpPr>
        <p:spPr>
          <a:xfrm>
            <a:off x="640080" y="1645920"/>
            <a:ext cx="5486401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o rei protege a </a:t>
            </a:r>
            <a:r>
              <a:rPr>
                <a:solidFill>
                  <a:srgbClr val="9E2A2B"/>
                </a:solidFill>
              </a:rPr>
              <a:t>____</a:t>
            </a:r>
          </a:p>
        </p:txBody>
      </p:sp>
      <p:sp>
        <p:nvSpPr>
          <p:cNvPr id="259" name="Text 4"/>
          <p:cNvSpPr txBox="1"/>
          <p:nvPr/>
        </p:nvSpPr>
        <p:spPr>
          <a:xfrm>
            <a:off x="640080" y="2743199"/>
            <a:ext cx="50292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9E2A2B"/>
                </a:solidFill>
              </a:defRPr>
            </a:lvl1pPr>
          </a:lstStyle>
          <a:p>
            <a:pPr/>
            <a:r>
              <a:t>Treinar</a:t>
            </a:r>
          </a:p>
        </p:txBody>
      </p:sp>
      <p:sp>
        <p:nvSpPr>
          <p:cNvPr id="260" name="Text 5"/>
          <p:cNvSpPr txBox="1"/>
          <p:nvPr/>
        </p:nvSpPr>
        <p:spPr>
          <a:xfrm>
            <a:off x="640080" y="3154679"/>
            <a:ext cx="5029201" cy="48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mostrar muito texto e ajustar o modelo até ele dar a maior chance à palavra certa.</a:t>
            </a:r>
          </a:p>
        </p:txBody>
      </p:sp>
      <p:sp>
        <p:nvSpPr>
          <p:cNvPr id="261" name="Text 6"/>
          <p:cNvSpPr txBox="1"/>
          <p:nvPr/>
        </p:nvSpPr>
        <p:spPr>
          <a:xfrm>
            <a:off x="640080" y="3931920"/>
            <a:ext cx="50292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9E2A2B"/>
                </a:solidFill>
              </a:defRPr>
            </a:lvl1pPr>
          </a:lstStyle>
          <a:p>
            <a:pPr/>
            <a:r>
              <a:t>Gerar</a:t>
            </a:r>
          </a:p>
        </p:txBody>
      </p:sp>
      <p:sp>
        <p:nvSpPr>
          <p:cNvPr id="262" name="Text 7"/>
          <p:cNvSpPr txBox="1"/>
          <p:nvPr/>
        </p:nvSpPr>
        <p:spPr>
          <a:xfrm>
            <a:off x="640080" y="4343399"/>
            <a:ext cx="5029201" cy="48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sortear uma palavra, acrescentar ao texto e prever de novo. É assim que o ChatGPT escreve.</a:t>
            </a:r>
          </a:p>
        </p:txBody>
      </p:sp>
      <p:pic>
        <p:nvPicPr>
          <p:cNvPr id="2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0" y="1789725"/>
            <a:ext cx="5120641" cy="37357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IDEIA</a:t>
            </a:r>
          </a:p>
        </p:txBody>
      </p:sp>
      <p:sp>
        <p:nvSpPr>
          <p:cNvPr id="266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atenção: cada palavra olha para todas as outras</a:t>
            </a:r>
          </a:p>
        </p:txBody>
      </p:sp>
      <p:sp>
        <p:nvSpPr>
          <p:cNvPr id="267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68" name="Shape 3"/>
          <p:cNvSpPr/>
          <p:nvPr/>
        </p:nvSpPr>
        <p:spPr>
          <a:xfrm>
            <a:off x="1371600" y="4069079"/>
            <a:ext cx="1255732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4"/>
          <p:cNvSpPr txBox="1"/>
          <p:nvPr/>
        </p:nvSpPr>
        <p:spPr>
          <a:xfrm>
            <a:off x="1371600" y="4268296"/>
            <a:ext cx="125573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270" name="Shape 5"/>
          <p:cNvSpPr/>
          <p:nvPr/>
        </p:nvSpPr>
        <p:spPr>
          <a:xfrm>
            <a:off x="2737060" y="4069079"/>
            <a:ext cx="1255733" cy="640081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6"/>
          <p:cNvSpPr txBox="1"/>
          <p:nvPr/>
        </p:nvSpPr>
        <p:spPr>
          <a:xfrm>
            <a:off x="2737060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gato</a:t>
            </a:r>
          </a:p>
        </p:txBody>
      </p:sp>
      <p:sp>
        <p:nvSpPr>
          <p:cNvPr id="272" name="Shape 7"/>
          <p:cNvSpPr/>
          <p:nvPr/>
        </p:nvSpPr>
        <p:spPr>
          <a:xfrm>
            <a:off x="4102520" y="4069079"/>
            <a:ext cx="1255733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8"/>
          <p:cNvSpPr txBox="1"/>
          <p:nvPr/>
        </p:nvSpPr>
        <p:spPr>
          <a:xfrm>
            <a:off x="4102520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subiu</a:t>
            </a:r>
          </a:p>
        </p:txBody>
      </p:sp>
      <p:sp>
        <p:nvSpPr>
          <p:cNvPr id="274" name="Shape 9"/>
          <p:cNvSpPr/>
          <p:nvPr/>
        </p:nvSpPr>
        <p:spPr>
          <a:xfrm>
            <a:off x="5467980" y="4069079"/>
            <a:ext cx="1255733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10"/>
          <p:cNvSpPr txBox="1"/>
          <p:nvPr/>
        </p:nvSpPr>
        <p:spPr>
          <a:xfrm>
            <a:off x="5467980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no</a:t>
            </a:r>
          </a:p>
        </p:txBody>
      </p:sp>
      <p:sp>
        <p:nvSpPr>
          <p:cNvPr id="276" name="Shape 11"/>
          <p:cNvSpPr/>
          <p:nvPr/>
        </p:nvSpPr>
        <p:spPr>
          <a:xfrm>
            <a:off x="6833441" y="4069079"/>
            <a:ext cx="1255733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12"/>
          <p:cNvSpPr txBox="1"/>
          <p:nvPr/>
        </p:nvSpPr>
        <p:spPr>
          <a:xfrm>
            <a:off x="6833441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telhado</a:t>
            </a:r>
          </a:p>
        </p:txBody>
      </p:sp>
      <p:sp>
        <p:nvSpPr>
          <p:cNvPr id="278" name="Shape 13"/>
          <p:cNvSpPr/>
          <p:nvPr/>
        </p:nvSpPr>
        <p:spPr>
          <a:xfrm>
            <a:off x="8198901" y="4069079"/>
            <a:ext cx="1255733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14"/>
          <p:cNvSpPr txBox="1"/>
          <p:nvPr/>
        </p:nvSpPr>
        <p:spPr>
          <a:xfrm>
            <a:off x="8198901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porque</a:t>
            </a:r>
          </a:p>
        </p:txBody>
      </p:sp>
      <p:sp>
        <p:nvSpPr>
          <p:cNvPr id="280" name="Shape 15"/>
          <p:cNvSpPr/>
          <p:nvPr/>
        </p:nvSpPr>
        <p:spPr>
          <a:xfrm>
            <a:off x="9564362" y="4069079"/>
            <a:ext cx="1255733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9E2A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16"/>
          <p:cNvSpPr txBox="1"/>
          <p:nvPr/>
        </p:nvSpPr>
        <p:spPr>
          <a:xfrm>
            <a:off x="9564362" y="4268296"/>
            <a:ext cx="1255733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9E2A2B"/>
                </a:solidFill>
              </a:defRPr>
            </a:lvl1pPr>
          </a:lstStyle>
          <a:p>
            <a:pPr/>
            <a:r>
              <a:t>ele</a:t>
            </a:r>
          </a:p>
        </p:txBody>
      </p:sp>
      <p:sp>
        <p:nvSpPr>
          <p:cNvPr id="282" name="Shape 17"/>
          <p:cNvSpPr/>
          <p:nvPr/>
        </p:nvSpPr>
        <p:spPr>
          <a:xfrm>
            <a:off x="1600199" y="3843430"/>
            <a:ext cx="798534" cy="88491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8"/>
          <p:cNvSpPr txBox="1"/>
          <p:nvPr/>
        </p:nvSpPr>
        <p:spPr>
          <a:xfrm>
            <a:off x="1371600" y="3477669"/>
            <a:ext cx="125573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3%</a:t>
            </a:r>
          </a:p>
        </p:txBody>
      </p:sp>
      <p:sp>
        <p:nvSpPr>
          <p:cNvPr id="284" name="Shape 19"/>
          <p:cNvSpPr/>
          <p:nvPr/>
        </p:nvSpPr>
        <p:spPr>
          <a:xfrm>
            <a:off x="2965660" y="2103120"/>
            <a:ext cx="798533" cy="1828801"/>
          </a:xfrm>
          <a:prstGeom prst="rect">
            <a:avLst/>
          </a:prstGeom>
          <a:solidFill>
            <a:srgbClr val="2F5D8A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20"/>
          <p:cNvSpPr txBox="1"/>
          <p:nvPr/>
        </p:nvSpPr>
        <p:spPr>
          <a:xfrm>
            <a:off x="2737060" y="1737360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62%</a:t>
            </a:r>
          </a:p>
        </p:txBody>
      </p:sp>
      <p:sp>
        <p:nvSpPr>
          <p:cNvPr id="286" name="Shape 21"/>
          <p:cNvSpPr/>
          <p:nvPr/>
        </p:nvSpPr>
        <p:spPr>
          <a:xfrm>
            <a:off x="4331120" y="3754939"/>
            <a:ext cx="798533" cy="176982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Text 22"/>
          <p:cNvSpPr txBox="1"/>
          <p:nvPr/>
        </p:nvSpPr>
        <p:spPr>
          <a:xfrm>
            <a:off x="4102520" y="3389179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6%</a:t>
            </a:r>
          </a:p>
        </p:txBody>
      </p:sp>
      <p:sp>
        <p:nvSpPr>
          <p:cNvPr id="288" name="Shape 23"/>
          <p:cNvSpPr/>
          <p:nvPr/>
        </p:nvSpPr>
        <p:spPr>
          <a:xfrm>
            <a:off x="5696580" y="3872926"/>
            <a:ext cx="798533" cy="58995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4"/>
          <p:cNvSpPr txBox="1"/>
          <p:nvPr/>
        </p:nvSpPr>
        <p:spPr>
          <a:xfrm>
            <a:off x="5467980" y="3507166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2%</a:t>
            </a:r>
          </a:p>
        </p:txBody>
      </p:sp>
      <p:sp>
        <p:nvSpPr>
          <p:cNvPr id="290" name="Shape 25"/>
          <p:cNvSpPr/>
          <p:nvPr/>
        </p:nvSpPr>
        <p:spPr>
          <a:xfrm>
            <a:off x="7062041" y="3548462"/>
            <a:ext cx="798533" cy="383459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26"/>
          <p:cNvSpPr txBox="1"/>
          <p:nvPr/>
        </p:nvSpPr>
        <p:spPr>
          <a:xfrm>
            <a:off x="6833441" y="3182702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13%</a:t>
            </a:r>
          </a:p>
        </p:txBody>
      </p:sp>
      <p:sp>
        <p:nvSpPr>
          <p:cNvPr id="292" name="Shape 27"/>
          <p:cNvSpPr/>
          <p:nvPr/>
        </p:nvSpPr>
        <p:spPr>
          <a:xfrm>
            <a:off x="8427501" y="3813933"/>
            <a:ext cx="798533" cy="117988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28"/>
          <p:cNvSpPr txBox="1"/>
          <p:nvPr/>
        </p:nvSpPr>
        <p:spPr>
          <a:xfrm>
            <a:off x="8198901" y="3448172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4%</a:t>
            </a:r>
          </a:p>
        </p:txBody>
      </p:sp>
      <p:sp>
        <p:nvSpPr>
          <p:cNvPr id="294" name="Shape 29"/>
          <p:cNvSpPr/>
          <p:nvPr/>
        </p:nvSpPr>
        <p:spPr>
          <a:xfrm>
            <a:off x="9792962" y="3636952"/>
            <a:ext cx="798533" cy="294969"/>
          </a:xfrm>
          <a:prstGeom prst="rect">
            <a:avLst/>
          </a:prstGeom>
          <a:solidFill>
            <a:srgbClr val="E8EEF5"/>
          </a:solidFill>
          <a:ln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30"/>
          <p:cNvSpPr txBox="1"/>
          <p:nvPr/>
        </p:nvSpPr>
        <p:spPr>
          <a:xfrm>
            <a:off x="9564362" y="3271192"/>
            <a:ext cx="12557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296" name="Text 31"/>
          <p:cNvSpPr txBox="1"/>
          <p:nvPr/>
        </p:nvSpPr>
        <p:spPr>
          <a:xfrm>
            <a:off x="1371599" y="1463039"/>
            <a:ext cx="9448497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quanto "ele" presta atenção em cada palavra</a:t>
            </a:r>
          </a:p>
        </p:txBody>
      </p:sp>
      <p:sp>
        <p:nvSpPr>
          <p:cNvPr id="297" name="Text 32"/>
          <p:cNvSpPr txBox="1"/>
          <p:nvPr/>
        </p:nvSpPr>
        <p:spPr>
          <a:xfrm>
            <a:off x="640079" y="5166359"/>
            <a:ext cx="10911537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Nada se perde no caminho, e todas as palavras fazem isso ao mesmo tempo.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IDEIA</a:t>
            </a:r>
          </a:p>
        </p:txBody>
      </p:sp>
      <p:sp>
        <p:nvSpPr>
          <p:cNvPr id="300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Para o computador, palavras viram listas de números</a:t>
            </a:r>
          </a:p>
        </p:txBody>
      </p:sp>
      <p:sp>
        <p:nvSpPr>
          <p:cNvPr id="301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02" name="Shape 3"/>
          <p:cNvSpPr/>
          <p:nvPr/>
        </p:nvSpPr>
        <p:spPr>
          <a:xfrm>
            <a:off x="640079" y="1828799"/>
            <a:ext cx="1645922" cy="640082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Text 4"/>
          <p:cNvSpPr txBox="1"/>
          <p:nvPr/>
        </p:nvSpPr>
        <p:spPr>
          <a:xfrm>
            <a:off x="640079" y="2028016"/>
            <a:ext cx="16459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304" name="Shape 5"/>
          <p:cNvSpPr/>
          <p:nvPr/>
        </p:nvSpPr>
        <p:spPr>
          <a:xfrm>
            <a:off x="2377439" y="2148839"/>
            <a:ext cx="82296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05" name="Shape 6"/>
          <p:cNvSpPr/>
          <p:nvPr/>
        </p:nvSpPr>
        <p:spPr>
          <a:xfrm>
            <a:off x="3291840" y="1828799"/>
            <a:ext cx="2743201" cy="640082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7"/>
          <p:cNvSpPr txBox="1"/>
          <p:nvPr/>
        </p:nvSpPr>
        <p:spPr>
          <a:xfrm>
            <a:off x="3291840" y="2021840"/>
            <a:ext cx="2743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[ 0.9   0.8   0.1 ]</a:t>
            </a:r>
          </a:p>
        </p:txBody>
      </p:sp>
      <p:sp>
        <p:nvSpPr>
          <p:cNvPr id="307" name="Shape 8"/>
          <p:cNvSpPr/>
          <p:nvPr/>
        </p:nvSpPr>
        <p:spPr>
          <a:xfrm>
            <a:off x="640079" y="2697479"/>
            <a:ext cx="1645922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9"/>
          <p:cNvSpPr txBox="1"/>
          <p:nvPr/>
        </p:nvSpPr>
        <p:spPr>
          <a:xfrm>
            <a:off x="640079" y="2896696"/>
            <a:ext cx="16459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309" name="Shape 10"/>
          <p:cNvSpPr/>
          <p:nvPr/>
        </p:nvSpPr>
        <p:spPr>
          <a:xfrm>
            <a:off x="2377439" y="3017520"/>
            <a:ext cx="82296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Shape 11"/>
          <p:cNvSpPr/>
          <p:nvPr/>
        </p:nvSpPr>
        <p:spPr>
          <a:xfrm>
            <a:off x="3291840" y="2697479"/>
            <a:ext cx="2743201" cy="640081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12"/>
          <p:cNvSpPr txBox="1"/>
          <p:nvPr/>
        </p:nvSpPr>
        <p:spPr>
          <a:xfrm>
            <a:off x="3291840" y="2890519"/>
            <a:ext cx="2743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[ 0.9   0.7   0.9 ]</a:t>
            </a:r>
          </a:p>
        </p:txBody>
      </p:sp>
      <p:sp>
        <p:nvSpPr>
          <p:cNvPr id="312" name="Shape 13"/>
          <p:cNvSpPr/>
          <p:nvPr/>
        </p:nvSpPr>
        <p:spPr>
          <a:xfrm>
            <a:off x="640079" y="3566159"/>
            <a:ext cx="1645922" cy="64008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14"/>
          <p:cNvSpPr txBox="1"/>
          <p:nvPr/>
        </p:nvSpPr>
        <p:spPr>
          <a:xfrm>
            <a:off x="640079" y="3765376"/>
            <a:ext cx="164592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peão</a:t>
            </a:r>
          </a:p>
        </p:txBody>
      </p:sp>
      <p:sp>
        <p:nvSpPr>
          <p:cNvPr id="314" name="Shape 15"/>
          <p:cNvSpPr/>
          <p:nvPr/>
        </p:nvSpPr>
        <p:spPr>
          <a:xfrm>
            <a:off x="2377439" y="3886200"/>
            <a:ext cx="822961" cy="0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Shape 16"/>
          <p:cNvSpPr/>
          <p:nvPr/>
        </p:nvSpPr>
        <p:spPr>
          <a:xfrm>
            <a:off x="3291840" y="3566159"/>
            <a:ext cx="2743201" cy="640081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7"/>
          <p:cNvSpPr txBox="1"/>
          <p:nvPr/>
        </p:nvSpPr>
        <p:spPr>
          <a:xfrm>
            <a:off x="3291840" y="3759199"/>
            <a:ext cx="2743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[ 0.1   0.2   0.3 ]</a:t>
            </a:r>
          </a:p>
        </p:txBody>
      </p:sp>
      <p:sp>
        <p:nvSpPr>
          <p:cNvPr id="317" name="Text 18"/>
          <p:cNvSpPr txBox="1"/>
          <p:nvPr/>
        </p:nvSpPr>
        <p:spPr>
          <a:xfrm>
            <a:off x="640079" y="1417319"/>
            <a:ext cx="16459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palavra</a:t>
            </a:r>
          </a:p>
        </p:txBody>
      </p:sp>
      <p:sp>
        <p:nvSpPr>
          <p:cNvPr id="318" name="Text 19"/>
          <p:cNvSpPr txBox="1"/>
          <p:nvPr/>
        </p:nvSpPr>
        <p:spPr>
          <a:xfrm>
            <a:off x="3291840" y="1417319"/>
            <a:ext cx="27432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vetor (lista de números)</a:t>
            </a:r>
          </a:p>
        </p:txBody>
      </p:sp>
      <p:sp>
        <p:nvSpPr>
          <p:cNvPr id="319" name="Text 20"/>
          <p:cNvSpPr txBox="1"/>
          <p:nvPr/>
        </p:nvSpPr>
        <p:spPr>
          <a:xfrm>
            <a:off x="6400799" y="1737360"/>
            <a:ext cx="5120642" cy="23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O modelo aprende esses números</a:t>
            </a:r>
          </a:p>
        </p:txBody>
      </p:sp>
      <p:sp>
        <p:nvSpPr>
          <p:cNvPr id="320" name="Text 21"/>
          <p:cNvSpPr txBox="1"/>
          <p:nvPr/>
        </p:nvSpPr>
        <p:spPr>
          <a:xfrm>
            <a:off x="6400799" y="2103120"/>
            <a:ext cx="5120642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no treino. Ninguém escolhe à mão.</a:t>
            </a:r>
          </a:p>
        </p:txBody>
      </p:sp>
      <p:sp>
        <p:nvSpPr>
          <p:cNvPr id="321" name="Text 22"/>
          <p:cNvSpPr txBox="1"/>
          <p:nvPr/>
        </p:nvSpPr>
        <p:spPr>
          <a:xfrm>
            <a:off x="6400799" y="2834639"/>
            <a:ext cx="5120642" cy="238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Palavras parecidas</a:t>
            </a:r>
          </a:p>
        </p:txBody>
      </p:sp>
      <p:sp>
        <p:nvSpPr>
          <p:cNvPr id="322" name="Text 23"/>
          <p:cNvSpPr txBox="1"/>
          <p:nvPr/>
        </p:nvSpPr>
        <p:spPr>
          <a:xfrm>
            <a:off x="6400799" y="3200399"/>
            <a:ext cx="5120642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ficam com números parecidos: veja rei e rainha.</a:t>
            </a:r>
          </a:p>
        </p:txBody>
      </p:sp>
      <p:sp>
        <p:nvSpPr>
          <p:cNvPr id="323" name="Text 24"/>
          <p:cNvSpPr txBox="1"/>
          <p:nvPr/>
        </p:nvSpPr>
        <p:spPr>
          <a:xfrm>
            <a:off x="6400799" y="3931920"/>
            <a:ext cx="5120642" cy="23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B1B1B"/>
                </a:solidFill>
              </a:defRPr>
            </a:lvl1pPr>
          </a:lstStyle>
          <a:p>
            <a:pPr/>
            <a:r>
              <a:t>Uma frase vira uma tabela</a:t>
            </a:r>
          </a:p>
        </p:txBody>
      </p:sp>
      <p:sp>
        <p:nvSpPr>
          <p:cNvPr id="324" name="Text 25"/>
          <p:cNvSpPr txBox="1"/>
          <p:nvPr/>
        </p:nvSpPr>
        <p:spPr>
          <a:xfrm>
            <a:off x="6400799" y="4297679"/>
            <a:ext cx="5120642" cy="48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com uma linha por palavra. É com ela que a atenção trabalha.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IDEIA</a:t>
            </a:r>
          </a:p>
        </p:txBody>
      </p:sp>
      <p:sp>
        <p:nvSpPr>
          <p:cNvPr id="327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Query, key e value: como uma busca no YouTube</a:t>
            </a:r>
          </a:p>
        </p:txBody>
      </p:sp>
      <p:sp>
        <p:nvSpPr>
          <p:cNvPr id="328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29" name="Text 3"/>
          <p:cNvSpPr txBox="1"/>
          <p:nvPr/>
        </p:nvSpPr>
        <p:spPr>
          <a:xfrm>
            <a:off x="640079" y="1554480"/>
            <a:ext cx="347472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Query (Q)</a:t>
            </a:r>
          </a:p>
        </p:txBody>
      </p:sp>
      <p:sp>
        <p:nvSpPr>
          <p:cNvPr id="330" name="Text 4"/>
          <p:cNvSpPr txBox="1"/>
          <p:nvPr/>
        </p:nvSpPr>
        <p:spPr>
          <a:xfrm>
            <a:off x="640079" y="2148839"/>
            <a:ext cx="34747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No YouTube</a:t>
            </a:r>
          </a:p>
        </p:txBody>
      </p:sp>
      <p:sp>
        <p:nvSpPr>
          <p:cNvPr id="331" name="Text 5"/>
          <p:cNvSpPr txBox="1"/>
          <p:nvPr/>
        </p:nvSpPr>
        <p:spPr>
          <a:xfrm>
            <a:off x="640079" y="246887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que você digita</a:t>
            </a:r>
          </a:p>
        </p:txBody>
      </p:sp>
      <p:sp>
        <p:nvSpPr>
          <p:cNvPr id="332" name="Text 6"/>
          <p:cNvSpPr txBox="1"/>
          <p:nvPr/>
        </p:nvSpPr>
        <p:spPr>
          <a:xfrm>
            <a:off x="640079" y="2880360"/>
            <a:ext cx="34747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"gol de bicicleta"</a:t>
            </a:r>
          </a:p>
        </p:txBody>
      </p:sp>
      <p:sp>
        <p:nvSpPr>
          <p:cNvPr id="333" name="Text 7"/>
          <p:cNvSpPr txBox="1"/>
          <p:nvPr/>
        </p:nvSpPr>
        <p:spPr>
          <a:xfrm>
            <a:off x="640079" y="3474720"/>
            <a:ext cx="34747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Na frase</a:t>
            </a:r>
          </a:p>
        </p:txBody>
      </p:sp>
      <p:sp>
        <p:nvSpPr>
          <p:cNvPr id="334" name="Text 8"/>
          <p:cNvSpPr txBox="1"/>
          <p:nvPr/>
        </p:nvSpPr>
        <p:spPr>
          <a:xfrm>
            <a:off x="640079" y="379475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que a palavra procura</a:t>
            </a:r>
          </a:p>
        </p:txBody>
      </p:sp>
      <p:sp>
        <p:nvSpPr>
          <p:cNvPr id="335" name="Text 9"/>
          <p:cNvSpPr txBox="1"/>
          <p:nvPr/>
        </p:nvSpPr>
        <p:spPr>
          <a:xfrm>
            <a:off x="4343399" y="1554480"/>
            <a:ext cx="347472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2F5D8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Key (K)</a:t>
            </a:r>
          </a:p>
        </p:txBody>
      </p:sp>
      <p:sp>
        <p:nvSpPr>
          <p:cNvPr id="336" name="Text 10"/>
          <p:cNvSpPr txBox="1"/>
          <p:nvPr/>
        </p:nvSpPr>
        <p:spPr>
          <a:xfrm>
            <a:off x="4343399" y="2148839"/>
            <a:ext cx="34747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No YouTube</a:t>
            </a:r>
          </a:p>
        </p:txBody>
      </p:sp>
      <p:sp>
        <p:nvSpPr>
          <p:cNvPr id="337" name="Text 11"/>
          <p:cNvSpPr txBox="1"/>
          <p:nvPr/>
        </p:nvSpPr>
        <p:spPr>
          <a:xfrm>
            <a:off x="4343399" y="246887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título de cada vídeo</a:t>
            </a:r>
          </a:p>
        </p:txBody>
      </p:sp>
      <p:sp>
        <p:nvSpPr>
          <p:cNvPr id="338" name="Text 12"/>
          <p:cNvSpPr txBox="1"/>
          <p:nvPr/>
        </p:nvSpPr>
        <p:spPr>
          <a:xfrm>
            <a:off x="4343399" y="2880360"/>
            <a:ext cx="347472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"Top 10 gols de bicicleta"</a:t>
            </a:r>
          </a:p>
        </p:txBody>
      </p:sp>
      <p:sp>
        <p:nvSpPr>
          <p:cNvPr id="339" name="Text 13"/>
          <p:cNvSpPr txBox="1"/>
          <p:nvPr/>
        </p:nvSpPr>
        <p:spPr>
          <a:xfrm>
            <a:off x="4343399" y="3474720"/>
            <a:ext cx="34747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Na frase</a:t>
            </a:r>
          </a:p>
        </p:txBody>
      </p:sp>
      <p:sp>
        <p:nvSpPr>
          <p:cNvPr id="340" name="Text 14"/>
          <p:cNvSpPr txBox="1"/>
          <p:nvPr/>
        </p:nvSpPr>
        <p:spPr>
          <a:xfrm>
            <a:off x="4343399" y="379475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que a palavra oferece</a:t>
            </a:r>
          </a:p>
        </p:txBody>
      </p:sp>
      <p:sp>
        <p:nvSpPr>
          <p:cNvPr id="341" name="Text 15"/>
          <p:cNvSpPr txBox="1"/>
          <p:nvPr/>
        </p:nvSpPr>
        <p:spPr>
          <a:xfrm>
            <a:off x="8046719" y="1554480"/>
            <a:ext cx="347472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2F5D8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Value (V)</a:t>
            </a:r>
          </a:p>
        </p:txBody>
      </p:sp>
      <p:sp>
        <p:nvSpPr>
          <p:cNvPr id="342" name="Text 16"/>
          <p:cNvSpPr txBox="1"/>
          <p:nvPr/>
        </p:nvSpPr>
        <p:spPr>
          <a:xfrm>
            <a:off x="8046719" y="2148839"/>
            <a:ext cx="34747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No YouTube</a:t>
            </a:r>
          </a:p>
        </p:txBody>
      </p:sp>
      <p:sp>
        <p:nvSpPr>
          <p:cNvPr id="343" name="Text 17"/>
          <p:cNvSpPr txBox="1"/>
          <p:nvPr/>
        </p:nvSpPr>
        <p:spPr>
          <a:xfrm>
            <a:off x="8046719" y="2468879"/>
            <a:ext cx="347472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vídeo em si</a:t>
            </a:r>
          </a:p>
        </p:txBody>
      </p:sp>
      <p:sp>
        <p:nvSpPr>
          <p:cNvPr id="344" name="Text 18"/>
          <p:cNvSpPr txBox="1"/>
          <p:nvPr/>
        </p:nvSpPr>
        <p:spPr>
          <a:xfrm>
            <a:off x="8046719" y="2880360"/>
            <a:ext cx="34747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500">
                <a:solidFill>
                  <a:srgbClr val="5F5F5F"/>
                </a:solidFill>
              </a:defRPr>
            </a:lvl1pPr>
          </a:lstStyle>
          <a:p>
            <a:pPr/>
            <a:r>
              <a:t>o vídeo que você assiste</a:t>
            </a:r>
          </a:p>
        </p:txBody>
      </p:sp>
      <p:sp>
        <p:nvSpPr>
          <p:cNvPr id="345" name="Text 19"/>
          <p:cNvSpPr txBox="1"/>
          <p:nvPr/>
        </p:nvSpPr>
        <p:spPr>
          <a:xfrm>
            <a:off x="8046719" y="3474720"/>
            <a:ext cx="34747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Na frase</a:t>
            </a:r>
          </a:p>
        </p:txBody>
      </p:sp>
      <p:sp>
        <p:nvSpPr>
          <p:cNvPr id="346" name="Text 20"/>
          <p:cNvSpPr txBox="1"/>
          <p:nvPr/>
        </p:nvSpPr>
        <p:spPr>
          <a:xfrm>
            <a:off x="8046719" y="3794759"/>
            <a:ext cx="347472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o conteúdo que a palavra entrega</a:t>
            </a:r>
          </a:p>
        </p:txBody>
      </p:sp>
      <p:sp>
        <p:nvSpPr>
          <p:cNvPr id="347" name="Shape 21"/>
          <p:cNvSpPr/>
          <p:nvPr/>
        </p:nvSpPr>
        <p:spPr>
          <a:xfrm>
            <a:off x="640079" y="4892040"/>
            <a:ext cx="10911537" cy="91440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Text 22"/>
          <p:cNvSpPr txBox="1"/>
          <p:nvPr/>
        </p:nvSpPr>
        <p:spPr>
          <a:xfrm>
            <a:off x="914399" y="5082366"/>
            <a:ext cx="10362897" cy="533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A diferença: a atenção não escolhe um vídeo só. Ela mistura um pouco de cada, mais dos que combinam melhor.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A IDEIA</a:t>
            </a:r>
          </a:p>
        </p:txBody>
      </p:sp>
      <p:sp>
        <p:nvSpPr>
          <p:cNvPr id="351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Uma busca que mistura as respostas</a:t>
            </a:r>
          </a:p>
        </p:txBody>
      </p:sp>
      <p:sp>
        <p:nvSpPr>
          <p:cNvPr id="352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53" name="Shape 3"/>
          <p:cNvSpPr/>
          <p:nvPr/>
        </p:nvSpPr>
        <p:spPr>
          <a:xfrm>
            <a:off x="640079" y="2697479"/>
            <a:ext cx="2194562" cy="822961"/>
          </a:xfrm>
          <a:prstGeom prst="rect">
            <a:avLst/>
          </a:prstGeom>
          <a:solidFill>
            <a:srgbClr val="F3F4F6"/>
          </a:solidFill>
          <a:ln w="19050">
            <a:solidFill>
              <a:srgbClr val="9E2A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4"/>
          <p:cNvSpPr txBox="1"/>
          <p:nvPr/>
        </p:nvSpPr>
        <p:spPr>
          <a:xfrm>
            <a:off x="640079" y="3004383"/>
            <a:ext cx="219456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B1B1B"/>
                </a:solidFill>
              </a:defRPr>
            </a:lvl1pPr>
          </a:lstStyle>
          <a:p>
            <a:pPr/>
            <a:r>
              <a:t>cavalo + bispo</a:t>
            </a:r>
          </a:p>
        </p:txBody>
      </p:sp>
      <p:sp>
        <p:nvSpPr>
          <p:cNvPr id="355" name="Text 5"/>
          <p:cNvSpPr txBox="1"/>
          <p:nvPr/>
        </p:nvSpPr>
        <p:spPr>
          <a:xfrm>
            <a:off x="457199" y="2285999"/>
            <a:ext cx="25603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9E2A2B"/>
                </a:solidFill>
              </a:defRPr>
            </a:lvl1pPr>
          </a:lstStyle>
          <a:p>
            <a:pPr/>
            <a:r>
              <a:t>o que procuro (query)</a:t>
            </a:r>
          </a:p>
        </p:txBody>
      </p:sp>
      <p:sp>
        <p:nvSpPr>
          <p:cNvPr id="356" name="Text 6"/>
          <p:cNvSpPr txBox="1"/>
          <p:nvPr/>
        </p:nvSpPr>
        <p:spPr>
          <a:xfrm>
            <a:off x="3749040" y="1371599"/>
            <a:ext cx="18288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peça (key)</a:t>
            </a:r>
          </a:p>
        </p:txBody>
      </p:sp>
      <p:sp>
        <p:nvSpPr>
          <p:cNvPr id="357" name="Text 7"/>
          <p:cNvSpPr txBox="1"/>
          <p:nvPr/>
        </p:nvSpPr>
        <p:spPr>
          <a:xfrm>
            <a:off x="5669279" y="1371599"/>
            <a:ext cx="12801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peso</a:t>
            </a:r>
          </a:p>
        </p:txBody>
      </p:sp>
      <p:sp>
        <p:nvSpPr>
          <p:cNvPr id="358" name="Text 8"/>
          <p:cNvSpPr txBox="1"/>
          <p:nvPr/>
        </p:nvSpPr>
        <p:spPr>
          <a:xfrm>
            <a:off x="6949440" y="1371599"/>
            <a:ext cx="1463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pontos (value)</a:t>
            </a:r>
          </a:p>
        </p:txBody>
      </p:sp>
      <p:sp>
        <p:nvSpPr>
          <p:cNvPr id="359" name="Shape 9"/>
          <p:cNvSpPr/>
          <p:nvPr/>
        </p:nvSpPr>
        <p:spPr>
          <a:xfrm>
            <a:off x="3840479" y="1783079"/>
            <a:ext cx="164592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10"/>
          <p:cNvSpPr txBox="1"/>
          <p:nvPr/>
        </p:nvSpPr>
        <p:spPr>
          <a:xfrm>
            <a:off x="3840479" y="1904685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peão</a:t>
            </a:r>
          </a:p>
        </p:txBody>
      </p:sp>
      <p:sp>
        <p:nvSpPr>
          <p:cNvPr id="361" name="Shape 11"/>
          <p:cNvSpPr/>
          <p:nvPr/>
        </p:nvSpPr>
        <p:spPr>
          <a:xfrm>
            <a:off x="5669279" y="1783079"/>
            <a:ext cx="1280161" cy="429769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12"/>
          <p:cNvSpPr txBox="1"/>
          <p:nvPr/>
        </p:nvSpPr>
        <p:spPr>
          <a:xfrm>
            <a:off x="5669279" y="1904685"/>
            <a:ext cx="12801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1%</a:t>
            </a:r>
          </a:p>
        </p:txBody>
      </p:sp>
      <p:sp>
        <p:nvSpPr>
          <p:cNvPr id="363" name="Shape 13"/>
          <p:cNvSpPr/>
          <p:nvPr/>
        </p:nvSpPr>
        <p:spPr>
          <a:xfrm>
            <a:off x="7132319" y="1783079"/>
            <a:ext cx="109728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14"/>
          <p:cNvSpPr txBox="1"/>
          <p:nvPr/>
        </p:nvSpPr>
        <p:spPr>
          <a:xfrm>
            <a:off x="7132319" y="1904685"/>
            <a:ext cx="1097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5" name="Shape 15"/>
          <p:cNvSpPr/>
          <p:nvPr/>
        </p:nvSpPr>
        <p:spPr>
          <a:xfrm>
            <a:off x="3840479" y="2285999"/>
            <a:ext cx="1645921" cy="42977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6" name="Text 16"/>
          <p:cNvSpPr txBox="1"/>
          <p:nvPr/>
        </p:nvSpPr>
        <p:spPr>
          <a:xfrm>
            <a:off x="3840479" y="2407605"/>
            <a:ext cx="164592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cavalo</a:t>
            </a:r>
          </a:p>
        </p:txBody>
      </p:sp>
      <p:sp>
        <p:nvSpPr>
          <p:cNvPr id="367" name="Shape 17"/>
          <p:cNvSpPr/>
          <p:nvPr/>
        </p:nvSpPr>
        <p:spPr>
          <a:xfrm>
            <a:off x="5669279" y="2285999"/>
            <a:ext cx="1280161" cy="429770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Text 18"/>
          <p:cNvSpPr txBox="1"/>
          <p:nvPr/>
        </p:nvSpPr>
        <p:spPr>
          <a:xfrm>
            <a:off x="5669279" y="2407605"/>
            <a:ext cx="128016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49%</a:t>
            </a:r>
          </a:p>
        </p:txBody>
      </p:sp>
      <p:sp>
        <p:nvSpPr>
          <p:cNvPr id="369" name="Shape 19"/>
          <p:cNvSpPr/>
          <p:nvPr/>
        </p:nvSpPr>
        <p:spPr>
          <a:xfrm>
            <a:off x="7132319" y="2285999"/>
            <a:ext cx="1097281" cy="429770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20"/>
          <p:cNvSpPr txBox="1"/>
          <p:nvPr/>
        </p:nvSpPr>
        <p:spPr>
          <a:xfrm>
            <a:off x="7132319" y="2407605"/>
            <a:ext cx="109728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1" name="Shape 21"/>
          <p:cNvSpPr/>
          <p:nvPr/>
        </p:nvSpPr>
        <p:spPr>
          <a:xfrm>
            <a:off x="3840479" y="2788920"/>
            <a:ext cx="164592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22"/>
          <p:cNvSpPr txBox="1"/>
          <p:nvPr/>
        </p:nvSpPr>
        <p:spPr>
          <a:xfrm>
            <a:off x="3840479" y="2910526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bispo</a:t>
            </a:r>
          </a:p>
        </p:txBody>
      </p:sp>
      <p:sp>
        <p:nvSpPr>
          <p:cNvPr id="373" name="Shape 23"/>
          <p:cNvSpPr/>
          <p:nvPr/>
        </p:nvSpPr>
        <p:spPr>
          <a:xfrm>
            <a:off x="5669279" y="2788920"/>
            <a:ext cx="1280161" cy="429769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24"/>
          <p:cNvSpPr txBox="1"/>
          <p:nvPr/>
        </p:nvSpPr>
        <p:spPr>
          <a:xfrm>
            <a:off x="5669279" y="2910526"/>
            <a:ext cx="12801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49%</a:t>
            </a:r>
          </a:p>
        </p:txBody>
      </p:sp>
      <p:sp>
        <p:nvSpPr>
          <p:cNvPr id="375" name="Shape 25"/>
          <p:cNvSpPr/>
          <p:nvPr/>
        </p:nvSpPr>
        <p:spPr>
          <a:xfrm>
            <a:off x="7132319" y="2788920"/>
            <a:ext cx="109728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26"/>
          <p:cNvSpPr txBox="1"/>
          <p:nvPr/>
        </p:nvSpPr>
        <p:spPr>
          <a:xfrm>
            <a:off x="7132319" y="2910526"/>
            <a:ext cx="1097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7" name="Shape 27"/>
          <p:cNvSpPr/>
          <p:nvPr/>
        </p:nvSpPr>
        <p:spPr>
          <a:xfrm>
            <a:off x="3840479" y="3291840"/>
            <a:ext cx="164592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8" name="Text 28"/>
          <p:cNvSpPr txBox="1"/>
          <p:nvPr/>
        </p:nvSpPr>
        <p:spPr>
          <a:xfrm>
            <a:off x="3840479" y="3413446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torre</a:t>
            </a:r>
          </a:p>
        </p:txBody>
      </p:sp>
      <p:sp>
        <p:nvSpPr>
          <p:cNvPr id="379" name="Shape 29"/>
          <p:cNvSpPr/>
          <p:nvPr/>
        </p:nvSpPr>
        <p:spPr>
          <a:xfrm>
            <a:off x="5669279" y="3291840"/>
            <a:ext cx="1280161" cy="429769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0" name="Text 30"/>
          <p:cNvSpPr txBox="1"/>
          <p:nvPr/>
        </p:nvSpPr>
        <p:spPr>
          <a:xfrm>
            <a:off x="5669279" y="3413446"/>
            <a:ext cx="12801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1%</a:t>
            </a:r>
          </a:p>
        </p:txBody>
      </p:sp>
      <p:sp>
        <p:nvSpPr>
          <p:cNvPr id="381" name="Shape 31"/>
          <p:cNvSpPr/>
          <p:nvPr/>
        </p:nvSpPr>
        <p:spPr>
          <a:xfrm>
            <a:off x="7132319" y="3291840"/>
            <a:ext cx="109728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 32"/>
          <p:cNvSpPr txBox="1"/>
          <p:nvPr/>
        </p:nvSpPr>
        <p:spPr>
          <a:xfrm>
            <a:off x="7132319" y="3413446"/>
            <a:ext cx="1097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3" name="Shape 33"/>
          <p:cNvSpPr/>
          <p:nvPr/>
        </p:nvSpPr>
        <p:spPr>
          <a:xfrm>
            <a:off x="3840479" y="3794759"/>
            <a:ext cx="164592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34"/>
          <p:cNvSpPr txBox="1"/>
          <p:nvPr/>
        </p:nvSpPr>
        <p:spPr>
          <a:xfrm>
            <a:off x="3840479" y="3916365"/>
            <a:ext cx="164592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dama</a:t>
            </a:r>
          </a:p>
        </p:txBody>
      </p:sp>
      <p:sp>
        <p:nvSpPr>
          <p:cNvPr id="385" name="Shape 35"/>
          <p:cNvSpPr/>
          <p:nvPr/>
        </p:nvSpPr>
        <p:spPr>
          <a:xfrm>
            <a:off x="5669279" y="3794759"/>
            <a:ext cx="1280161" cy="429769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6" name="Text 36"/>
          <p:cNvSpPr txBox="1"/>
          <p:nvPr/>
        </p:nvSpPr>
        <p:spPr>
          <a:xfrm>
            <a:off x="5669279" y="3916365"/>
            <a:ext cx="12801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1%</a:t>
            </a:r>
          </a:p>
        </p:txBody>
      </p:sp>
      <p:sp>
        <p:nvSpPr>
          <p:cNvPr id="387" name="Shape 37"/>
          <p:cNvSpPr/>
          <p:nvPr/>
        </p:nvSpPr>
        <p:spPr>
          <a:xfrm>
            <a:off x="7132319" y="3794759"/>
            <a:ext cx="1097281" cy="429769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8" name="Text 38"/>
          <p:cNvSpPr txBox="1"/>
          <p:nvPr/>
        </p:nvSpPr>
        <p:spPr>
          <a:xfrm>
            <a:off x="7132319" y="3916365"/>
            <a:ext cx="109728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89" name="Shape 39"/>
          <p:cNvSpPr/>
          <p:nvPr/>
        </p:nvSpPr>
        <p:spPr>
          <a:xfrm>
            <a:off x="2880360" y="3108960"/>
            <a:ext cx="8686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40"/>
          <p:cNvSpPr/>
          <p:nvPr/>
        </p:nvSpPr>
        <p:spPr>
          <a:xfrm>
            <a:off x="8366759" y="3108960"/>
            <a:ext cx="10972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41"/>
          <p:cNvSpPr txBox="1"/>
          <p:nvPr/>
        </p:nvSpPr>
        <p:spPr>
          <a:xfrm>
            <a:off x="8366759" y="2697479"/>
            <a:ext cx="109728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5F5F5F"/>
                </a:solidFill>
              </a:defRPr>
            </a:lvl1pPr>
          </a:lstStyle>
          <a:p>
            <a:pPr/>
            <a:r>
              <a:t>mistura</a:t>
            </a:r>
          </a:p>
        </p:txBody>
      </p:sp>
      <p:sp>
        <p:nvSpPr>
          <p:cNvPr id="392" name="Shape 42"/>
          <p:cNvSpPr/>
          <p:nvPr/>
        </p:nvSpPr>
        <p:spPr>
          <a:xfrm>
            <a:off x="9555480" y="2697479"/>
            <a:ext cx="1828801" cy="82296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43"/>
          <p:cNvSpPr txBox="1"/>
          <p:nvPr/>
        </p:nvSpPr>
        <p:spPr>
          <a:xfrm>
            <a:off x="9555480" y="2912109"/>
            <a:ext cx="18288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3.05</a:t>
            </a:r>
          </a:p>
        </p:txBody>
      </p:sp>
      <p:sp>
        <p:nvSpPr>
          <p:cNvPr id="394" name="Text 44"/>
          <p:cNvSpPr txBox="1"/>
          <p:nvPr/>
        </p:nvSpPr>
        <p:spPr>
          <a:xfrm>
            <a:off x="9555480" y="2285999"/>
            <a:ext cx="18288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5F5F5F"/>
                </a:solidFill>
              </a:defRPr>
            </a:lvl1pPr>
          </a:lstStyle>
          <a:p>
            <a:pPr/>
            <a:r>
              <a:t>resposta</a:t>
            </a:r>
          </a:p>
        </p:txBody>
      </p:sp>
      <p:sp>
        <p:nvSpPr>
          <p:cNvPr id="395" name="Text 45"/>
          <p:cNvSpPr txBox="1"/>
          <p:nvPr/>
        </p:nvSpPr>
        <p:spPr>
          <a:xfrm>
            <a:off x="640079" y="4800599"/>
            <a:ext cx="10789922" cy="530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Em vez de achar uma única entrada, a atenção mistura todas, dando mais peso às que combinam com a consulta.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OS TRÊS PASSOS</a:t>
            </a:r>
          </a:p>
        </p:txBody>
      </p:sp>
      <p:sp>
        <p:nvSpPr>
          <p:cNvPr id="398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Passo 1: comparar</a:t>
            </a:r>
          </a:p>
        </p:txBody>
      </p:sp>
      <p:sp>
        <p:nvSpPr>
          <p:cNvPr id="399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00" name="Text 3"/>
          <p:cNvSpPr txBox="1"/>
          <p:nvPr/>
        </p:nvSpPr>
        <p:spPr>
          <a:xfrm>
            <a:off x="640080" y="1463039"/>
            <a:ext cx="7315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1" name="Text 4"/>
          <p:cNvSpPr txBox="1"/>
          <p:nvPr/>
        </p:nvSpPr>
        <p:spPr>
          <a:xfrm>
            <a:off x="1463039" y="1600200"/>
            <a:ext cx="4572001" cy="53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Cada palavra compara o que procura (query) com o que cada uma das outras oferece (key).</a:t>
            </a:r>
          </a:p>
        </p:txBody>
      </p:sp>
      <p:sp>
        <p:nvSpPr>
          <p:cNvPr id="402" name="Text 5"/>
          <p:cNvSpPr txBox="1"/>
          <p:nvPr/>
        </p:nvSpPr>
        <p:spPr>
          <a:xfrm>
            <a:off x="1463039" y="2834639"/>
            <a:ext cx="45720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Número maior: combinam mais.</a:t>
            </a:r>
          </a:p>
        </p:txBody>
      </p:sp>
      <p:sp>
        <p:nvSpPr>
          <p:cNvPr id="403" name="Shape 6"/>
          <p:cNvSpPr/>
          <p:nvPr/>
        </p:nvSpPr>
        <p:spPr>
          <a:xfrm>
            <a:off x="640079" y="4023359"/>
            <a:ext cx="5394962" cy="74980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4" name="Text 7"/>
          <p:cNvSpPr txBox="1"/>
          <p:nvPr/>
        </p:nvSpPr>
        <p:spPr>
          <a:xfrm>
            <a:off x="914399" y="4206240"/>
            <a:ext cx="4937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scores = Q @ </a:t>
            </a:r>
            <a:r>
              <a:rPr b="1">
                <a:solidFill>
                  <a:srgbClr val="9E2A2B"/>
                </a:solidFill>
              </a:rPr>
              <a:t>K.T</a:t>
            </a:r>
            <a:r>
              <a:t> / np.sqrt(d_k)</a:t>
            </a:r>
          </a:p>
        </p:txBody>
      </p:sp>
      <p:sp>
        <p:nvSpPr>
          <p:cNvPr id="405" name="Text 8"/>
          <p:cNvSpPr txBox="1"/>
          <p:nvPr/>
        </p:nvSpPr>
        <p:spPr>
          <a:xfrm>
            <a:off x="640079" y="4983479"/>
            <a:ext cx="53949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400">
                <a:solidFill>
                  <a:srgbClr val="5F5F5F"/>
                </a:solidFill>
              </a:defRPr>
            </a:lvl1pPr>
          </a:lstStyle>
          <a:p>
            <a:pPr/>
            <a:r>
              <a:t>K.T é a tabela K "deitada" (transposta), para comparar linha com linha.</a:t>
            </a:r>
          </a:p>
        </p:txBody>
      </p:sp>
      <p:sp>
        <p:nvSpPr>
          <p:cNvPr id="406" name="Shape 9"/>
          <p:cNvSpPr/>
          <p:nvPr/>
        </p:nvSpPr>
        <p:spPr>
          <a:xfrm>
            <a:off x="7772399" y="2103120"/>
            <a:ext cx="1051562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7" name="Text 10"/>
          <p:cNvSpPr txBox="1"/>
          <p:nvPr/>
        </p:nvSpPr>
        <p:spPr>
          <a:xfrm>
            <a:off x="7772399" y="2535622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08" name="Shape 11"/>
          <p:cNvSpPr/>
          <p:nvPr/>
        </p:nvSpPr>
        <p:spPr>
          <a:xfrm>
            <a:off x="8823959" y="2103120"/>
            <a:ext cx="1051561" cy="105156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12"/>
          <p:cNvSpPr txBox="1"/>
          <p:nvPr/>
        </p:nvSpPr>
        <p:spPr>
          <a:xfrm>
            <a:off x="8823959" y="253562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0.00</a:t>
            </a:r>
          </a:p>
        </p:txBody>
      </p:sp>
      <p:sp>
        <p:nvSpPr>
          <p:cNvPr id="410" name="Shape 13"/>
          <p:cNvSpPr/>
          <p:nvPr/>
        </p:nvSpPr>
        <p:spPr>
          <a:xfrm>
            <a:off x="9875519" y="2103120"/>
            <a:ext cx="1051561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1" name="Text 14"/>
          <p:cNvSpPr txBox="1"/>
          <p:nvPr/>
        </p:nvSpPr>
        <p:spPr>
          <a:xfrm>
            <a:off x="9875519" y="253562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12" name="Shape 15"/>
          <p:cNvSpPr/>
          <p:nvPr/>
        </p:nvSpPr>
        <p:spPr>
          <a:xfrm>
            <a:off x="7772399" y="3154679"/>
            <a:ext cx="1051562" cy="105156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16"/>
          <p:cNvSpPr txBox="1"/>
          <p:nvPr/>
        </p:nvSpPr>
        <p:spPr>
          <a:xfrm>
            <a:off x="7772399" y="3587181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0.00</a:t>
            </a:r>
          </a:p>
        </p:txBody>
      </p:sp>
      <p:sp>
        <p:nvSpPr>
          <p:cNvPr id="414" name="Shape 17"/>
          <p:cNvSpPr/>
          <p:nvPr/>
        </p:nvSpPr>
        <p:spPr>
          <a:xfrm>
            <a:off x="8823959" y="3154679"/>
            <a:ext cx="1051561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18"/>
          <p:cNvSpPr txBox="1"/>
          <p:nvPr/>
        </p:nvSpPr>
        <p:spPr>
          <a:xfrm>
            <a:off x="8823959" y="3587181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16" name="Shape 19"/>
          <p:cNvSpPr/>
          <p:nvPr/>
        </p:nvSpPr>
        <p:spPr>
          <a:xfrm>
            <a:off x="9875519" y="3154679"/>
            <a:ext cx="1051561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 20"/>
          <p:cNvSpPr txBox="1"/>
          <p:nvPr/>
        </p:nvSpPr>
        <p:spPr>
          <a:xfrm>
            <a:off x="9875519" y="3587181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18" name="Shape 21"/>
          <p:cNvSpPr/>
          <p:nvPr/>
        </p:nvSpPr>
        <p:spPr>
          <a:xfrm>
            <a:off x="7772399" y="4206240"/>
            <a:ext cx="1051562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Text 22"/>
          <p:cNvSpPr txBox="1"/>
          <p:nvPr/>
        </p:nvSpPr>
        <p:spPr>
          <a:xfrm>
            <a:off x="7772399" y="4638742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20" name="Shape 23"/>
          <p:cNvSpPr/>
          <p:nvPr/>
        </p:nvSpPr>
        <p:spPr>
          <a:xfrm>
            <a:off x="8823959" y="4206240"/>
            <a:ext cx="1051561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Text 24"/>
          <p:cNvSpPr txBox="1"/>
          <p:nvPr/>
        </p:nvSpPr>
        <p:spPr>
          <a:xfrm>
            <a:off x="8823959" y="463874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0.71</a:t>
            </a:r>
          </a:p>
        </p:txBody>
      </p:sp>
      <p:sp>
        <p:nvSpPr>
          <p:cNvPr id="422" name="Shape 25"/>
          <p:cNvSpPr/>
          <p:nvPr/>
        </p:nvSpPr>
        <p:spPr>
          <a:xfrm>
            <a:off x="9875519" y="4206240"/>
            <a:ext cx="1051561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26"/>
          <p:cNvSpPr txBox="1"/>
          <p:nvPr/>
        </p:nvSpPr>
        <p:spPr>
          <a:xfrm>
            <a:off x="9875519" y="463874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1.41</a:t>
            </a:r>
          </a:p>
        </p:txBody>
      </p:sp>
      <p:sp>
        <p:nvSpPr>
          <p:cNvPr id="424" name="Text 27"/>
          <p:cNvSpPr txBox="1"/>
          <p:nvPr/>
        </p:nvSpPr>
        <p:spPr>
          <a:xfrm>
            <a:off x="6675119" y="253422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425" name="Text 28"/>
          <p:cNvSpPr txBox="1"/>
          <p:nvPr/>
        </p:nvSpPr>
        <p:spPr>
          <a:xfrm>
            <a:off x="6675119" y="358578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426" name="Text 29"/>
          <p:cNvSpPr txBox="1"/>
          <p:nvPr/>
        </p:nvSpPr>
        <p:spPr>
          <a:xfrm>
            <a:off x="6675119" y="463734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427" name="Text 30"/>
          <p:cNvSpPr txBox="1"/>
          <p:nvPr/>
        </p:nvSpPr>
        <p:spPr>
          <a:xfrm>
            <a:off x="7498080" y="1783079"/>
            <a:ext cx="1600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428" name="Text 31"/>
          <p:cNvSpPr txBox="1"/>
          <p:nvPr/>
        </p:nvSpPr>
        <p:spPr>
          <a:xfrm>
            <a:off x="8549640" y="1783079"/>
            <a:ext cx="1600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429" name="Text 32"/>
          <p:cNvSpPr txBox="1"/>
          <p:nvPr/>
        </p:nvSpPr>
        <p:spPr>
          <a:xfrm>
            <a:off x="9601200" y="1783079"/>
            <a:ext cx="1600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430" name="Text 33"/>
          <p:cNvSpPr txBox="1"/>
          <p:nvPr/>
        </p:nvSpPr>
        <p:spPr>
          <a:xfrm>
            <a:off x="7772399" y="5349240"/>
            <a:ext cx="31546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scores (comparações)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OS TRÊS PASSOS</a:t>
            </a:r>
          </a:p>
        </p:txBody>
      </p:sp>
      <p:sp>
        <p:nvSpPr>
          <p:cNvPr id="433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Passo 2: pesar</a:t>
            </a:r>
          </a:p>
        </p:txBody>
      </p:sp>
      <p:sp>
        <p:nvSpPr>
          <p:cNvPr id="434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35" name="Text 3"/>
          <p:cNvSpPr txBox="1"/>
          <p:nvPr/>
        </p:nvSpPr>
        <p:spPr>
          <a:xfrm>
            <a:off x="640080" y="1463039"/>
            <a:ext cx="7315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6" name="Text 4"/>
          <p:cNvSpPr txBox="1"/>
          <p:nvPr/>
        </p:nvSpPr>
        <p:spPr>
          <a:xfrm>
            <a:off x="1463039" y="1600200"/>
            <a:ext cx="4572001" cy="53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A softmax transforma cada linha em porcentagens que somam 100%.</a:t>
            </a:r>
          </a:p>
        </p:txBody>
      </p:sp>
      <p:sp>
        <p:nvSpPr>
          <p:cNvPr id="437" name="Text 5"/>
          <p:cNvSpPr txBox="1"/>
          <p:nvPr/>
        </p:nvSpPr>
        <p:spPr>
          <a:xfrm>
            <a:off x="1463039" y="2834639"/>
            <a:ext cx="4572001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Quem combina mais leva a maior fatia.</a:t>
            </a:r>
          </a:p>
        </p:txBody>
      </p:sp>
      <p:sp>
        <p:nvSpPr>
          <p:cNvPr id="438" name="Shape 6"/>
          <p:cNvSpPr/>
          <p:nvPr/>
        </p:nvSpPr>
        <p:spPr>
          <a:xfrm>
            <a:off x="640079" y="4023359"/>
            <a:ext cx="5394962" cy="74980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7"/>
          <p:cNvSpPr txBox="1"/>
          <p:nvPr/>
        </p:nvSpPr>
        <p:spPr>
          <a:xfrm>
            <a:off x="914399" y="4206240"/>
            <a:ext cx="4937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pesos = </a:t>
            </a:r>
            <a:r>
              <a:rPr b="1">
                <a:solidFill>
                  <a:srgbClr val="9E2A2B"/>
                </a:solidFill>
              </a:rPr>
              <a:t>softmax</a:t>
            </a:r>
            <a:r>
              <a:t>(scores)</a:t>
            </a:r>
          </a:p>
        </p:txBody>
      </p:sp>
      <p:sp>
        <p:nvSpPr>
          <p:cNvPr id="440" name="Shape 8"/>
          <p:cNvSpPr/>
          <p:nvPr/>
        </p:nvSpPr>
        <p:spPr>
          <a:xfrm>
            <a:off x="7772399" y="2103120"/>
            <a:ext cx="1051562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9"/>
          <p:cNvSpPr txBox="1"/>
          <p:nvPr/>
        </p:nvSpPr>
        <p:spPr>
          <a:xfrm>
            <a:off x="7772399" y="2535622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442" name="Shape 10"/>
          <p:cNvSpPr/>
          <p:nvPr/>
        </p:nvSpPr>
        <p:spPr>
          <a:xfrm>
            <a:off x="8823959" y="2103120"/>
            <a:ext cx="1051561" cy="1051561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Text 11"/>
          <p:cNvSpPr txBox="1"/>
          <p:nvPr/>
        </p:nvSpPr>
        <p:spPr>
          <a:xfrm>
            <a:off x="8823959" y="253562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444" name="Shape 12"/>
          <p:cNvSpPr/>
          <p:nvPr/>
        </p:nvSpPr>
        <p:spPr>
          <a:xfrm>
            <a:off x="9875519" y="2103120"/>
            <a:ext cx="1051561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Text 13"/>
          <p:cNvSpPr txBox="1"/>
          <p:nvPr/>
        </p:nvSpPr>
        <p:spPr>
          <a:xfrm>
            <a:off x="9875519" y="253562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446" name="Shape 14"/>
          <p:cNvSpPr/>
          <p:nvPr/>
        </p:nvSpPr>
        <p:spPr>
          <a:xfrm>
            <a:off x="7772399" y="3154679"/>
            <a:ext cx="1051562" cy="1051561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15"/>
          <p:cNvSpPr txBox="1"/>
          <p:nvPr/>
        </p:nvSpPr>
        <p:spPr>
          <a:xfrm>
            <a:off x="7772399" y="3587181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448" name="Shape 16"/>
          <p:cNvSpPr/>
          <p:nvPr/>
        </p:nvSpPr>
        <p:spPr>
          <a:xfrm>
            <a:off x="8823959" y="3154679"/>
            <a:ext cx="1051561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17"/>
          <p:cNvSpPr txBox="1"/>
          <p:nvPr/>
        </p:nvSpPr>
        <p:spPr>
          <a:xfrm>
            <a:off x="8823959" y="3587181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450" name="Shape 18"/>
          <p:cNvSpPr/>
          <p:nvPr/>
        </p:nvSpPr>
        <p:spPr>
          <a:xfrm>
            <a:off x="9875519" y="3154679"/>
            <a:ext cx="1051561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19"/>
          <p:cNvSpPr txBox="1"/>
          <p:nvPr/>
        </p:nvSpPr>
        <p:spPr>
          <a:xfrm>
            <a:off x="9875519" y="3587181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452" name="Shape 20"/>
          <p:cNvSpPr/>
          <p:nvPr/>
        </p:nvSpPr>
        <p:spPr>
          <a:xfrm>
            <a:off x="7772399" y="4206240"/>
            <a:ext cx="1051562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Text 21"/>
          <p:cNvSpPr txBox="1"/>
          <p:nvPr/>
        </p:nvSpPr>
        <p:spPr>
          <a:xfrm>
            <a:off x="7772399" y="4638742"/>
            <a:ext cx="10515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454" name="Shape 22"/>
          <p:cNvSpPr/>
          <p:nvPr/>
        </p:nvSpPr>
        <p:spPr>
          <a:xfrm>
            <a:off x="8823959" y="4206240"/>
            <a:ext cx="1051561" cy="105156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23"/>
          <p:cNvSpPr txBox="1"/>
          <p:nvPr/>
        </p:nvSpPr>
        <p:spPr>
          <a:xfrm>
            <a:off x="8823959" y="463874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456" name="Shape 24"/>
          <p:cNvSpPr/>
          <p:nvPr/>
        </p:nvSpPr>
        <p:spPr>
          <a:xfrm>
            <a:off x="9875519" y="4206240"/>
            <a:ext cx="1051561" cy="105156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Text 25"/>
          <p:cNvSpPr txBox="1"/>
          <p:nvPr/>
        </p:nvSpPr>
        <p:spPr>
          <a:xfrm>
            <a:off x="9875519" y="4638742"/>
            <a:ext cx="10515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458" name="Text 26"/>
          <p:cNvSpPr txBox="1"/>
          <p:nvPr/>
        </p:nvSpPr>
        <p:spPr>
          <a:xfrm>
            <a:off x="6675119" y="253422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459" name="Text 27"/>
          <p:cNvSpPr txBox="1"/>
          <p:nvPr/>
        </p:nvSpPr>
        <p:spPr>
          <a:xfrm>
            <a:off x="6675119" y="358578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460" name="Text 28"/>
          <p:cNvSpPr txBox="1"/>
          <p:nvPr/>
        </p:nvSpPr>
        <p:spPr>
          <a:xfrm>
            <a:off x="6675119" y="463734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461" name="Text 29"/>
          <p:cNvSpPr txBox="1"/>
          <p:nvPr/>
        </p:nvSpPr>
        <p:spPr>
          <a:xfrm>
            <a:off x="7498080" y="1783079"/>
            <a:ext cx="1600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462" name="Text 30"/>
          <p:cNvSpPr txBox="1"/>
          <p:nvPr/>
        </p:nvSpPr>
        <p:spPr>
          <a:xfrm>
            <a:off x="8549640" y="1783079"/>
            <a:ext cx="1600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463" name="Text 31"/>
          <p:cNvSpPr txBox="1"/>
          <p:nvPr/>
        </p:nvSpPr>
        <p:spPr>
          <a:xfrm>
            <a:off x="9601200" y="1783079"/>
            <a:ext cx="16002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464" name="Text 32"/>
          <p:cNvSpPr txBox="1"/>
          <p:nvPr/>
        </p:nvSpPr>
        <p:spPr>
          <a:xfrm>
            <a:off x="7772399" y="5349240"/>
            <a:ext cx="31546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pesos: cada linha soma 100%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OS TRÊS PASSOS</a:t>
            </a:r>
          </a:p>
        </p:txBody>
      </p:sp>
      <p:sp>
        <p:nvSpPr>
          <p:cNvPr id="467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Passo 3: misturar</a:t>
            </a:r>
          </a:p>
        </p:txBody>
      </p:sp>
      <p:sp>
        <p:nvSpPr>
          <p:cNvPr id="468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69" name="Text 3"/>
          <p:cNvSpPr txBox="1"/>
          <p:nvPr/>
        </p:nvSpPr>
        <p:spPr>
          <a:xfrm>
            <a:off x="640080" y="1463039"/>
            <a:ext cx="73152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70" name="Text 4"/>
          <p:cNvSpPr txBox="1"/>
          <p:nvPr/>
        </p:nvSpPr>
        <p:spPr>
          <a:xfrm>
            <a:off x="1463039" y="1600200"/>
            <a:ext cx="4572001" cy="530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B1B1B"/>
                </a:solidFill>
              </a:defRPr>
            </a:lvl1pPr>
          </a:lstStyle>
          <a:p>
            <a:pPr/>
            <a:r>
              <a:t>Cada palavra recebe uma mistura dos conteúdos (values), com essas porcentagens.</a:t>
            </a:r>
          </a:p>
        </p:txBody>
      </p:sp>
      <p:sp>
        <p:nvSpPr>
          <p:cNvPr id="471" name="Shape 5"/>
          <p:cNvSpPr/>
          <p:nvPr/>
        </p:nvSpPr>
        <p:spPr>
          <a:xfrm>
            <a:off x="640079" y="3108960"/>
            <a:ext cx="5394962" cy="74980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2" name="Text 6"/>
          <p:cNvSpPr txBox="1"/>
          <p:nvPr/>
        </p:nvSpPr>
        <p:spPr>
          <a:xfrm>
            <a:off x="914399" y="3291840"/>
            <a:ext cx="49377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saida = pesos @ </a:t>
            </a:r>
            <a:r>
              <a:rPr b="1">
                <a:solidFill>
                  <a:srgbClr val="9E2A2B"/>
                </a:solidFill>
              </a:rPr>
              <a:t>V</a:t>
            </a:r>
          </a:p>
        </p:txBody>
      </p:sp>
      <p:sp>
        <p:nvSpPr>
          <p:cNvPr id="473" name="Shape 7"/>
          <p:cNvSpPr/>
          <p:nvPr/>
        </p:nvSpPr>
        <p:spPr>
          <a:xfrm>
            <a:off x="640079" y="4160520"/>
            <a:ext cx="5394962" cy="1417321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Text 8"/>
          <p:cNvSpPr txBox="1"/>
          <p:nvPr/>
        </p:nvSpPr>
        <p:spPr>
          <a:xfrm>
            <a:off x="868680" y="4251959"/>
            <a:ext cx="5029201" cy="818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b="1" sz="1600">
                <a:solidFill>
                  <a:srgbClr val="1B1B1B"/>
                </a:solidFill>
              </a:defRPr>
            </a:pPr>
            <a:r>
              <a:t>rei recebe:</a:t>
            </a:r>
          </a:p>
          <a:p>
            <a:pPr>
              <a:spcBef>
                <a:spcPts val="400"/>
              </a:spcBef>
              <a:defRPr sz="1600">
                <a:solidFill>
                  <a:srgbClr val="1B1B1B"/>
                </a:solidFill>
              </a:defRPr>
            </a:pPr>
            <a:r>
              <a:t>40% de rei + 20% de protege + 40% de rainha</a:t>
            </a:r>
          </a:p>
          <a:p>
            <a:pPr>
              <a:spcBef>
                <a:spcPts val="400"/>
              </a:spcBef>
              <a:defRPr b="1" sz="1600">
                <a:solidFill>
                  <a:srgbClr val="9E2A2B"/>
                </a:solidFill>
              </a:defRPr>
            </a:pPr>
            <a:r>
              <a:t>= [6, 4]</a:t>
            </a:r>
          </a:p>
        </p:txBody>
      </p:sp>
      <p:sp>
        <p:nvSpPr>
          <p:cNvPr id="475" name="Shape 9"/>
          <p:cNvSpPr/>
          <p:nvPr/>
        </p:nvSpPr>
        <p:spPr>
          <a:xfrm>
            <a:off x="7223759" y="2103120"/>
            <a:ext cx="777241" cy="77724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6" name="Text 10"/>
          <p:cNvSpPr txBox="1"/>
          <p:nvPr/>
        </p:nvSpPr>
        <p:spPr>
          <a:xfrm>
            <a:off x="7223759" y="2398462"/>
            <a:ext cx="7772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77" name="Shape 11"/>
          <p:cNvSpPr/>
          <p:nvPr/>
        </p:nvSpPr>
        <p:spPr>
          <a:xfrm>
            <a:off x="8000999" y="2103120"/>
            <a:ext cx="777242" cy="77724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8" name="Text 12"/>
          <p:cNvSpPr txBox="1"/>
          <p:nvPr/>
        </p:nvSpPr>
        <p:spPr>
          <a:xfrm>
            <a:off x="8000999" y="2398462"/>
            <a:ext cx="7772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79" name="Shape 13"/>
          <p:cNvSpPr/>
          <p:nvPr/>
        </p:nvSpPr>
        <p:spPr>
          <a:xfrm>
            <a:off x="7223759" y="2880360"/>
            <a:ext cx="777241" cy="77724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14"/>
          <p:cNvSpPr txBox="1"/>
          <p:nvPr/>
        </p:nvSpPr>
        <p:spPr>
          <a:xfrm>
            <a:off x="7223759" y="3175702"/>
            <a:ext cx="7772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481" name="Shape 15"/>
          <p:cNvSpPr/>
          <p:nvPr/>
        </p:nvSpPr>
        <p:spPr>
          <a:xfrm>
            <a:off x="8000999" y="2880360"/>
            <a:ext cx="777242" cy="777241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2" name="Text 16"/>
          <p:cNvSpPr txBox="1"/>
          <p:nvPr/>
        </p:nvSpPr>
        <p:spPr>
          <a:xfrm>
            <a:off x="8000999" y="3175702"/>
            <a:ext cx="7772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83" name="Shape 17"/>
          <p:cNvSpPr/>
          <p:nvPr/>
        </p:nvSpPr>
        <p:spPr>
          <a:xfrm>
            <a:off x="7223759" y="3657599"/>
            <a:ext cx="777241" cy="777242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4" name="Text 18"/>
          <p:cNvSpPr txBox="1"/>
          <p:nvPr/>
        </p:nvSpPr>
        <p:spPr>
          <a:xfrm>
            <a:off x="7223759" y="3952941"/>
            <a:ext cx="77724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85" name="Shape 19"/>
          <p:cNvSpPr/>
          <p:nvPr/>
        </p:nvSpPr>
        <p:spPr>
          <a:xfrm>
            <a:off x="8000999" y="3657599"/>
            <a:ext cx="777242" cy="777242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Text 20"/>
          <p:cNvSpPr txBox="1"/>
          <p:nvPr/>
        </p:nvSpPr>
        <p:spPr>
          <a:xfrm>
            <a:off x="8000999" y="3952941"/>
            <a:ext cx="7772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87" name="Text 21"/>
          <p:cNvSpPr txBox="1"/>
          <p:nvPr/>
        </p:nvSpPr>
        <p:spPr>
          <a:xfrm>
            <a:off x="6126479" y="239706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488" name="Text 22"/>
          <p:cNvSpPr txBox="1"/>
          <p:nvPr/>
        </p:nvSpPr>
        <p:spPr>
          <a:xfrm>
            <a:off x="6126479" y="317430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489" name="Text 23"/>
          <p:cNvSpPr txBox="1"/>
          <p:nvPr/>
        </p:nvSpPr>
        <p:spPr>
          <a:xfrm>
            <a:off x="6126479" y="395154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490" name="Text 26"/>
          <p:cNvSpPr txBox="1"/>
          <p:nvPr/>
        </p:nvSpPr>
        <p:spPr>
          <a:xfrm>
            <a:off x="7223759" y="4526279"/>
            <a:ext cx="1554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V</a:t>
            </a:r>
          </a:p>
        </p:txBody>
      </p:sp>
      <p:sp>
        <p:nvSpPr>
          <p:cNvPr id="491" name="Shape 27"/>
          <p:cNvSpPr/>
          <p:nvPr/>
        </p:nvSpPr>
        <p:spPr>
          <a:xfrm>
            <a:off x="9006840" y="3246120"/>
            <a:ext cx="54864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92" name="Shape 28"/>
          <p:cNvSpPr/>
          <p:nvPr/>
        </p:nvSpPr>
        <p:spPr>
          <a:xfrm>
            <a:off x="10424159" y="2103120"/>
            <a:ext cx="777241" cy="77724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3" name="Text 29"/>
          <p:cNvSpPr txBox="1"/>
          <p:nvPr/>
        </p:nvSpPr>
        <p:spPr>
          <a:xfrm>
            <a:off x="10424159" y="2398462"/>
            <a:ext cx="7772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94" name="Shape 30"/>
          <p:cNvSpPr/>
          <p:nvPr/>
        </p:nvSpPr>
        <p:spPr>
          <a:xfrm>
            <a:off x="11201399" y="2103120"/>
            <a:ext cx="777242" cy="77724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Text 31"/>
          <p:cNvSpPr txBox="1"/>
          <p:nvPr/>
        </p:nvSpPr>
        <p:spPr>
          <a:xfrm>
            <a:off x="11201399" y="2398462"/>
            <a:ext cx="7772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6" name="Shape 32"/>
          <p:cNvSpPr/>
          <p:nvPr/>
        </p:nvSpPr>
        <p:spPr>
          <a:xfrm>
            <a:off x="10424159" y="2880360"/>
            <a:ext cx="777241" cy="777241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7" name="Text 33"/>
          <p:cNvSpPr txBox="1"/>
          <p:nvPr/>
        </p:nvSpPr>
        <p:spPr>
          <a:xfrm>
            <a:off x="10424159" y="3175702"/>
            <a:ext cx="7772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8" name="Shape 34"/>
          <p:cNvSpPr/>
          <p:nvPr/>
        </p:nvSpPr>
        <p:spPr>
          <a:xfrm>
            <a:off x="11201399" y="2880360"/>
            <a:ext cx="777242" cy="777241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35"/>
          <p:cNvSpPr txBox="1"/>
          <p:nvPr/>
        </p:nvSpPr>
        <p:spPr>
          <a:xfrm>
            <a:off x="11201399" y="3175702"/>
            <a:ext cx="7772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00" name="Shape 36"/>
          <p:cNvSpPr/>
          <p:nvPr/>
        </p:nvSpPr>
        <p:spPr>
          <a:xfrm>
            <a:off x="10424159" y="3657599"/>
            <a:ext cx="777241" cy="777242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1" name="Text 37"/>
          <p:cNvSpPr txBox="1"/>
          <p:nvPr/>
        </p:nvSpPr>
        <p:spPr>
          <a:xfrm>
            <a:off x="10424159" y="3952941"/>
            <a:ext cx="77724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02" name="Shape 38"/>
          <p:cNvSpPr/>
          <p:nvPr/>
        </p:nvSpPr>
        <p:spPr>
          <a:xfrm>
            <a:off x="11201399" y="3657599"/>
            <a:ext cx="777242" cy="777242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3" name="Text 39"/>
          <p:cNvSpPr txBox="1"/>
          <p:nvPr/>
        </p:nvSpPr>
        <p:spPr>
          <a:xfrm>
            <a:off x="11201399" y="3952941"/>
            <a:ext cx="7772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04" name="Text 40"/>
          <p:cNvSpPr txBox="1"/>
          <p:nvPr/>
        </p:nvSpPr>
        <p:spPr>
          <a:xfrm>
            <a:off x="9326880" y="239706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505" name="Text 41"/>
          <p:cNvSpPr txBox="1"/>
          <p:nvPr/>
        </p:nvSpPr>
        <p:spPr>
          <a:xfrm>
            <a:off x="9326880" y="317430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506" name="Text 42"/>
          <p:cNvSpPr txBox="1"/>
          <p:nvPr/>
        </p:nvSpPr>
        <p:spPr>
          <a:xfrm>
            <a:off x="9326880" y="395154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507" name="Text 45"/>
          <p:cNvSpPr txBox="1"/>
          <p:nvPr/>
        </p:nvSpPr>
        <p:spPr>
          <a:xfrm>
            <a:off x="10424159" y="4526279"/>
            <a:ext cx="15544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saída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OS TRÊS PASSOS</a:t>
            </a:r>
          </a:p>
        </p:txBody>
      </p:sp>
      <p:sp>
        <p:nvSpPr>
          <p:cNvPr id="510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Os três passos numa linha: a fórmula do artigo</a:t>
            </a:r>
          </a:p>
        </p:txBody>
      </p:sp>
      <p:sp>
        <p:nvSpPr>
          <p:cNvPr id="511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15</a:t>
            </a:r>
          </a:p>
        </p:txBody>
      </p:sp>
      <p:pic>
        <p:nvPicPr>
          <p:cNvPr id="51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11679" y="1508760"/>
            <a:ext cx="8138161" cy="1386701"/>
          </a:xfrm>
          <a:prstGeom prst="rect">
            <a:avLst/>
          </a:prstGeom>
          <a:ln w="12700">
            <a:miter lim="400000"/>
          </a:ln>
        </p:spPr>
      </p:pic>
      <p:sp>
        <p:nvSpPr>
          <p:cNvPr id="513" name="Text 3"/>
          <p:cNvSpPr txBox="1"/>
          <p:nvPr/>
        </p:nvSpPr>
        <p:spPr>
          <a:xfrm>
            <a:off x="640080" y="3520440"/>
            <a:ext cx="54864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4" name="Text 4"/>
          <p:cNvSpPr txBox="1"/>
          <p:nvPr/>
        </p:nvSpPr>
        <p:spPr>
          <a:xfrm>
            <a:off x="1188719" y="3611879"/>
            <a:ext cx="2926082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Comparar</a:t>
            </a:r>
          </a:p>
        </p:txBody>
      </p:sp>
      <p:sp>
        <p:nvSpPr>
          <p:cNvPr id="515" name="Text 5"/>
          <p:cNvSpPr txBox="1"/>
          <p:nvPr/>
        </p:nvSpPr>
        <p:spPr>
          <a:xfrm>
            <a:off x="1188719" y="4069079"/>
            <a:ext cx="29260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Q @ K.T</a:t>
            </a:r>
          </a:p>
        </p:txBody>
      </p:sp>
      <p:sp>
        <p:nvSpPr>
          <p:cNvPr id="516" name="Text 6"/>
          <p:cNvSpPr txBox="1"/>
          <p:nvPr/>
        </p:nvSpPr>
        <p:spPr>
          <a:xfrm>
            <a:off x="4343399" y="3520440"/>
            <a:ext cx="54864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7" name="Text 7"/>
          <p:cNvSpPr txBox="1"/>
          <p:nvPr/>
        </p:nvSpPr>
        <p:spPr>
          <a:xfrm>
            <a:off x="4892040" y="3611879"/>
            <a:ext cx="29260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Pesar</a:t>
            </a:r>
          </a:p>
        </p:txBody>
      </p:sp>
      <p:sp>
        <p:nvSpPr>
          <p:cNvPr id="518" name="Text 8"/>
          <p:cNvSpPr txBox="1"/>
          <p:nvPr/>
        </p:nvSpPr>
        <p:spPr>
          <a:xfrm>
            <a:off x="4892040" y="4069079"/>
            <a:ext cx="29260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softmax</a:t>
            </a:r>
          </a:p>
        </p:txBody>
      </p:sp>
      <p:sp>
        <p:nvSpPr>
          <p:cNvPr id="519" name="Text 9"/>
          <p:cNvSpPr txBox="1"/>
          <p:nvPr/>
        </p:nvSpPr>
        <p:spPr>
          <a:xfrm>
            <a:off x="8046719" y="3520440"/>
            <a:ext cx="54864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0" name="Text 10"/>
          <p:cNvSpPr txBox="1"/>
          <p:nvPr/>
        </p:nvSpPr>
        <p:spPr>
          <a:xfrm>
            <a:off x="8595359" y="3611879"/>
            <a:ext cx="29260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000">
                <a:solidFill>
                  <a:srgbClr val="1B1B1B"/>
                </a:solidFill>
              </a:defRPr>
            </a:lvl1pPr>
          </a:lstStyle>
          <a:p>
            <a:pPr/>
            <a:r>
              <a:t>Misturar</a:t>
            </a:r>
          </a:p>
        </p:txBody>
      </p:sp>
      <p:sp>
        <p:nvSpPr>
          <p:cNvPr id="521" name="Text 11"/>
          <p:cNvSpPr txBox="1"/>
          <p:nvPr/>
        </p:nvSpPr>
        <p:spPr>
          <a:xfrm>
            <a:off x="8595359" y="4069079"/>
            <a:ext cx="29260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@ V</a:t>
            </a:r>
          </a:p>
        </p:txBody>
      </p:sp>
      <p:sp>
        <p:nvSpPr>
          <p:cNvPr id="522" name="Text 12"/>
          <p:cNvSpPr txBox="1"/>
          <p:nvPr/>
        </p:nvSpPr>
        <p:spPr>
          <a:xfrm>
            <a:off x="640079" y="5257799"/>
            <a:ext cx="1078992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Esta linha é o coração do ChatGPT. O resto do Transformer é organização em volta dela.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OS TRÊS PASSOS</a:t>
            </a:r>
          </a:p>
        </p:txBody>
      </p:sp>
      <p:sp>
        <p:nvSpPr>
          <p:cNvPr id="525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Ninguém olha para o futuro</a:t>
            </a:r>
          </a:p>
        </p:txBody>
      </p:sp>
      <p:sp>
        <p:nvSpPr>
          <p:cNvPr id="526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27" name="Shape 3"/>
          <p:cNvSpPr/>
          <p:nvPr/>
        </p:nvSpPr>
        <p:spPr>
          <a:xfrm>
            <a:off x="1920239" y="2011679"/>
            <a:ext cx="621793" cy="621793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8" name="Text 4"/>
          <p:cNvSpPr txBox="1"/>
          <p:nvPr/>
        </p:nvSpPr>
        <p:spPr>
          <a:xfrm>
            <a:off x="1920239" y="2239194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529" name="Shape 5"/>
          <p:cNvSpPr/>
          <p:nvPr/>
        </p:nvSpPr>
        <p:spPr>
          <a:xfrm>
            <a:off x="2542032" y="2011679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6"/>
          <p:cNvSpPr txBox="1"/>
          <p:nvPr/>
        </p:nvSpPr>
        <p:spPr>
          <a:xfrm>
            <a:off x="2542032" y="2239194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1" name="Shape 7"/>
          <p:cNvSpPr/>
          <p:nvPr/>
        </p:nvSpPr>
        <p:spPr>
          <a:xfrm>
            <a:off x="3163823" y="2011679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2" name="Text 8"/>
          <p:cNvSpPr txBox="1"/>
          <p:nvPr/>
        </p:nvSpPr>
        <p:spPr>
          <a:xfrm>
            <a:off x="3163823" y="2239194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3" name="Shape 9"/>
          <p:cNvSpPr/>
          <p:nvPr/>
        </p:nvSpPr>
        <p:spPr>
          <a:xfrm>
            <a:off x="3785615" y="2011679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4" name="Text 10"/>
          <p:cNvSpPr txBox="1"/>
          <p:nvPr/>
        </p:nvSpPr>
        <p:spPr>
          <a:xfrm>
            <a:off x="3785615" y="2239194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5" name="Shape 11"/>
          <p:cNvSpPr/>
          <p:nvPr/>
        </p:nvSpPr>
        <p:spPr>
          <a:xfrm>
            <a:off x="4407408" y="2011679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Text 12"/>
          <p:cNvSpPr txBox="1"/>
          <p:nvPr/>
        </p:nvSpPr>
        <p:spPr>
          <a:xfrm>
            <a:off x="4407408" y="2239194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37" name="Shape 13"/>
          <p:cNvSpPr/>
          <p:nvPr/>
        </p:nvSpPr>
        <p:spPr>
          <a:xfrm>
            <a:off x="1920239" y="2633472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8" name="Text 14"/>
          <p:cNvSpPr txBox="1"/>
          <p:nvPr/>
        </p:nvSpPr>
        <p:spPr>
          <a:xfrm>
            <a:off x="1920239" y="2860987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14%</a:t>
            </a:r>
          </a:p>
        </p:txBody>
      </p:sp>
      <p:sp>
        <p:nvSpPr>
          <p:cNvPr id="539" name="Shape 15"/>
          <p:cNvSpPr/>
          <p:nvPr/>
        </p:nvSpPr>
        <p:spPr>
          <a:xfrm>
            <a:off x="2542032" y="2633472"/>
            <a:ext cx="621793" cy="621793"/>
          </a:xfrm>
          <a:prstGeom prst="rect">
            <a:avLst/>
          </a:prstGeom>
          <a:solidFill>
            <a:srgbClr val="2F5D8A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ext 16"/>
          <p:cNvSpPr txBox="1"/>
          <p:nvPr/>
        </p:nvSpPr>
        <p:spPr>
          <a:xfrm>
            <a:off x="2542032" y="2860987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86%</a:t>
            </a:r>
          </a:p>
        </p:txBody>
      </p:sp>
      <p:sp>
        <p:nvSpPr>
          <p:cNvPr id="541" name="Shape 17"/>
          <p:cNvSpPr/>
          <p:nvPr/>
        </p:nvSpPr>
        <p:spPr>
          <a:xfrm>
            <a:off x="3163823" y="2633472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Text 18"/>
          <p:cNvSpPr txBox="1"/>
          <p:nvPr/>
        </p:nvSpPr>
        <p:spPr>
          <a:xfrm>
            <a:off x="3163823" y="2860987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43" name="Shape 19"/>
          <p:cNvSpPr/>
          <p:nvPr/>
        </p:nvSpPr>
        <p:spPr>
          <a:xfrm>
            <a:off x="3785615" y="2633472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Text 20"/>
          <p:cNvSpPr txBox="1"/>
          <p:nvPr/>
        </p:nvSpPr>
        <p:spPr>
          <a:xfrm>
            <a:off x="3785615" y="2860987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45" name="Shape 21"/>
          <p:cNvSpPr/>
          <p:nvPr/>
        </p:nvSpPr>
        <p:spPr>
          <a:xfrm>
            <a:off x="4407408" y="2633472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Text 22"/>
          <p:cNvSpPr txBox="1"/>
          <p:nvPr/>
        </p:nvSpPr>
        <p:spPr>
          <a:xfrm>
            <a:off x="4407408" y="2860987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47" name="Shape 23"/>
          <p:cNvSpPr/>
          <p:nvPr/>
        </p:nvSpPr>
        <p:spPr>
          <a:xfrm>
            <a:off x="1920239" y="3255264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8" name="Text 24"/>
          <p:cNvSpPr txBox="1"/>
          <p:nvPr/>
        </p:nvSpPr>
        <p:spPr>
          <a:xfrm>
            <a:off x="1920239" y="3482779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24%</a:t>
            </a:r>
          </a:p>
        </p:txBody>
      </p:sp>
      <p:sp>
        <p:nvSpPr>
          <p:cNvPr id="549" name="Shape 25"/>
          <p:cNvSpPr/>
          <p:nvPr/>
        </p:nvSpPr>
        <p:spPr>
          <a:xfrm>
            <a:off x="2542032" y="3255264"/>
            <a:ext cx="621793" cy="621793"/>
          </a:xfrm>
          <a:prstGeom prst="rect">
            <a:avLst/>
          </a:prstGeom>
          <a:solidFill>
            <a:srgbClr val="7FA0C4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0" name="Text 26"/>
          <p:cNvSpPr txBox="1"/>
          <p:nvPr/>
        </p:nvSpPr>
        <p:spPr>
          <a:xfrm>
            <a:off x="2542032" y="3482779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551" name="Shape 27"/>
          <p:cNvSpPr/>
          <p:nvPr/>
        </p:nvSpPr>
        <p:spPr>
          <a:xfrm>
            <a:off x="3163823" y="3255264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2" name="Text 28"/>
          <p:cNvSpPr txBox="1"/>
          <p:nvPr/>
        </p:nvSpPr>
        <p:spPr>
          <a:xfrm>
            <a:off x="3163823" y="3482779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16%</a:t>
            </a:r>
          </a:p>
        </p:txBody>
      </p:sp>
      <p:sp>
        <p:nvSpPr>
          <p:cNvPr id="553" name="Shape 29"/>
          <p:cNvSpPr/>
          <p:nvPr/>
        </p:nvSpPr>
        <p:spPr>
          <a:xfrm>
            <a:off x="3785615" y="3255264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4" name="Text 30"/>
          <p:cNvSpPr txBox="1"/>
          <p:nvPr/>
        </p:nvSpPr>
        <p:spPr>
          <a:xfrm>
            <a:off x="3785615" y="3482779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55" name="Shape 31"/>
          <p:cNvSpPr/>
          <p:nvPr/>
        </p:nvSpPr>
        <p:spPr>
          <a:xfrm>
            <a:off x="4407408" y="3255264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6" name="Text 32"/>
          <p:cNvSpPr txBox="1"/>
          <p:nvPr/>
        </p:nvSpPr>
        <p:spPr>
          <a:xfrm>
            <a:off x="4407408" y="3482779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57" name="Shape 33"/>
          <p:cNvSpPr/>
          <p:nvPr/>
        </p:nvSpPr>
        <p:spPr>
          <a:xfrm>
            <a:off x="1920239" y="3877055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8" name="Text 34"/>
          <p:cNvSpPr txBox="1"/>
          <p:nvPr/>
        </p:nvSpPr>
        <p:spPr>
          <a:xfrm>
            <a:off x="1920239" y="4104571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13%</a:t>
            </a:r>
          </a:p>
        </p:txBody>
      </p:sp>
      <p:sp>
        <p:nvSpPr>
          <p:cNvPr id="559" name="Shape 35"/>
          <p:cNvSpPr/>
          <p:nvPr/>
        </p:nvSpPr>
        <p:spPr>
          <a:xfrm>
            <a:off x="2542032" y="3877055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0" name="Text 36"/>
          <p:cNvSpPr txBox="1"/>
          <p:nvPr/>
        </p:nvSpPr>
        <p:spPr>
          <a:xfrm>
            <a:off x="2542032" y="4104571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22%</a:t>
            </a:r>
          </a:p>
        </p:txBody>
      </p:sp>
      <p:sp>
        <p:nvSpPr>
          <p:cNvPr id="561" name="Shape 37"/>
          <p:cNvSpPr/>
          <p:nvPr/>
        </p:nvSpPr>
        <p:spPr>
          <a:xfrm>
            <a:off x="3163823" y="3877055"/>
            <a:ext cx="621793" cy="621793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2" name="Text 38"/>
          <p:cNvSpPr txBox="1"/>
          <p:nvPr/>
        </p:nvSpPr>
        <p:spPr>
          <a:xfrm>
            <a:off x="3163823" y="4104571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29%</a:t>
            </a:r>
          </a:p>
        </p:txBody>
      </p:sp>
      <p:sp>
        <p:nvSpPr>
          <p:cNvPr id="563" name="Shape 39"/>
          <p:cNvSpPr/>
          <p:nvPr/>
        </p:nvSpPr>
        <p:spPr>
          <a:xfrm>
            <a:off x="3785615" y="3877055"/>
            <a:ext cx="621793" cy="621793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40"/>
          <p:cNvSpPr txBox="1"/>
          <p:nvPr/>
        </p:nvSpPr>
        <p:spPr>
          <a:xfrm>
            <a:off x="3785615" y="4104571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36%</a:t>
            </a:r>
          </a:p>
        </p:txBody>
      </p:sp>
      <p:sp>
        <p:nvSpPr>
          <p:cNvPr id="565" name="Shape 41"/>
          <p:cNvSpPr/>
          <p:nvPr/>
        </p:nvSpPr>
        <p:spPr>
          <a:xfrm>
            <a:off x="4407408" y="3877055"/>
            <a:ext cx="621793" cy="621793"/>
          </a:xfrm>
          <a:prstGeom prst="rect">
            <a:avLst/>
          </a:prstGeom>
          <a:solidFill>
            <a:srgbClr val="FFFFFF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6" name="Text 42"/>
          <p:cNvSpPr txBox="1"/>
          <p:nvPr/>
        </p:nvSpPr>
        <p:spPr>
          <a:xfrm>
            <a:off x="4407408" y="4104571"/>
            <a:ext cx="621793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67" name="Shape 43"/>
          <p:cNvSpPr/>
          <p:nvPr/>
        </p:nvSpPr>
        <p:spPr>
          <a:xfrm>
            <a:off x="1920239" y="4498847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Text 44"/>
          <p:cNvSpPr txBox="1"/>
          <p:nvPr/>
        </p:nvSpPr>
        <p:spPr>
          <a:xfrm>
            <a:off x="1920239" y="4726362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8%</a:t>
            </a:r>
          </a:p>
        </p:txBody>
      </p:sp>
      <p:sp>
        <p:nvSpPr>
          <p:cNvPr id="569" name="Shape 45"/>
          <p:cNvSpPr/>
          <p:nvPr/>
        </p:nvSpPr>
        <p:spPr>
          <a:xfrm>
            <a:off x="2542032" y="4498847"/>
            <a:ext cx="621793" cy="621793"/>
          </a:xfrm>
          <a:prstGeom prst="rect">
            <a:avLst/>
          </a:prstGeom>
          <a:solidFill>
            <a:srgbClr val="BFD0E3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0" name="Text 46"/>
          <p:cNvSpPr txBox="1"/>
          <p:nvPr/>
        </p:nvSpPr>
        <p:spPr>
          <a:xfrm>
            <a:off x="2542032" y="4726362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44%</a:t>
            </a:r>
          </a:p>
        </p:txBody>
      </p:sp>
      <p:sp>
        <p:nvSpPr>
          <p:cNvPr id="571" name="Shape 47"/>
          <p:cNvSpPr/>
          <p:nvPr/>
        </p:nvSpPr>
        <p:spPr>
          <a:xfrm>
            <a:off x="3163823" y="4498847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Text 48"/>
          <p:cNvSpPr txBox="1"/>
          <p:nvPr/>
        </p:nvSpPr>
        <p:spPr>
          <a:xfrm>
            <a:off x="3163823" y="4726362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24%</a:t>
            </a:r>
          </a:p>
        </p:txBody>
      </p:sp>
      <p:sp>
        <p:nvSpPr>
          <p:cNvPr id="573" name="Shape 49"/>
          <p:cNvSpPr/>
          <p:nvPr/>
        </p:nvSpPr>
        <p:spPr>
          <a:xfrm>
            <a:off x="3785615" y="4498847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4" name="Text 50"/>
          <p:cNvSpPr txBox="1"/>
          <p:nvPr/>
        </p:nvSpPr>
        <p:spPr>
          <a:xfrm>
            <a:off x="3785615" y="4726362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11%</a:t>
            </a:r>
          </a:p>
        </p:txBody>
      </p:sp>
      <p:sp>
        <p:nvSpPr>
          <p:cNvPr id="575" name="Shape 51"/>
          <p:cNvSpPr/>
          <p:nvPr/>
        </p:nvSpPr>
        <p:spPr>
          <a:xfrm>
            <a:off x="4407408" y="4498847"/>
            <a:ext cx="621793" cy="621793"/>
          </a:xfrm>
          <a:prstGeom prst="rect">
            <a:avLst/>
          </a:prstGeom>
          <a:solidFill>
            <a:srgbClr val="E8EEF5"/>
          </a:solidFill>
          <a:ln>
            <a:solidFill>
              <a:srgbClr val="C9C9C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Text 52"/>
          <p:cNvSpPr txBox="1"/>
          <p:nvPr/>
        </p:nvSpPr>
        <p:spPr>
          <a:xfrm>
            <a:off x="4407408" y="4726362"/>
            <a:ext cx="621793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1B1B1B"/>
                </a:solidFill>
              </a:defRPr>
            </a:lvl1pPr>
          </a:lstStyle>
          <a:p>
            <a:pPr/>
            <a:r>
              <a:t>13%</a:t>
            </a:r>
          </a:p>
        </p:txBody>
      </p:sp>
      <p:sp>
        <p:nvSpPr>
          <p:cNvPr id="577" name="Text 53"/>
          <p:cNvSpPr txBox="1"/>
          <p:nvPr/>
        </p:nvSpPr>
        <p:spPr>
          <a:xfrm>
            <a:off x="822960" y="2227896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578" name="Text 54"/>
          <p:cNvSpPr txBox="1"/>
          <p:nvPr/>
        </p:nvSpPr>
        <p:spPr>
          <a:xfrm>
            <a:off x="822960" y="2849688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579" name="Text 55"/>
          <p:cNvSpPr txBox="1"/>
          <p:nvPr/>
        </p:nvSpPr>
        <p:spPr>
          <a:xfrm>
            <a:off x="822960" y="3471480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580" name="Text 56"/>
          <p:cNvSpPr txBox="1"/>
          <p:nvPr/>
        </p:nvSpPr>
        <p:spPr>
          <a:xfrm>
            <a:off x="822960" y="4093272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81" name="Text 57"/>
          <p:cNvSpPr txBox="1"/>
          <p:nvPr/>
        </p:nvSpPr>
        <p:spPr>
          <a:xfrm>
            <a:off x="822960" y="4715064"/>
            <a:ext cx="10058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582" name="Text 58"/>
          <p:cNvSpPr txBox="1"/>
          <p:nvPr/>
        </p:nvSpPr>
        <p:spPr>
          <a:xfrm>
            <a:off x="1645920" y="1691639"/>
            <a:ext cx="11704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o</a:t>
            </a:r>
          </a:p>
        </p:txBody>
      </p:sp>
      <p:sp>
        <p:nvSpPr>
          <p:cNvPr id="583" name="Text 59"/>
          <p:cNvSpPr txBox="1"/>
          <p:nvPr/>
        </p:nvSpPr>
        <p:spPr>
          <a:xfrm>
            <a:off x="2267711" y="1691639"/>
            <a:ext cx="11704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rei</a:t>
            </a:r>
          </a:p>
        </p:txBody>
      </p:sp>
      <p:sp>
        <p:nvSpPr>
          <p:cNvPr id="584" name="Text 60"/>
          <p:cNvSpPr txBox="1"/>
          <p:nvPr/>
        </p:nvSpPr>
        <p:spPr>
          <a:xfrm>
            <a:off x="2889504" y="1691639"/>
            <a:ext cx="11704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protege</a:t>
            </a:r>
          </a:p>
        </p:txBody>
      </p:sp>
      <p:sp>
        <p:nvSpPr>
          <p:cNvPr id="585" name="Text 61"/>
          <p:cNvSpPr txBox="1"/>
          <p:nvPr/>
        </p:nvSpPr>
        <p:spPr>
          <a:xfrm>
            <a:off x="3511296" y="1691639"/>
            <a:ext cx="11704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586" name="Text 62"/>
          <p:cNvSpPr txBox="1"/>
          <p:nvPr/>
        </p:nvSpPr>
        <p:spPr>
          <a:xfrm>
            <a:off x="4133088" y="1691639"/>
            <a:ext cx="1170433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rainha</a:t>
            </a:r>
          </a:p>
        </p:txBody>
      </p:sp>
      <p:sp>
        <p:nvSpPr>
          <p:cNvPr id="587" name="Text 63"/>
          <p:cNvSpPr txBox="1"/>
          <p:nvPr/>
        </p:nvSpPr>
        <p:spPr>
          <a:xfrm>
            <a:off x="1920239" y="5212079"/>
            <a:ext cx="3108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pesos de atenção com a máscara</a:t>
            </a:r>
          </a:p>
        </p:txBody>
      </p:sp>
      <p:sp>
        <p:nvSpPr>
          <p:cNvPr id="588" name="Text 64"/>
          <p:cNvSpPr txBox="1"/>
          <p:nvPr/>
        </p:nvSpPr>
        <p:spPr>
          <a:xfrm>
            <a:off x="6035040" y="2011679"/>
            <a:ext cx="548640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Cada palavra só olha para ela mesma e para as anteriores. Acima da diagonal, o peso é zero.</a:t>
            </a:r>
          </a:p>
        </p:txBody>
      </p:sp>
      <p:sp>
        <p:nvSpPr>
          <p:cNvPr id="589" name="Text 65"/>
          <p:cNvSpPr txBox="1"/>
          <p:nvPr/>
        </p:nvSpPr>
        <p:spPr>
          <a:xfrm>
            <a:off x="6035040" y="3246120"/>
            <a:ext cx="5486401" cy="48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5F5F5F"/>
                </a:solidFill>
              </a:defRPr>
            </a:lvl1pPr>
          </a:lstStyle>
          <a:p>
            <a:pPr/>
            <a:r>
              <a:t>Por quê? Na hora de escrever uma palavra, as seguintes ainda não existem.</a:t>
            </a:r>
          </a:p>
        </p:txBody>
      </p:sp>
      <p:sp>
        <p:nvSpPr>
          <p:cNvPr id="590" name="Shape 66"/>
          <p:cNvSpPr/>
          <p:nvPr/>
        </p:nvSpPr>
        <p:spPr>
          <a:xfrm>
            <a:off x="6035040" y="4251959"/>
            <a:ext cx="5486401" cy="74980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1" name="Text 67"/>
          <p:cNvSpPr txBox="1"/>
          <p:nvPr/>
        </p:nvSpPr>
        <p:spPr>
          <a:xfrm>
            <a:off x="6309359" y="4434840"/>
            <a:ext cx="50292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6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np.tril(</a:t>
            </a:r>
            <a:r>
              <a:rPr b="1">
                <a:solidFill>
                  <a:srgbClr val="9E2A2B"/>
                </a:solidFill>
              </a:rPr>
              <a:t>np.ones((T, T))</a:t>
            </a:r>
            <a:r>
              <a:t>)</a:t>
            </a:r>
          </a:p>
        </p:txBody>
      </p:sp>
      <p:sp>
        <p:nvSpPr>
          <p:cNvPr id="592" name="Text 68"/>
          <p:cNvSpPr txBox="1"/>
          <p:nvPr/>
        </p:nvSpPr>
        <p:spPr>
          <a:xfrm>
            <a:off x="6035040" y="5212079"/>
            <a:ext cx="54864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400">
                <a:solidFill>
                  <a:srgbClr val="5F5F5F"/>
                </a:solidFill>
              </a:defRPr>
            </a:lvl1pPr>
          </a:lstStyle>
          <a:p>
            <a:pPr/>
            <a:r>
              <a:t>tril = triângulo de baixo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PRÁTICA</a:t>
            </a:r>
          </a:p>
        </p:txBody>
      </p:sp>
      <p:sp>
        <p:nvSpPr>
          <p:cNvPr id="595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Parte 1 no notebook: a atenção</a:t>
            </a:r>
          </a:p>
        </p:txBody>
      </p:sp>
      <p:sp>
        <p:nvSpPr>
          <p:cNvPr id="596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97" name="Text 3"/>
          <p:cNvSpPr txBox="1"/>
          <p:nvPr/>
        </p:nvSpPr>
        <p:spPr>
          <a:xfrm>
            <a:off x="640080" y="160020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5F5F5F"/>
                </a:solidFill>
              </a:defRPr>
            </a:lvl1pPr>
          </a:lstStyle>
          <a:p>
            <a:pPr/>
            <a:r>
              <a:t>Seção 1.1</a:t>
            </a:r>
          </a:p>
        </p:txBody>
      </p:sp>
      <p:sp>
        <p:nvSpPr>
          <p:cNvPr id="598" name="Text 4"/>
          <p:cNvSpPr txBox="1"/>
          <p:nvPr/>
        </p:nvSpPr>
        <p:spPr>
          <a:xfrm>
            <a:off x="2743200" y="160020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o exemplo das três palavras</a:t>
            </a:r>
          </a:p>
        </p:txBody>
      </p:sp>
      <p:sp>
        <p:nvSpPr>
          <p:cNvPr id="599" name="Text 5"/>
          <p:cNvSpPr txBox="1"/>
          <p:nvPr/>
        </p:nvSpPr>
        <p:spPr>
          <a:xfrm>
            <a:off x="640080" y="2240279"/>
            <a:ext cx="201167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Exercício 1</a:t>
            </a:r>
          </a:p>
        </p:txBody>
      </p:sp>
      <p:sp>
        <p:nvSpPr>
          <p:cNvPr id="600" name="Text 6"/>
          <p:cNvSpPr txBox="1"/>
          <p:nvPr/>
        </p:nvSpPr>
        <p:spPr>
          <a:xfrm>
            <a:off x="2743200" y="2240279"/>
            <a:ext cx="3840480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os três passos: comparar, pesar, misturar</a:t>
            </a:r>
          </a:p>
        </p:txBody>
      </p:sp>
      <p:sp>
        <p:nvSpPr>
          <p:cNvPr id="601" name="Text 7"/>
          <p:cNvSpPr txBox="1"/>
          <p:nvPr/>
        </p:nvSpPr>
        <p:spPr>
          <a:xfrm>
            <a:off x="640080" y="288036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5F5F5F"/>
                </a:solidFill>
              </a:defRPr>
            </a:lvl1pPr>
          </a:lstStyle>
          <a:p>
            <a:pPr/>
            <a:r>
              <a:t>Experimente</a:t>
            </a:r>
          </a:p>
        </p:txBody>
      </p:sp>
      <p:sp>
        <p:nvSpPr>
          <p:cNvPr id="602" name="Text 8"/>
          <p:cNvSpPr txBox="1"/>
          <p:nvPr/>
        </p:nvSpPr>
        <p:spPr>
          <a:xfrm>
            <a:off x="2743200" y="288036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o dicionário de peças de xadrez</a:t>
            </a:r>
          </a:p>
        </p:txBody>
      </p:sp>
      <p:sp>
        <p:nvSpPr>
          <p:cNvPr id="603" name="Text 9"/>
          <p:cNvSpPr txBox="1"/>
          <p:nvPr/>
        </p:nvSpPr>
        <p:spPr>
          <a:xfrm>
            <a:off x="640080" y="352044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Exercício 2</a:t>
            </a:r>
          </a:p>
        </p:txBody>
      </p:sp>
      <p:sp>
        <p:nvSpPr>
          <p:cNvPr id="604" name="Text 10"/>
          <p:cNvSpPr txBox="1"/>
          <p:nvPr/>
        </p:nvSpPr>
        <p:spPr>
          <a:xfrm>
            <a:off x="2743200" y="352044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a máscara causal</a:t>
            </a:r>
          </a:p>
        </p:txBody>
      </p:sp>
      <p:sp>
        <p:nvSpPr>
          <p:cNvPr id="605" name="Shape 11"/>
          <p:cNvSpPr/>
          <p:nvPr/>
        </p:nvSpPr>
        <p:spPr>
          <a:xfrm>
            <a:off x="6400799" y="1554480"/>
            <a:ext cx="5166362" cy="228600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6" name="Text 12"/>
          <p:cNvSpPr txBox="1"/>
          <p:nvPr/>
        </p:nvSpPr>
        <p:spPr>
          <a:xfrm>
            <a:off x="6675119" y="1737360"/>
            <a:ext cx="4709161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scores = Q @ 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rPr>
                <a:solidFill>
                  <a:srgbClr val="9A9A9A"/>
                </a:solidFill>
              </a:rPr>
              <a:t>  # troque por K.T</a:t>
            </a:r>
          </a:p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pesos = 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rPr>
                <a:solidFill>
                  <a:srgbClr val="9A9A9A"/>
                </a:solidFill>
              </a:rPr>
              <a:t>(scores)  # troque por softmax</a:t>
            </a:r>
          </a:p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saida = pesos @ 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rPr>
                <a:solidFill>
                  <a:srgbClr val="9A9A9A"/>
                </a:solidFill>
              </a:rPr>
              <a:t>  # troque por V</a:t>
            </a:r>
          </a:p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 np.tril(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t>)</a:t>
            </a:r>
          </a:p>
          <a:p>
            <a:pPr>
              <a:spcBef>
                <a:spcPts val="400"/>
              </a:spcBef>
              <a:defRPr sz="1400">
                <a:solidFill>
                  <a:srgbClr val="9A9A9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troque por np.ones((T, T))</a:t>
            </a:r>
          </a:p>
        </p:txBody>
      </p:sp>
      <p:sp>
        <p:nvSpPr>
          <p:cNvPr id="607" name="Shape 13"/>
          <p:cNvSpPr/>
          <p:nvPr/>
        </p:nvSpPr>
        <p:spPr>
          <a:xfrm>
            <a:off x="640079" y="5120640"/>
            <a:ext cx="10911537" cy="91440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Text 14"/>
          <p:cNvSpPr txBox="1"/>
          <p:nvPr/>
        </p:nvSpPr>
        <p:spPr>
          <a:xfrm>
            <a:off x="914399" y="5457016"/>
            <a:ext cx="103628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Troque cada ___ pela resposta do comentário e aperte Shift + Enter. A célula diz se está correto.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O TRANSFORMER</a:t>
            </a:r>
          </a:p>
        </p:txBody>
      </p:sp>
      <p:sp>
        <p:nvSpPr>
          <p:cNvPr id="611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Transformer em uma imagem</a:t>
            </a:r>
          </a:p>
        </p:txBody>
      </p:sp>
      <p:sp>
        <p:nvSpPr>
          <p:cNvPr id="612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613" name="Shape 3"/>
          <p:cNvSpPr/>
          <p:nvPr/>
        </p:nvSpPr>
        <p:spPr>
          <a:xfrm>
            <a:off x="640080" y="2148839"/>
            <a:ext cx="1600201" cy="12344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Text 4"/>
          <p:cNvSpPr txBox="1"/>
          <p:nvPr/>
        </p:nvSpPr>
        <p:spPr>
          <a:xfrm>
            <a:off x="640080" y="2672781"/>
            <a:ext cx="1600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caracteres</a:t>
            </a:r>
          </a:p>
        </p:txBody>
      </p:sp>
      <p:sp>
        <p:nvSpPr>
          <p:cNvPr id="615" name="Shape 5"/>
          <p:cNvSpPr/>
          <p:nvPr/>
        </p:nvSpPr>
        <p:spPr>
          <a:xfrm>
            <a:off x="2285999" y="2766060"/>
            <a:ext cx="4114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Shape 6"/>
          <p:cNvSpPr/>
          <p:nvPr/>
        </p:nvSpPr>
        <p:spPr>
          <a:xfrm>
            <a:off x="2743200" y="2148839"/>
            <a:ext cx="1691640" cy="12344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7" name="Text 7"/>
          <p:cNvSpPr txBox="1"/>
          <p:nvPr/>
        </p:nvSpPr>
        <p:spPr>
          <a:xfrm>
            <a:off x="2743200" y="2558481"/>
            <a:ext cx="169164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1B1B1B"/>
                </a:solidFill>
              </a:defRPr>
            </a:pPr>
            <a:r>
              <a:t>vetores</a:t>
            </a:r>
          </a:p>
          <a:p>
            <a:pPr algn="ctr">
              <a:defRPr sz="1500">
                <a:solidFill>
                  <a:srgbClr val="1B1B1B"/>
                </a:solidFill>
              </a:defRPr>
            </a:pPr>
            <a:r>
              <a:t>+ posição</a:t>
            </a:r>
          </a:p>
        </p:txBody>
      </p:sp>
      <p:sp>
        <p:nvSpPr>
          <p:cNvPr id="618" name="Shape 8"/>
          <p:cNvSpPr/>
          <p:nvPr/>
        </p:nvSpPr>
        <p:spPr>
          <a:xfrm>
            <a:off x="4480559" y="2766060"/>
            <a:ext cx="4114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19" name="Shape 9"/>
          <p:cNvSpPr/>
          <p:nvPr/>
        </p:nvSpPr>
        <p:spPr>
          <a:xfrm>
            <a:off x="4937759" y="1737360"/>
            <a:ext cx="3931921" cy="2057401"/>
          </a:xfrm>
          <a:prstGeom prst="rect">
            <a:avLst/>
          </a:prstGeom>
          <a:solidFill>
            <a:srgbClr val="F3F4F6"/>
          </a:solidFill>
          <a:ln w="15875">
            <a:solidFill>
              <a:srgbClr val="2F5D8A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620" name="Text 10"/>
          <p:cNvSpPr txBox="1"/>
          <p:nvPr/>
        </p:nvSpPr>
        <p:spPr>
          <a:xfrm>
            <a:off x="4937759" y="1344167"/>
            <a:ext cx="3931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2F5D8A"/>
                </a:solidFill>
              </a:defRPr>
            </a:lvl1pPr>
          </a:lstStyle>
          <a:p>
            <a:pPr/>
            <a:r>
              <a:t>um bloco, repetido várias vezes</a:t>
            </a:r>
          </a:p>
        </p:txBody>
      </p:sp>
      <p:sp>
        <p:nvSpPr>
          <p:cNvPr id="621" name="Shape 11"/>
          <p:cNvSpPr/>
          <p:nvPr/>
        </p:nvSpPr>
        <p:spPr>
          <a:xfrm>
            <a:off x="5166359" y="2148839"/>
            <a:ext cx="1600201" cy="1234441"/>
          </a:xfrm>
          <a:prstGeom prst="rect">
            <a:avLst/>
          </a:prstGeom>
          <a:solidFill>
            <a:srgbClr val="E8EEF5"/>
          </a:solidFill>
          <a:ln w="12700">
            <a:solidFill>
              <a:srgbClr val="2F5D8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2" name="Text 12"/>
          <p:cNvSpPr txBox="1"/>
          <p:nvPr/>
        </p:nvSpPr>
        <p:spPr>
          <a:xfrm>
            <a:off x="5166359" y="2661483"/>
            <a:ext cx="16002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B1B1B"/>
                </a:solidFill>
              </a:defRPr>
            </a:lvl1pPr>
          </a:lstStyle>
          <a:p>
            <a:pPr/>
            <a:r>
              <a:t>atenção</a:t>
            </a:r>
          </a:p>
        </p:txBody>
      </p:sp>
      <p:sp>
        <p:nvSpPr>
          <p:cNvPr id="623" name="Shape 13"/>
          <p:cNvSpPr/>
          <p:nvPr/>
        </p:nvSpPr>
        <p:spPr>
          <a:xfrm>
            <a:off x="6812280" y="2766060"/>
            <a:ext cx="1828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Shape 14"/>
          <p:cNvSpPr/>
          <p:nvPr/>
        </p:nvSpPr>
        <p:spPr>
          <a:xfrm>
            <a:off x="7040880" y="2148839"/>
            <a:ext cx="1600201" cy="1234441"/>
          </a:xfrm>
          <a:prstGeom prst="rect">
            <a:avLst/>
          </a:prstGeom>
          <a:solidFill>
            <a:srgbClr val="FFFFFF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5" name="Text 15"/>
          <p:cNvSpPr txBox="1"/>
          <p:nvPr/>
        </p:nvSpPr>
        <p:spPr>
          <a:xfrm>
            <a:off x="7040880" y="2534483"/>
            <a:ext cx="1600201" cy="46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600">
                <a:solidFill>
                  <a:srgbClr val="1B1B1B"/>
                </a:solidFill>
              </a:defRPr>
            </a:pPr>
            <a:r>
              <a:t>feed-</a:t>
            </a:r>
          </a:p>
          <a:p>
            <a:pPr algn="ctr">
              <a:defRPr sz="1600">
                <a:solidFill>
                  <a:srgbClr val="1B1B1B"/>
                </a:solidFill>
              </a:defRPr>
            </a:pPr>
            <a:r>
              <a:t>forward</a:t>
            </a:r>
          </a:p>
        </p:txBody>
      </p:sp>
      <p:sp>
        <p:nvSpPr>
          <p:cNvPr id="626" name="Shape 16"/>
          <p:cNvSpPr/>
          <p:nvPr/>
        </p:nvSpPr>
        <p:spPr>
          <a:xfrm>
            <a:off x="8915399" y="2766060"/>
            <a:ext cx="411481" cy="1"/>
          </a:xfrm>
          <a:prstGeom prst="line">
            <a:avLst/>
          </a:prstGeom>
          <a:ln w="15875">
            <a:solidFill>
              <a:srgbClr val="1B1B1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627" name="Shape 17"/>
          <p:cNvSpPr/>
          <p:nvPr/>
        </p:nvSpPr>
        <p:spPr>
          <a:xfrm>
            <a:off x="9372600" y="2148839"/>
            <a:ext cx="2148840" cy="1234441"/>
          </a:xfrm>
          <a:prstGeom prst="rect">
            <a:avLst/>
          </a:prstGeom>
          <a:solidFill>
            <a:srgbClr val="F3F4F6"/>
          </a:solidFill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8" name="Text 18"/>
          <p:cNvSpPr txBox="1"/>
          <p:nvPr/>
        </p:nvSpPr>
        <p:spPr>
          <a:xfrm>
            <a:off x="9372600" y="2558481"/>
            <a:ext cx="214884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1B1B1B"/>
                </a:solidFill>
              </a:defRPr>
            </a:pPr>
            <a:r>
              <a:t>chance de cada</a:t>
            </a:r>
          </a:p>
          <a:p>
            <a:pPr algn="ctr">
              <a:defRPr sz="1500">
                <a:solidFill>
                  <a:srgbClr val="1B1B1B"/>
                </a:solidFill>
              </a:defRPr>
            </a:pPr>
            <a:r>
              <a:t>próximo caractere</a:t>
            </a:r>
          </a:p>
        </p:txBody>
      </p:sp>
      <p:sp>
        <p:nvSpPr>
          <p:cNvPr id="629" name="Text 19"/>
          <p:cNvSpPr txBox="1"/>
          <p:nvPr/>
        </p:nvSpPr>
        <p:spPr>
          <a:xfrm>
            <a:off x="640079" y="434339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Atenção</a:t>
            </a:r>
          </a:p>
        </p:txBody>
      </p:sp>
      <p:sp>
        <p:nvSpPr>
          <p:cNvPr id="630" name="Text 20"/>
          <p:cNvSpPr txBox="1"/>
          <p:nvPr/>
        </p:nvSpPr>
        <p:spPr>
          <a:xfrm>
            <a:off x="640079" y="4754879"/>
            <a:ext cx="3474722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as palavras trocam informação entre si. É o que vocês acabaram de fazer.</a:t>
            </a:r>
          </a:p>
        </p:txBody>
      </p:sp>
      <p:sp>
        <p:nvSpPr>
          <p:cNvPr id="631" name="Text 21"/>
          <p:cNvSpPr txBox="1"/>
          <p:nvPr/>
        </p:nvSpPr>
        <p:spPr>
          <a:xfrm>
            <a:off x="4343399" y="4343399"/>
            <a:ext cx="3474722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Feed-forward</a:t>
            </a:r>
          </a:p>
        </p:txBody>
      </p:sp>
      <p:sp>
        <p:nvSpPr>
          <p:cNvPr id="632" name="Text 22"/>
          <p:cNvSpPr txBox="1"/>
          <p:nvPr/>
        </p:nvSpPr>
        <p:spPr>
          <a:xfrm>
            <a:off x="4343399" y="4754879"/>
            <a:ext cx="3474722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cada palavra "pensa sozinha" sobre o que recebeu.</a:t>
            </a:r>
          </a:p>
        </p:txBody>
      </p:sp>
      <p:sp>
        <p:nvSpPr>
          <p:cNvPr id="633" name="Text 23"/>
          <p:cNvSpPr txBox="1"/>
          <p:nvPr/>
        </p:nvSpPr>
        <p:spPr>
          <a:xfrm>
            <a:off x="8046719" y="4343399"/>
            <a:ext cx="3474721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9E2A2B"/>
                </a:solidFill>
              </a:defRPr>
            </a:lvl1pPr>
          </a:lstStyle>
          <a:p>
            <a:pPr/>
            <a:r>
              <a:t>Soma, não substitui</a:t>
            </a:r>
          </a:p>
        </p:txBody>
      </p:sp>
      <p:sp>
        <p:nvSpPr>
          <p:cNvPr id="634" name="Text 24"/>
          <p:cNvSpPr txBox="1"/>
          <p:nvPr/>
        </p:nvSpPr>
        <p:spPr>
          <a:xfrm>
            <a:off x="8046719" y="4754879"/>
            <a:ext cx="3474721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</a:defRPr>
            </a:lvl1pPr>
          </a:lstStyle>
          <a:p>
            <a:pPr/>
            <a:r>
              <a:t>cada etapa acrescenta anotações ao que já existia, como escrever na margem em vez de apagar.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PRÁTICA</a:t>
            </a:r>
          </a:p>
        </p:txBody>
      </p:sp>
      <p:sp>
        <p:nvSpPr>
          <p:cNvPr id="637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Parte 2 no notebook: o Transformer</a:t>
            </a:r>
          </a:p>
        </p:txBody>
      </p:sp>
      <p:sp>
        <p:nvSpPr>
          <p:cNvPr id="638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639" name="Text 3"/>
          <p:cNvSpPr txBox="1"/>
          <p:nvPr/>
        </p:nvSpPr>
        <p:spPr>
          <a:xfrm>
            <a:off x="640080" y="160020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5F5F5F"/>
                </a:solidFill>
              </a:defRPr>
            </a:lvl1pPr>
          </a:lstStyle>
          <a:p>
            <a:pPr/>
            <a:r>
              <a:t>Executar</a:t>
            </a:r>
          </a:p>
        </p:txBody>
      </p:sp>
      <p:sp>
        <p:nvSpPr>
          <p:cNvPr id="640" name="Text 4"/>
          <p:cNvSpPr txBox="1"/>
          <p:nvPr/>
        </p:nvSpPr>
        <p:spPr>
          <a:xfrm>
            <a:off x="2743200" y="160020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as peças prontas do Transformer</a:t>
            </a:r>
          </a:p>
        </p:txBody>
      </p:sp>
      <p:sp>
        <p:nvSpPr>
          <p:cNvPr id="641" name="Text 5"/>
          <p:cNvSpPr txBox="1"/>
          <p:nvPr/>
        </p:nvSpPr>
        <p:spPr>
          <a:xfrm>
            <a:off x="640080" y="2240279"/>
            <a:ext cx="201167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Exercício 3</a:t>
            </a:r>
          </a:p>
        </p:txBody>
      </p:sp>
      <p:sp>
        <p:nvSpPr>
          <p:cNvPr id="642" name="Text 6"/>
          <p:cNvSpPr txBox="1"/>
          <p:nvPr/>
        </p:nvSpPr>
        <p:spPr>
          <a:xfrm>
            <a:off x="2743200" y="2240279"/>
            <a:ext cx="3840480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o bloco: somar em vez de substituir</a:t>
            </a:r>
          </a:p>
        </p:txBody>
      </p:sp>
      <p:sp>
        <p:nvSpPr>
          <p:cNvPr id="643" name="Text 7"/>
          <p:cNvSpPr txBox="1"/>
          <p:nvPr/>
        </p:nvSpPr>
        <p:spPr>
          <a:xfrm>
            <a:off x="640080" y="288036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5F5F5F"/>
                </a:solidFill>
              </a:defRPr>
            </a:lvl1pPr>
          </a:lstStyle>
          <a:p>
            <a:pPr/>
            <a:r>
              <a:t>Experimente</a:t>
            </a:r>
          </a:p>
        </p:txBody>
      </p:sp>
      <p:sp>
        <p:nvSpPr>
          <p:cNvPr id="644" name="Text 8"/>
          <p:cNvSpPr txBox="1"/>
          <p:nvPr/>
        </p:nvSpPr>
        <p:spPr>
          <a:xfrm>
            <a:off x="2743200" y="288036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treinar o modelo de ordenação</a:t>
            </a:r>
          </a:p>
        </p:txBody>
      </p:sp>
      <p:sp>
        <p:nvSpPr>
          <p:cNvPr id="645" name="Text 9"/>
          <p:cNvSpPr txBox="1"/>
          <p:nvPr/>
        </p:nvSpPr>
        <p:spPr>
          <a:xfrm>
            <a:off x="640080" y="3520440"/>
            <a:ext cx="2011679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5F5F5F"/>
                </a:solidFill>
              </a:defRPr>
            </a:lvl1pPr>
          </a:lstStyle>
          <a:p>
            <a:pPr/>
            <a:r>
              <a:t>Experimente</a:t>
            </a:r>
          </a:p>
        </p:txBody>
      </p:sp>
      <p:sp>
        <p:nvSpPr>
          <p:cNvPr id="646" name="Text 10"/>
          <p:cNvSpPr txBox="1"/>
          <p:nvPr/>
        </p:nvSpPr>
        <p:spPr>
          <a:xfrm>
            <a:off x="2743200" y="3520440"/>
            <a:ext cx="3840480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B1B1B"/>
                </a:solidFill>
              </a:defRPr>
            </a:lvl1pPr>
          </a:lstStyle>
          <a:p>
            <a:pPr/>
            <a:r>
              <a:t>ver para onde ele olhou</a:t>
            </a:r>
          </a:p>
        </p:txBody>
      </p:sp>
      <p:sp>
        <p:nvSpPr>
          <p:cNvPr id="647" name="Shape 11"/>
          <p:cNvSpPr/>
          <p:nvPr/>
        </p:nvSpPr>
        <p:spPr>
          <a:xfrm>
            <a:off x="6400799" y="1554479"/>
            <a:ext cx="5166362" cy="151790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Text 12"/>
          <p:cNvSpPr txBox="1"/>
          <p:nvPr/>
        </p:nvSpPr>
        <p:spPr>
          <a:xfrm>
            <a:off x="6675119" y="1737360"/>
            <a:ext cx="470916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9A9A9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troque os dois ___ por x</a:t>
            </a:r>
          </a:p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 = 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t> + self.attn(self.ln1(x))</a:t>
            </a:r>
          </a:p>
          <a:p>
            <a:pPr>
              <a:spcBef>
                <a:spcPts val="400"/>
              </a:spcBef>
              <a:defRPr sz="14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x = </a:t>
            </a:r>
            <a:r>
              <a:rPr b="1">
                <a:solidFill>
                  <a:srgbClr val="9E2A2B"/>
                </a:solidFill>
              </a:rPr>
              <a:t>___</a:t>
            </a:r>
            <a:r>
              <a:t> + self.ffn(self.ln2(x))</a:t>
            </a:r>
          </a:p>
        </p:txBody>
      </p:sp>
      <p:sp>
        <p:nvSpPr>
          <p:cNvPr id="649" name="Shape 13"/>
          <p:cNvSpPr/>
          <p:nvPr/>
        </p:nvSpPr>
        <p:spPr>
          <a:xfrm>
            <a:off x="640079" y="5120640"/>
            <a:ext cx="10911537" cy="91440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0" name="Text 14"/>
          <p:cNvSpPr txBox="1"/>
          <p:nvPr/>
        </p:nvSpPr>
        <p:spPr>
          <a:xfrm>
            <a:off x="914399" y="5457016"/>
            <a:ext cx="103628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Antes do intervalo: execute as seções 3.1 e 3.2. O modelo de xadrez treina enquanto vocês descansam.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PRÁTICA</a:t>
            </a:r>
          </a:p>
        </p:txBody>
      </p:sp>
      <p:sp>
        <p:nvSpPr>
          <p:cNvPr id="653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 que o modelo de ordenação aprendeu</a:t>
            </a:r>
          </a:p>
        </p:txBody>
      </p:sp>
      <p:sp>
        <p:nvSpPr>
          <p:cNvPr id="654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20</a:t>
            </a:r>
          </a:p>
        </p:txBody>
      </p:sp>
      <p:pic>
        <p:nvPicPr>
          <p:cNvPr id="65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508760"/>
            <a:ext cx="7139824" cy="4206241"/>
          </a:xfrm>
          <a:prstGeom prst="rect">
            <a:avLst/>
          </a:prstGeom>
          <a:ln w="12700">
            <a:miter lim="400000"/>
          </a:ln>
        </p:spPr>
      </p:pic>
      <p:sp>
        <p:nvSpPr>
          <p:cNvPr id="656" name="Text 3"/>
          <p:cNvSpPr txBox="1"/>
          <p:nvPr/>
        </p:nvSpPr>
        <p:spPr>
          <a:xfrm>
            <a:off x="8145663" y="1645920"/>
            <a:ext cx="340595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Entrada: 3 1 4 1 5 9 2 6</a:t>
            </a:r>
          </a:p>
        </p:txBody>
      </p:sp>
      <p:sp>
        <p:nvSpPr>
          <p:cNvPr id="657" name="Text 4"/>
          <p:cNvSpPr txBox="1"/>
          <p:nvPr/>
        </p:nvSpPr>
        <p:spPr>
          <a:xfrm>
            <a:off x="8145663" y="2285999"/>
            <a:ext cx="3405953" cy="8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1B1B1B"/>
                </a:solidFill>
              </a:defRPr>
            </a:lvl1pPr>
          </a:lstStyle>
          <a:p>
            <a:pPr/>
            <a:r>
              <a:t>Em cada passo, o modelo olha para o número da entrada que vai escrever em seguida.</a:t>
            </a:r>
          </a:p>
        </p:txBody>
      </p:sp>
      <p:sp>
        <p:nvSpPr>
          <p:cNvPr id="658" name="Text 5"/>
          <p:cNvSpPr txBox="1"/>
          <p:nvPr/>
        </p:nvSpPr>
        <p:spPr>
          <a:xfrm>
            <a:off x="8145663" y="3840479"/>
            <a:ext cx="3405953" cy="485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9E2A2B"/>
                </a:solidFill>
              </a:defRPr>
            </a:lvl1pPr>
          </a:lstStyle>
          <a:p>
            <a:pPr/>
            <a:r>
              <a:t>Ninguém programou essa regra: ela surgiu do treino.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INTERVALO</a:t>
            </a:r>
          </a:p>
        </p:txBody>
      </p:sp>
      <p:sp>
        <p:nvSpPr>
          <p:cNvPr id="661" name="Text 1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662" name="Text 2"/>
          <p:cNvSpPr txBox="1"/>
          <p:nvPr/>
        </p:nvSpPr>
        <p:spPr>
          <a:xfrm>
            <a:off x="640080" y="1737360"/>
            <a:ext cx="7315201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5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Intervalo</a:t>
            </a:r>
          </a:p>
        </p:txBody>
      </p:sp>
      <p:sp>
        <p:nvSpPr>
          <p:cNvPr id="663" name="Shape 3"/>
          <p:cNvSpPr/>
          <p:nvPr/>
        </p:nvSpPr>
        <p:spPr>
          <a:xfrm>
            <a:off x="640080" y="3291840"/>
            <a:ext cx="6766560" cy="146304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4" name="Text 4"/>
          <p:cNvSpPr txBox="1"/>
          <p:nvPr/>
        </p:nvSpPr>
        <p:spPr>
          <a:xfrm>
            <a:off x="914399" y="3474720"/>
            <a:ext cx="6309362" cy="607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b="1" sz="1900">
                <a:solidFill>
                  <a:srgbClr val="1B1B1B"/>
                </a:solidFill>
              </a:defRPr>
            </a:pPr>
            <a:r>
              <a:t>Antes de sair, execute as seções 3.1 e 3.2.</a:t>
            </a:r>
          </a:p>
          <a:p>
            <a:pPr>
              <a:spcBef>
                <a:spcPts val="600"/>
              </a:spcBef>
              <a:defRPr sz="1900">
                <a:solidFill>
                  <a:srgbClr val="1B1B1B"/>
                </a:solidFill>
              </a:defRPr>
            </a:pPr>
            <a:r>
              <a:t>O modelo de xadrez treina enquanto isso.</a:t>
            </a:r>
          </a:p>
        </p:txBody>
      </p:sp>
      <p:sp>
        <p:nvSpPr>
          <p:cNvPr id="665" name="Shape 5"/>
          <p:cNvSpPr/>
          <p:nvPr/>
        </p:nvSpPr>
        <p:spPr>
          <a:xfrm>
            <a:off x="8229599" y="1737360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6" name="Shape 6"/>
          <p:cNvSpPr/>
          <p:nvPr/>
        </p:nvSpPr>
        <p:spPr>
          <a:xfrm>
            <a:off x="8631935" y="173736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7" name="Shape 7"/>
          <p:cNvSpPr/>
          <p:nvPr/>
        </p:nvSpPr>
        <p:spPr>
          <a:xfrm>
            <a:off x="9034271" y="173736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8" name="Shape 8"/>
          <p:cNvSpPr/>
          <p:nvPr/>
        </p:nvSpPr>
        <p:spPr>
          <a:xfrm>
            <a:off x="9436607" y="173736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9" name="Shape 9"/>
          <p:cNvSpPr/>
          <p:nvPr/>
        </p:nvSpPr>
        <p:spPr>
          <a:xfrm>
            <a:off x="9838943" y="173736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0" name="Shape 10"/>
          <p:cNvSpPr/>
          <p:nvPr/>
        </p:nvSpPr>
        <p:spPr>
          <a:xfrm>
            <a:off x="10241280" y="173736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1" name="Shape 11"/>
          <p:cNvSpPr/>
          <p:nvPr/>
        </p:nvSpPr>
        <p:spPr>
          <a:xfrm>
            <a:off x="10643616" y="173736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2" name="Shape 12"/>
          <p:cNvSpPr/>
          <p:nvPr/>
        </p:nvSpPr>
        <p:spPr>
          <a:xfrm>
            <a:off x="11045952" y="173736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3" name="Shape 13"/>
          <p:cNvSpPr/>
          <p:nvPr/>
        </p:nvSpPr>
        <p:spPr>
          <a:xfrm>
            <a:off x="8229599" y="2139695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Shape 14"/>
          <p:cNvSpPr/>
          <p:nvPr/>
        </p:nvSpPr>
        <p:spPr>
          <a:xfrm>
            <a:off x="8631935" y="213969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5" name="Shape 15"/>
          <p:cNvSpPr/>
          <p:nvPr/>
        </p:nvSpPr>
        <p:spPr>
          <a:xfrm>
            <a:off x="9034271" y="213969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6" name="Shape 16"/>
          <p:cNvSpPr/>
          <p:nvPr/>
        </p:nvSpPr>
        <p:spPr>
          <a:xfrm>
            <a:off x="9436607" y="213969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7" name="Shape 17"/>
          <p:cNvSpPr/>
          <p:nvPr/>
        </p:nvSpPr>
        <p:spPr>
          <a:xfrm>
            <a:off x="9838943" y="213969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Shape 18"/>
          <p:cNvSpPr/>
          <p:nvPr/>
        </p:nvSpPr>
        <p:spPr>
          <a:xfrm>
            <a:off x="10241280" y="213969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9" name="Shape 19"/>
          <p:cNvSpPr/>
          <p:nvPr/>
        </p:nvSpPr>
        <p:spPr>
          <a:xfrm>
            <a:off x="10643616" y="2139695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0" name="Shape 20"/>
          <p:cNvSpPr/>
          <p:nvPr/>
        </p:nvSpPr>
        <p:spPr>
          <a:xfrm>
            <a:off x="11045952" y="2139695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Shape 21"/>
          <p:cNvSpPr/>
          <p:nvPr/>
        </p:nvSpPr>
        <p:spPr>
          <a:xfrm>
            <a:off x="8229599" y="2542032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2" name="Shape 22"/>
          <p:cNvSpPr/>
          <p:nvPr/>
        </p:nvSpPr>
        <p:spPr>
          <a:xfrm>
            <a:off x="8631935" y="254203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3" name="Shape 23"/>
          <p:cNvSpPr/>
          <p:nvPr/>
        </p:nvSpPr>
        <p:spPr>
          <a:xfrm>
            <a:off x="9034271" y="254203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Shape 24"/>
          <p:cNvSpPr/>
          <p:nvPr/>
        </p:nvSpPr>
        <p:spPr>
          <a:xfrm>
            <a:off x="9436607" y="254203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5" name="Shape 25"/>
          <p:cNvSpPr/>
          <p:nvPr/>
        </p:nvSpPr>
        <p:spPr>
          <a:xfrm>
            <a:off x="9838943" y="254203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6" name="Shape 26"/>
          <p:cNvSpPr/>
          <p:nvPr/>
        </p:nvSpPr>
        <p:spPr>
          <a:xfrm>
            <a:off x="10241280" y="254203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Shape 27"/>
          <p:cNvSpPr/>
          <p:nvPr/>
        </p:nvSpPr>
        <p:spPr>
          <a:xfrm>
            <a:off x="10643616" y="2542032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8" name="Shape 28"/>
          <p:cNvSpPr/>
          <p:nvPr/>
        </p:nvSpPr>
        <p:spPr>
          <a:xfrm>
            <a:off x="11045952" y="2542032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9" name="Shape 29"/>
          <p:cNvSpPr/>
          <p:nvPr/>
        </p:nvSpPr>
        <p:spPr>
          <a:xfrm>
            <a:off x="8229599" y="2944367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Shape 30"/>
          <p:cNvSpPr/>
          <p:nvPr/>
        </p:nvSpPr>
        <p:spPr>
          <a:xfrm>
            <a:off x="8631935" y="294436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1" name="Shape 31"/>
          <p:cNvSpPr/>
          <p:nvPr/>
        </p:nvSpPr>
        <p:spPr>
          <a:xfrm>
            <a:off x="9034271" y="294436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2" name="Shape 32"/>
          <p:cNvSpPr/>
          <p:nvPr/>
        </p:nvSpPr>
        <p:spPr>
          <a:xfrm>
            <a:off x="9436607" y="294436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3" name="Shape 33"/>
          <p:cNvSpPr/>
          <p:nvPr/>
        </p:nvSpPr>
        <p:spPr>
          <a:xfrm>
            <a:off x="9838943" y="294436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4" name="Shape 34"/>
          <p:cNvSpPr/>
          <p:nvPr/>
        </p:nvSpPr>
        <p:spPr>
          <a:xfrm>
            <a:off x="10241280" y="294436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5" name="Shape 35"/>
          <p:cNvSpPr/>
          <p:nvPr/>
        </p:nvSpPr>
        <p:spPr>
          <a:xfrm>
            <a:off x="10643616" y="2944367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6" name="Shape 36"/>
          <p:cNvSpPr/>
          <p:nvPr/>
        </p:nvSpPr>
        <p:spPr>
          <a:xfrm>
            <a:off x="11045952" y="2944367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7" name="Shape 37"/>
          <p:cNvSpPr/>
          <p:nvPr/>
        </p:nvSpPr>
        <p:spPr>
          <a:xfrm>
            <a:off x="8229599" y="3346703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8" name="Shape 38"/>
          <p:cNvSpPr/>
          <p:nvPr/>
        </p:nvSpPr>
        <p:spPr>
          <a:xfrm>
            <a:off x="8631935" y="3346703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9" name="Shape 39"/>
          <p:cNvSpPr/>
          <p:nvPr/>
        </p:nvSpPr>
        <p:spPr>
          <a:xfrm>
            <a:off x="9034271" y="3346703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0" name="Shape 40"/>
          <p:cNvSpPr/>
          <p:nvPr/>
        </p:nvSpPr>
        <p:spPr>
          <a:xfrm>
            <a:off x="9436607" y="3346703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1" name="Shape 41"/>
          <p:cNvSpPr/>
          <p:nvPr/>
        </p:nvSpPr>
        <p:spPr>
          <a:xfrm>
            <a:off x="9838943" y="3346703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2" name="Shape 42"/>
          <p:cNvSpPr/>
          <p:nvPr/>
        </p:nvSpPr>
        <p:spPr>
          <a:xfrm>
            <a:off x="10241280" y="3346703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3" name="Shape 43"/>
          <p:cNvSpPr/>
          <p:nvPr/>
        </p:nvSpPr>
        <p:spPr>
          <a:xfrm>
            <a:off x="10643616" y="3346703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4" name="Shape 44"/>
          <p:cNvSpPr/>
          <p:nvPr/>
        </p:nvSpPr>
        <p:spPr>
          <a:xfrm>
            <a:off x="11045952" y="3346703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Shape 45"/>
          <p:cNvSpPr/>
          <p:nvPr/>
        </p:nvSpPr>
        <p:spPr>
          <a:xfrm>
            <a:off x="8229599" y="3749040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6" name="Shape 46"/>
          <p:cNvSpPr/>
          <p:nvPr/>
        </p:nvSpPr>
        <p:spPr>
          <a:xfrm>
            <a:off x="8631935" y="374904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7" name="Shape 47"/>
          <p:cNvSpPr/>
          <p:nvPr/>
        </p:nvSpPr>
        <p:spPr>
          <a:xfrm>
            <a:off x="9034271" y="374904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8" name="Shape 48"/>
          <p:cNvSpPr/>
          <p:nvPr/>
        </p:nvSpPr>
        <p:spPr>
          <a:xfrm>
            <a:off x="9436607" y="374904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9" name="Shape 49"/>
          <p:cNvSpPr/>
          <p:nvPr/>
        </p:nvSpPr>
        <p:spPr>
          <a:xfrm>
            <a:off x="9838943" y="374904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Shape 50"/>
          <p:cNvSpPr/>
          <p:nvPr/>
        </p:nvSpPr>
        <p:spPr>
          <a:xfrm>
            <a:off x="10241280" y="374904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1" name="Shape 51"/>
          <p:cNvSpPr/>
          <p:nvPr/>
        </p:nvSpPr>
        <p:spPr>
          <a:xfrm>
            <a:off x="10643616" y="3749040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2" name="Shape 52"/>
          <p:cNvSpPr/>
          <p:nvPr/>
        </p:nvSpPr>
        <p:spPr>
          <a:xfrm>
            <a:off x="11045952" y="3749040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3" name="Shape 53"/>
          <p:cNvSpPr/>
          <p:nvPr/>
        </p:nvSpPr>
        <p:spPr>
          <a:xfrm>
            <a:off x="8229599" y="4151376"/>
            <a:ext cx="402338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4" name="Shape 54"/>
          <p:cNvSpPr/>
          <p:nvPr/>
        </p:nvSpPr>
        <p:spPr>
          <a:xfrm>
            <a:off x="8631935" y="4151376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5" name="Shape 55"/>
          <p:cNvSpPr/>
          <p:nvPr/>
        </p:nvSpPr>
        <p:spPr>
          <a:xfrm>
            <a:off x="9034271" y="4151376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6" name="Shape 56"/>
          <p:cNvSpPr/>
          <p:nvPr/>
        </p:nvSpPr>
        <p:spPr>
          <a:xfrm>
            <a:off x="9436607" y="4151376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7" name="Shape 57"/>
          <p:cNvSpPr/>
          <p:nvPr/>
        </p:nvSpPr>
        <p:spPr>
          <a:xfrm>
            <a:off x="9838943" y="4151376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8" name="Shape 58"/>
          <p:cNvSpPr/>
          <p:nvPr/>
        </p:nvSpPr>
        <p:spPr>
          <a:xfrm>
            <a:off x="10241280" y="4151376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9" name="Shape 59"/>
          <p:cNvSpPr/>
          <p:nvPr/>
        </p:nvSpPr>
        <p:spPr>
          <a:xfrm>
            <a:off x="10643616" y="4151376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0" name="Shape 60"/>
          <p:cNvSpPr/>
          <p:nvPr/>
        </p:nvSpPr>
        <p:spPr>
          <a:xfrm>
            <a:off x="11045952" y="4151376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1" name="Shape 61"/>
          <p:cNvSpPr/>
          <p:nvPr/>
        </p:nvSpPr>
        <p:spPr>
          <a:xfrm>
            <a:off x="8229599" y="4553711"/>
            <a:ext cx="402338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2" name="Shape 62"/>
          <p:cNvSpPr/>
          <p:nvPr/>
        </p:nvSpPr>
        <p:spPr>
          <a:xfrm>
            <a:off x="8631935" y="4553711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3" name="Shape 63"/>
          <p:cNvSpPr/>
          <p:nvPr/>
        </p:nvSpPr>
        <p:spPr>
          <a:xfrm>
            <a:off x="9034271" y="4553711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4" name="Shape 64"/>
          <p:cNvSpPr/>
          <p:nvPr/>
        </p:nvSpPr>
        <p:spPr>
          <a:xfrm>
            <a:off x="9436607" y="4553711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5" name="Shape 65"/>
          <p:cNvSpPr/>
          <p:nvPr/>
        </p:nvSpPr>
        <p:spPr>
          <a:xfrm>
            <a:off x="9838943" y="4553711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6" name="Shape 66"/>
          <p:cNvSpPr/>
          <p:nvPr/>
        </p:nvSpPr>
        <p:spPr>
          <a:xfrm>
            <a:off x="10241280" y="4553711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7" name="Shape 67"/>
          <p:cNvSpPr/>
          <p:nvPr/>
        </p:nvSpPr>
        <p:spPr>
          <a:xfrm>
            <a:off x="10643616" y="4553711"/>
            <a:ext cx="402337" cy="402337"/>
          </a:xfrm>
          <a:prstGeom prst="rect">
            <a:avLst/>
          </a:prstGeom>
          <a:solidFill>
            <a:srgbClr val="D9DEE5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8" name="Shape 68"/>
          <p:cNvSpPr/>
          <p:nvPr/>
        </p:nvSpPr>
        <p:spPr>
          <a:xfrm>
            <a:off x="11045952" y="4553711"/>
            <a:ext cx="402337" cy="402337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9" name="Shape 69"/>
          <p:cNvSpPr/>
          <p:nvPr/>
        </p:nvSpPr>
        <p:spPr>
          <a:xfrm>
            <a:off x="8229599" y="1737360"/>
            <a:ext cx="3218690" cy="3218689"/>
          </a:xfrm>
          <a:prstGeom prst="rect">
            <a:avLst/>
          </a:prstGeom>
          <a:ln w="12700">
            <a:solidFill>
              <a:srgbClr val="1B1B1B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XADREZ</a:t>
            </a:r>
          </a:p>
        </p:txBody>
      </p:sp>
      <p:sp>
        <p:nvSpPr>
          <p:cNvPr id="732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Xadrez é só mais um texto</a:t>
            </a:r>
          </a:p>
        </p:txBody>
      </p:sp>
      <p:sp>
        <p:nvSpPr>
          <p:cNvPr id="733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734" name="Shape 3"/>
          <p:cNvSpPr/>
          <p:nvPr/>
        </p:nvSpPr>
        <p:spPr>
          <a:xfrm>
            <a:off x="640079" y="1600200"/>
            <a:ext cx="6583682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5" name="Text 4"/>
          <p:cNvSpPr txBox="1"/>
          <p:nvPr/>
        </p:nvSpPr>
        <p:spPr>
          <a:xfrm>
            <a:off x="914399" y="1737360"/>
            <a:ext cx="621792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;1.e4 e5 2.Nf3 Nc6 3.Bb5 a6</a:t>
            </a:r>
          </a:p>
          <a:p>
            <a:pPr>
              <a:spcBef>
                <a:spcPts val="400"/>
              </a:spcBef>
              <a:defRPr>
                <a:solidFill>
                  <a:srgbClr val="1B1B1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4.Ba4 Nf6 5.O-O Be7 6.Re1 b5 ...</a:t>
            </a:r>
          </a:p>
        </p:txBody>
      </p:sp>
      <p:graphicFrame>
        <p:nvGraphicFramePr>
          <p:cNvPr id="736" name="Table 0"/>
          <p:cNvGraphicFramePr/>
          <p:nvPr/>
        </p:nvGraphicFramePr>
        <p:xfrm>
          <a:off x="7589519" y="1600200"/>
          <a:ext cx="3959353" cy="20574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80160"/>
                <a:gridCol w="2679192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/>
                        <a:t>Escrito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/>
                        <a:t>Significa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e4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um peão vai para e4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Nf3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o cavalo (N) vai para f3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Bxe5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o bispo (B) captura em e5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#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/>
                        <a:t>xeque-mate</a:t>
                      </a:r>
                    </a:p>
                  </a:txBody>
                  <a:tcPr marL="73152" marR="73152" marT="73152" marB="73152" anchor="ctr" anchorCtr="0" horzOverflow="overflow">
                    <a:lnL w="6350">
                      <a:solidFill>
                        <a:srgbClr val="C9C9C9"/>
                      </a:solidFill>
                    </a:lnL>
                    <a:lnR w="6350">
                      <a:solidFill>
                        <a:srgbClr val="C9C9C9"/>
                      </a:solidFill>
                    </a:lnR>
                    <a:lnT w="6350">
                      <a:solidFill>
                        <a:srgbClr val="C9C9C9"/>
                      </a:solidFill>
                    </a:lnT>
                    <a:lnB w="6350">
                      <a:solidFill>
                        <a:srgbClr val="C9C9C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7" name="Text 5"/>
          <p:cNvSpPr txBox="1"/>
          <p:nvPr/>
        </p:nvSpPr>
        <p:spPr>
          <a:xfrm>
            <a:off x="640079" y="3246120"/>
            <a:ext cx="219456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2F5D8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60 mil</a:t>
            </a:r>
          </a:p>
        </p:txBody>
      </p:sp>
      <p:sp>
        <p:nvSpPr>
          <p:cNvPr id="738" name="Text 6"/>
          <p:cNvSpPr txBox="1"/>
          <p:nvPr/>
        </p:nvSpPr>
        <p:spPr>
          <a:xfrm>
            <a:off x="640079" y="4069079"/>
            <a:ext cx="21945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partidas reais</a:t>
            </a:r>
          </a:p>
        </p:txBody>
      </p:sp>
      <p:sp>
        <p:nvSpPr>
          <p:cNvPr id="739" name="Text 7"/>
          <p:cNvSpPr txBox="1"/>
          <p:nvPr/>
        </p:nvSpPr>
        <p:spPr>
          <a:xfrm>
            <a:off x="2971799" y="3246120"/>
            <a:ext cx="219456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2F5D8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740" name="Text 8"/>
          <p:cNvSpPr txBox="1"/>
          <p:nvPr/>
        </p:nvSpPr>
        <p:spPr>
          <a:xfrm>
            <a:off x="2971799" y="4069079"/>
            <a:ext cx="21945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caracteres diferentes</a:t>
            </a:r>
          </a:p>
        </p:txBody>
      </p:sp>
      <p:sp>
        <p:nvSpPr>
          <p:cNvPr id="741" name="Text 9"/>
          <p:cNvSpPr txBox="1"/>
          <p:nvPr/>
        </p:nvSpPr>
        <p:spPr>
          <a:xfrm>
            <a:off x="5303520" y="3246120"/>
            <a:ext cx="219456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42" name="Text 10"/>
          <p:cNvSpPr txBox="1"/>
          <p:nvPr/>
        </p:nvSpPr>
        <p:spPr>
          <a:xfrm>
            <a:off x="5303520" y="4069079"/>
            <a:ext cx="21945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tabuleiros vistos pelo modelo</a:t>
            </a:r>
          </a:p>
        </p:txBody>
      </p:sp>
      <p:sp>
        <p:nvSpPr>
          <p:cNvPr id="743" name="Text 11"/>
          <p:cNvSpPr txBox="1"/>
          <p:nvPr/>
        </p:nvSpPr>
        <p:spPr>
          <a:xfrm>
            <a:off x="640079" y="5074920"/>
            <a:ext cx="10789922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9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Se o modelo joga lances válidos sem nunca ter visto um tabuleiro, de onde vem essa noção de onde estão as peças?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PRÁTICA</a:t>
            </a:r>
          </a:p>
        </p:txBody>
      </p:sp>
      <p:sp>
        <p:nvSpPr>
          <p:cNvPr id="746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Parte 3 no notebook: xadrez</a:t>
            </a:r>
          </a:p>
        </p:txBody>
      </p:sp>
      <p:sp>
        <p:nvSpPr>
          <p:cNvPr id="747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748" name="Text 3"/>
          <p:cNvSpPr txBox="1"/>
          <p:nvPr/>
        </p:nvSpPr>
        <p:spPr>
          <a:xfrm>
            <a:off x="640079" y="1691639"/>
            <a:ext cx="1463042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seção 3.3</a:t>
            </a:r>
          </a:p>
        </p:txBody>
      </p:sp>
      <p:sp>
        <p:nvSpPr>
          <p:cNvPr id="749" name="Text 4"/>
          <p:cNvSpPr txBox="1"/>
          <p:nvPr/>
        </p:nvSpPr>
        <p:spPr>
          <a:xfrm>
            <a:off x="2286000" y="1691639"/>
            <a:ext cx="8686800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1B1B1B"/>
                </a:solidFill>
              </a:defRPr>
            </a:lvl1pPr>
          </a:lstStyle>
          <a:p>
            <a:pPr/>
            <a:r>
              <a:t>gerar partidas e ver onde o modelo erra</a:t>
            </a:r>
          </a:p>
        </p:txBody>
      </p:sp>
      <p:sp>
        <p:nvSpPr>
          <p:cNvPr id="750" name="Text 5"/>
          <p:cNvSpPr txBox="1"/>
          <p:nvPr/>
        </p:nvSpPr>
        <p:spPr>
          <a:xfrm>
            <a:off x="640079" y="2468879"/>
            <a:ext cx="1463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seção 3.3</a:t>
            </a:r>
          </a:p>
        </p:txBody>
      </p:sp>
      <p:sp>
        <p:nvSpPr>
          <p:cNvPr id="751" name="Text 6"/>
          <p:cNvSpPr txBox="1"/>
          <p:nvPr/>
        </p:nvSpPr>
        <p:spPr>
          <a:xfrm>
            <a:off x="2286000" y="2468879"/>
            <a:ext cx="8686800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1B1B1B"/>
                </a:solidFill>
              </a:defRPr>
            </a:lvl1pPr>
          </a:lstStyle>
          <a:p>
            <a:pPr/>
            <a:r>
              <a:t>mexer no controle de temperatura</a:t>
            </a:r>
          </a:p>
        </p:txBody>
      </p:sp>
      <p:sp>
        <p:nvSpPr>
          <p:cNvPr id="752" name="Text 7"/>
          <p:cNvSpPr txBox="1"/>
          <p:nvPr/>
        </p:nvSpPr>
        <p:spPr>
          <a:xfrm>
            <a:off x="640079" y="3246120"/>
            <a:ext cx="1463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seção 3.4</a:t>
            </a:r>
          </a:p>
        </p:txBody>
      </p:sp>
      <p:sp>
        <p:nvSpPr>
          <p:cNvPr id="753" name="Text 8"/>
          <p:cNvSpPr txBox="1"/>
          <p:nvPr/>
        </p:nvSpPr>
        <p:spPr>
          <a:xfrm>
            <a:off x="2286000" y="3246120"/>
            <a:ext cx="8686800" cy="27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1B1B1B"/>
                </a:solidFill>
              </a:defRPr>
            </a:lvl1pPr>
          </a:lstStyle>
          <a:p>
            <a:pPr/>
            <a:r>
              <a:t>seu modelo contra o modelo de referência</a:t>
            </a:r>
          </a:p>
        </p:txBody>
      </p:sp>
      <p:sp>
        <p:nvSpPr>
          <p:cNvPr id="754" name="Text 9"/>
          <p:cNvSpPr txBox="1"/>
          <p:nvPr/>
        </p:nvSpPr>
        <p:spPr>
          <a:xfrm>
            <a:off x="640079" y="4023359"/>
            <a:ext cx="146304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5F5F5F"/>
                </a:solidFill>
              </a:defRPr>
            </a:lvl1pPr>
          </a:lstStyle>
          <a:p>
            <a:pPr/>
            <a:r>
              <a:t>seção 3.5</a:t>
            </a:r>
          </a:p>
        </p:txBody>
      </p:sp>
      <p:sp>
        <p:nvSpPr>
          <p:cNvPr id="755" name="Text 10"/>
          <p:cNvSpPr txBox="1"/>
          <p:nvPr/>
        </p:nvSpPr>
        <p:spPr>
          <a:xfrm>
            <a:off x="2286000" y="4023359"/>
            <a:ext cx="8686800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1B1B1B"/>
                </a:solidFill>
              </a:defRPr>
            </a:lvl1pPr>
          </a:lstStyle>
          <a:p>
            <a:pPr/>
            <a:r>
              <a:t>jogar uma partida contra o modelo</a:t>
            </a:r>
          </a:p>
        </p:txBody>
      </p:sp>
      <p:sp>
        <p:nvSpPr>
          <p:cNvPr id="756" name="Shape 11"/>
          <p:cNvSpPr/>
          <p:nvPr/>
        </p:nvSpPr>
        <p:spPr>
          <a:xfrm>
            <a:off x="640079" y="5120640"/>
            <a:ext cx="10911537" cy="91440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7" name="Text 12"/>
          <p:cNvSpPr txBox="1"/>
          <p:nvPr/>
        </p:nvSpPr>
        <p:spPr>
          <a:xfrm>
            <a:off x="914399" y="5457016"/>
            <a:ext cx="10362897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Não precisa saber xadrez: clique numa peça e os pontos mostram para onde ela pode ir.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ENCERRAMENTO</a:t>
            </a:r>
          </a:p>
        </p:txBody>
      </p:sp>
      <p:sp>
        <p:nvSpPr>
          <p:cNvPr id="760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Por que a atenção mudou tudo</a:t>
            </a:r>
          </a:p>
        </p:txBody>
      </p:sp>
      <p:sp>
        <p:nvSpPr>
          <p:cNvPr id="761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762" name="Text 3"/>
          <p:cNvSpPr txBox="1"/>
          <p:nvPr/>
        </p:nvSpPr>
        <p:spPr>
          <a:xfrm>
            <a:off x="640080" y="1645920"/>
            <a:ext cx="54864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3" name="Text 4"/>
          <p:cNvSpPr txBox="1"/>
          <p:nvPr/>
        </p:nvSpPr>
        <p:spPr>
          <a:xfrm>
            <a:off x="1234439" y="1783079"/>
            <a:ext cx="2926082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B1B1B"/>
                </a:solidFill>
              </a:defRPr>
            </a:lvl1pPr>
          </a:lstStyle>
          <a:p>
            <a:pPr/>
            <a:r>
              <a:t>Rápido</a:t>
            </a:r>
          </a:p>
        </p:txBody>
      </p:sp>
      <p:sp>
        <p:nvSpPr>
          <p:cNvPr id="764" name="Text 5"/>
          <p:cNvSpPr txBox="1"/>
          <p:nvPr/>
        </p:nvSpPr>
        <p:spPr>
          <a:xfrm>
            <a:off x="640080" y="2606039"/>
            <a:ext cx="3429001" cy="8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Todas as palavras fazem a conta ao mesmo tempo. Encaixa perfeitamente nas GPUs.</a:t>
            </a:r>
          </a:p>
        </p:txBody>
      </p:sp>
      <p:sp>
        <p:nvSpPr>
          <p:cNvPr id="765" name="Text 6"/>
          <p:cNvSpPr txBox="1"/>
          <p:nvPr/>
        </p:nvSpPr>
        <p:spPr>
          <a:xfrm>
            <a:off x="4343399" y="1645920"/>
            <a:ext cx="54864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6" name="Text 7"/>
          <p:cNvSpPr txBox="1"/>
          <p:nvPr/>
        </p:nvSpPr>
        <p:spPr>
          <a:xfrm>
            <a:off x="4937759" y="1783079"/>
            <a:ext cx="292608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B1B1B"/>
                </a:solidFill>
              </a:defRPr>
            </a:lvl1pPr>
          </a:lstStyle>
          <a:p>
            <a:pPr/>
            <a:r>
              <a:t>Escala</a:t>
            </a:r>
          </a:p>
        </p:txBody>
      </p:sp>
      <p:sp>
        <p:nvSpPr>
          <p:cNvPr id="767" name="Text 8"/>
          <p:cNvSpPr txBox="1"/>
          <p:nvPr/>
        </p:nvSpPr>
        <p:spPr>
          <a:xfrm>
            <a:off x="4343400" y="2606039"/>
            <a:ext cx="3429000" cy="8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Rápido de treinar, deu para fazer modelos enormes. E quanto maior, melhor ele fica.</a:t>
            </a:r>
          </a:p>
        </p:txBody>
      </p:sp>
      <p:sp>
        <p:nvSpPr>
          <p:cNvPr id="768" name="Text 9"/>
          <p:cNvSpPr txBox="1"/>
          <p:nvPr/>
        </p:nvSpPr>
        <p:spPr>
          <a:xfrm>
            <a:off x="8046719" y="1645920"/>
            <a:ext cx="54864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9E2A2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69" name="Text 10"/>
          <p:cNvSpPr txBox="1"/>
          <p:nvPr/>
        </p:nvSpPr>
        <p:spPr>
          <a:xfrm>
            <a:off x="8641080" y="1783079"/>
            <a:ext cx="292608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B1B1B"/>
                </a:solidFill>
              </a:defRPr>
            </a:lvl1pPr>
          </a:lstStyle>
          <a:p>
            <a:pPr/>
            <a:r>
              <a:t>Serve para tudo</a:t>
            </a:r>
          </a:p>
        </p:txBody>
      </p:sp>
      <p:sp>
        <p:nvSpPr>
          <p:cNvPr id="770" name="Text 11"/>
          <p:cNvSpPr txBox="1"/>
          <p:nvPr/>
        </p:nvSpPr>
        <p:spPr>
          <a:xfrm>
            <a:off x="8046719" y="2606039"/>
            <a:ext cx="3429001" cy="825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pPr/>
            <a:r>
              <a:t>Texto, código, imagens, som, proteínas. Tudo que vira uma sequência. Hoje, xadrez.</a:t>
            </a:r>
          </a:p>
        </p:txBody>
      </p:sp>
      <p:sp>
        <p:nvSpPr>
          <p:cNvPr id="771" name="Shape 12"/>
          <p:cNvSpPr/>
          <p:nvPr/>
        </p:nvSpPr>
        <p:spPr>
          <a:xfrm>
            <a:off x="640079" y="4800600"/>
            <a:ext cx="10911537" cy="100583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2" name="Text 13"/>
          <p:cNvSpPr txBox="1"/>
          <p:nvPr/>
        </p:nvSpPr>
        <p:spPr>
          <a:xfrm>
            <a:off x="914399" y="5011419"/>
            <a:ext cx="1036289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arquitetura dos grandes modelos é a mesma que vocês montaram hoje. A diferença é o tamanho.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 0"/>
          <p:cNvSpPr txBox="1"/>
          <p:nvPr/>
        </p:nvSpPr>
        <p:spPr>
          <a:xfrm>
            <a:off x="640080" y="320040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9E2A2B"/>
                </a:solidFill>
              </a:defRPr>
            </a:lvl1pPr>
          </a:lstStyle>
          <a:p>
            <a:pPr/>
            <a:r>
              <a:t>ENCERRAMENTO</a:t>
            </a:r>
          </a:p>
        </p:txBody>
      </p:sp>
      <p:sp>
        <p:nvSpPr>
          <p:cNvPr id="775" name="Text 1"/>
          <p:cNvSpPr txBox="1"/>
          <p:nvPr/>
        </p:nvSpPr>
        <p:spPr>
          <a:xfrm>
            <a:off x="640079" y="566927"/>
            <a:ext cx="1091153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2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Daqui até o ChatGPT</a:t>
            </a:r>
          </a:p>
        </p:txBody>
      </p:sp>
      <p:sp>
        <p:nvSpPr>
          <p:cNvPr id="776" name="Text 2"/>
          <p:cNvSpPr txBox="1"/>
          <p:nvPr/>
        </p:nvSpPr>
        <p:spPr>
          <a:xfrm>
            <a:off x="11002974" y="6446520"/>
            <a:ext cx="54864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9A9A"/>
                </a:solidFill>
              </a:defRPr>
            </a:lvl1pPr>
          </a:lstStyle>
          <a:p>
            <a:pPr/>
            <a:r>
              <a:t>25</a:t>
            </a:r>
          </a:p>
        </p:txBody>
      </p:sp>
      <p:graphicFrame>
        <p:nvGraphicFramePr>
          <p:cNvPr id="777" name="Table 0"/>
          <p:cNvGraphicFramePr/>
          <p:nvPr/>
        </p:nvGraphicFramePr>
        <p:xfrm>
          <a:off x="640080" y="1600200"/>
          <a:ext cx="6949440" cy="26517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463040"/>
                <a:gridCol w="2560320"/>
                <a:gridCol w="292608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Hoje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ChatGPT, Claude, Gemini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Lê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caracteres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pedaços de palavras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Tamanho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1 a 5 milhões de parâmetros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bilhões de parâmetros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Treino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minutos, 1 GPU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meses, milhares de GPUs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600">
                          <a:solidFill>
                            <a:srgbClr val="1B1B1B"/>
                          </a:solidFill>
                        </a:rPr>
                        <a:t>Depois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nada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>
                          <a:solidFill>
                            <a:srgbClr val="1B1B1B"/>
                          </a:solidFill>
                        </a:rPr>
                        <a:t>ajuste para seguir instruções</a:t>
                      </a:r>
                    </a:p>
                  </a:txBody>
                  <a:tcPr marL="91440" marR="91440" marT="91440" marB="91440" anchor="ctr" anchorCtr="0" horzOverflow="overflow">
                    <a:lnL>
                      <a:solidFill>
                        <a:srgbClr val="C9C9C9"/>
                      </a:solidFill>
                    </a:lnL>
                    <a:lnR>
                      <a:solidFill>
                        <a:srgbClr val="C9C9C9"/>
                      </a:solidFill>
                    </a:lnR>
                    <a:lnT>
                      <a:solidFill>
                        <a:srgbClr val="C9C9C9"/>
                      </a:solidFill>
                    </a:lnT>
                    <a:lnB>
                      <a:solidFill>
                        <a:srgbClr val="C9C9C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8" name="Text 3"/>
          <p:cNvSpPr txBox="1"/>
          <p:nvPr/>
        </p:nvSpPr>
        <p:spPr>
          <a:xfrm>
            <a:off x="640079" y="4526279"/>
            <a:ext cx="694944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 arquitetura é a que vocês escreveram hoje.</a:t>
            </a:r>
          </a:p>
        </p:txBody>
      </p:sp>
      <p:sp>
        <p:nvSpPr>
          <p:cNvPr id="779" name="Text 4"/>
          <p:cNvSpPr txBox="1"/>
          <p:nvPr/>
        </p:nvSpPr>
        <p:spPr>
          <a:xfrm>
            <a:off x="640079" y="5166359"/>
            <a:ext cx="6949442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5F5F5F"/>
                </a:solidFill>
              </a:defRPr>
            </a:lvl1pPr>
          </a:lstStyle>
          <a:p>
            <a:pPr/>
            <a:r>
              <a:t>Para continuar: o vídeo "Let's build GPT", de Andrej Karpathy, e a série sobre Transformers do 3Blue1Brown.</a:t>
            </a:r>
          </a:p>
        </p:txBody>
      </p:sp>
      <p:sp>
        <p:nvSpPr>
          <p:cNvPr id="780" name="Text 5"/>
          <p:cNvSpPr txBox="1"/>
          <p:nvPr/>
        </p:nvSpPr>
        <p:spPr>
          <a:xfrm>
            <a:off x="8229600" y="1043465"/>
            <a:ext cx="338328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B1B1B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Obrigado.</a:t>
            </a:r>
          </a:p>
        </p:txBody>
      </p:sp>
      <p:sp>
        <p:nvSpPr>
          <p:cNvPr id="781" name="Text 6"/>
          <p:cNvSpPr txBox="1"/>
          <p:nvPr/>
        </p:nvSpPr>
        <p:spPr>
          <a:xfrm>
            <a:off x="8229600" y="2743199"/>
            <a:ext cx="338328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600">
                <a:solidFill>
                  <a:srgbClr val="5F5F5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Perguntas?</a:t>
            </a:r>
          </a:p>
        </p:txBody>
      </p:sp>
      <p:sp>
        <p:nvSpPr>
          <p:cNvPr id="782" name="Text 8"/>
          <p:cNvSpPr txBox="1"/>
          <p:nvPr/>
        </p:nvSpPr>
        <p:spPr>
          <a:xfrm>
            <a:off x="620865" y="5932298"/>
            <a:ext cx="35661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github.com/giovannibragasv/</a:t>
            </a:r>
          </a:p>
          <a:p>
            <a:pPr>
              <a:defRPr sz="1200">
                <a:solidFill>
                  <a:srgbClr val="5F5F5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transformer-do-zero</a:t>
            </a:r>
          </a:p>
        </p:txBody>
      </p:sp>
      <p:pic>
        <p:nvPicPr>
          <p:cNvPr id="7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16837" y="1787223"/>
            <a:ext cx="3151548" cy="4747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
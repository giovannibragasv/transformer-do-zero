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4" name="Shape 1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1" name="Shape 19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0" name="Shape 2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4" name="Shape 2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6" name="Shape 2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27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8" name="Shape 27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3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4" name="Shape 3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3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3" name="Shape 3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36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9" name="Shape 36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4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18" name="Shape 4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4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55" name="Shape 4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49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91" name="Shape 49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Shape 53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36" name="Shape 53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Shape 55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53" name="Shape 55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62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25" name="Shape 62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Shape 6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43" name="Shape 6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Shape 6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71" name="Shape 6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89" name="Shape 68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69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99" name="Shape 69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Shape 7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72" name="Shape 7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Shape 78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88" name="Shape 78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Shape 80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04" name="Shape 80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Shape 82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21" name="Shape 82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Shape 8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34" name="Shape 8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640080" y="1097280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200">
                <a:solidFill>
                  <a:srgbClr val="9E2A2B"/>
                </a:solidFill>
              </a:defRPr>
            </a:lvl1pPr>
          </a:lstStyle>
          <a:p>
            <a:pPr/>
            <a:r>
              <a:t>CESUPA TECH SUMMIT 2026  ·  WORKSHOP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640079" y="1600200"/>
            <a:ext cx="6949442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8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Attention is All You Need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640079" y="2514600"/>
            <a:ext cx="6949442" cy="419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5F5F5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Construindo um Transformer do zero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640080" y="4846320"/>
            <a:ext cx="54864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Giovanni Vasconcelos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640080" y="5230367"/>
            <a:ext cx="548640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14 de outubro de 2026</a:t>
            </a:r>
          </a:p>
        </p:txBody>
      </p:sp>
      <p:sp>
        <p:nvSpPr>
          <p:cNvPr id="26" name="Shape 6"/>
          <p:cNvSpPr/>
          <p:nvPr/>
        </p:nvSpPr>
        <p:spPr>
          <a:xfrm>
            <a:off x="7818119" y="1371600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Shape 7"/>
          <p:cNvSpPr/>
          <p:nvPr/>
        </p:nvSpPr>
        <p:spPr>
          <a:xfrm>
            <a:off x="8293607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Shape 8"/>
          <p:cNvSpPr/>
          <p:nvPr/>
        </p:nvSpPr>
        <p:spPr>
          <a:xfrm>
            <a:off x="8769095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Shape 9"/>
          <p:cNvSpPr/>
          <p:nvPr/>
        </p:nvSpPr>
        <p:spPr>
          <a:xfrm>
            <a:off x="9244583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Shape 10"/>
          <p:cNvSpPr/>
          <p:nvPr/>
        </p:nvSpPr>
        <p:spPr>
          <a:xfrm>
            <a:off x="9720071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Shape 11"/>
          <p:cNvSpPr/>
          <p:nvPr/>
        </p:nvSpPr>
        <p:spPr>
          <a:xfrm>
            <a:off x="10195559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" name="Shape 12"/>
          <p:cNvSpPr/>
          <p:nvPr/>
        </p:nvSpPr>
        <p:spPr>
          <a:xfrm>
            <a:off x="10671047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Shape 13"/>
          <p:cNvSpPr/>
          <p:nvPr/>
        </p:nvSpPr>
        <p:spPr>
          <a:xfrm>
            <a:off x="11146535" y="137160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" name="Shape 14"/>
          <p:cNvSpPr/>
          <p:nvPr/>
        </p:nvSpPr>
        <p:spPr>
          <a:xfrm>
            <a:off x="7818119" y="1847088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Shape 15"/>
          <p:cNvSpPr/>
          <p:nvPr/>
        </p:nvSpPr>
        <p:spPr>
          <a:xfrm>
            <a:off x="8293607" y="1847088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" name="Shape 16"/>
          <p:cNvSpPr/>
          <p:nvPr/>
        </p:nvSpPr>
        <p:spPr>
          <a:xfrm>
            <a:off x="8769095" y="184708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Shape 17"/>
          <p:cNvSpPr/>
          <p:nvPr/>
        </p:nvSpPr>
        <p:spPr>
          <a:xfrm>
            <a:off x="9244583" y="184708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Shape 18"/>
          <p:cNvSpPr/>
          <p:nvPr/>
        </p:nvSpPr>
        <p:spPr>
          <a:xfrm>
            <a:off x="9720071" y="184708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Shape 19"/>
          <p:cNvSpPr/>
          <p:nvPr/>
        </p:nvSpPr>
        <p:spPr>
          <a:xfrm>
            <a:off x="10195559" y="184708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Shape 20"/>
          <p:cNvSpPr/>
          <p:nvPr/>
        </p:nvSpPr>
        <p:spPr>
          <a:xfrm>
            <a:off x="10671047" y="184708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Shape 21"/>
          <p:cNvSpPr/>
          <p:nvPr/>
        </p:nvSpPr>
        <p:spPr>
          <a:xfrm>
            <a:off x="11146535" y="184708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" name="Shape 22"/>
          <p:cNvSpPr/>
          <p:nvPr/>
        </p:nvSpPr>
        <p:spPr>
          <a:xfrm>
            <a:off x="7818119" y="2322576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" name="Shape 23"/>
          <p:cNvSpPr/>
          <p:nvPr/>
        </p:nvSpPr>
        <p:spPr>
          <a:xfrm>
            <a:off x="8293607" y="2322576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Shape 24"/>
          <p:cNvSpPr/>
          <p:nvPr/>
        </p:nvSpPr>
        <p:spPr>
          <a:xfrm>
            <a:off x="8769095" y="2322576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Shape 25"/>
          <p:cNvSpPr/>
          <p:nvPr/>
        </p:nvSpPr>
        <p:spPr>
          <a:xfrm>
            <a:off x="9244583" y="2322576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Shape 26"/>
          <p:cNvSpPr/>
          <p:nvPr/>
        </p:nvSpPr>
        <p:spPr>
          <a:xfrm>
            <a:off x="9720071" y="2322576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" name="Shape 27"/>
          <p:cNvSpPr/>
          <p:nvPr/>
        </p:nvSpPr>
        <p:spPr>
          <a:xfrm>
            <a:off x="10195559" y="2322576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28"/>
          <p:cNvSpPr/>
          <p:nvPr/>
        </p:nvSpPr>
        <p:spPr>
          <a:xfrm>
            <a:off x="10671047" y="2322576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Shape 29"/>
          <p:cNvSpPr/>
          <p:nvPr/>
        </p:nvSpPr>
        <p:spPr>
          <a:xfrm>
            <a:off x="11146535" y="2322576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Shape 30"/>
          <p:cNvSpPr/>
          <p:nvPr/>
        </p:nvSpPr>
        <p:spPr>
          <a:xfrm>
            <a:off x="7818119" y="2798064"/>
            <a:ext cx="475488" cy="475488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Shape 31"/>
          <p:cNvSpPr/>
          <p:nvPr/>
        </p:nvSpPr>
        <p:spPr>
          <a:xfrm>
            <a:off x="8293607" y="2798064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Shape 32"/>
          <p:cNvSpPr/>
          <p:nvPr/>
        </p:nvSpPr>
        <p:spPr>
          <a:xfrm>
            <a:off x="8769095" y="2798064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Shape 33"/>
          <p:cNvSpPr/>
          <p:nvPr/>
        </p:nvSpPr>
        <p:spPr>
          <a:xfrm>
            <a:off x="9244583" y="2798064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Shape 34"/>
          <p:cNvSpPr/>
          <p:nvPr/>
        </p:nvSpPr>
        <p:spPr>
          <a:xfrm>
            <a:off x="9720071" y="2798064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Shape 35"/>
          <p:cNvSpPr/>
          <p:nvPr/>
        </p:nvSpPr>
        <p:spPr>
          <a:xfrm>
            <a:off x="10195559" y="2798064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Shape 36"/>
          <p:cNvSpPr/>
          <p:nvPr/>
        </p:nvSpPr>
        <p:spPr>
          <a:xfrm>
            <a:off x="10671047" y="2798064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Shape 37"/>
          <p:cNvSpPr/>
          <p:nvPr/>
        </p:nvSpPr>
        <p:spPr>
          <a:xfrm>
            <a:off x="11146535" y="2798064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Shape 38"/>
          <p:cNvSpPr/>
          <p:nvPr/>
        </p:nvSpPr>
        <p:spPr>
          <a:xfrm>
            <a:off x="7818119" y="3273552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Shape 39"/>
          <p:cNvSpPr/>
          <p:nvPr/>
        </p:nvSpPr>
        <p:spPr>
          <a:xfrm>
            <a:off x="8293607" y="3273552"/>
            <a:ext cx="475488" cy="475488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Shape 40"/>
          <p:cNvSpPr/>
          <p:nvPr/>
        </p:nvSpPr>
        <p:spPr>
          <a:xfrm>
            <a:off x="8769095" y="3273552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Shape 41"/>
          <p:cNvSpPr/>
          <p:nvPr/>
        </p:nvSpPr>
        <p:spPr>
          <a:xfrm>
            <a:off x="9244583" y="3273552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Shape 42"/>
          <p:cNvSpPr/>
          <p:nvPr/>
        </p:nvSpPr>
        <p:spPr>
          <a:xfrm>
            <a:off x="9720071" y="3273552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Shape 43"/>
          <p:cNvSpPr/>
          <p:nvPr/>
        </p:nvSpPr>
        <p:spPr>
          <a:xfrm>
            <a:off x="10195559" y="3273552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Shape 44"/>
          <p:cNvSpPr/>
          <p:nvPr/>
        </p:nvSpPr>
        <p:spPr>
          <a:xfrm>
            <a:off x="10671047" y="3273552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Shape 45"/>
          <p:cNvSpPr/>
          <p:nvPr/>
        </p:nvSpPr>
        <p:spPr>
          <a:xfrm>
            <a:off x="11146535" y="3273552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Shape 46"/>
          <p:cNvSpPr/>
          <p:nvPr/>
        </p:nvSpPr>
        <p:spPr>
          <a:xfrm>
            <a:off x="7818119" y="3749040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7" name="Shape 47"/>
          <p:cNvSpPr/>
          <p:nvPr/>
        </p:nvSpPr>
        <p:spPr>
          <a:xfrm>
            <a:off x="8293607" y="3749040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Shape 48"/>
          <p:cNvSpPr/>
          <p:nvPr/>
        </p:nvSpPr>
        <p:spPr>
          <a:xfrm>
            <a:off x="8769095" y="3749040"/>
            <a:ext cx="475488" cy="475488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Shape 49"/>
          <p:cNvSpPr/>
          <p:nvPr/>
        </p:nvSpPr>
        <p:spPr>
          <a:xfrm>
            <a:off x="9244583" y="3749040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Shape 50"/>
          <p:cNvSpPr/>
          <p:nvPr/>
        </p:nvSpPr>
        <p:spPr>
          <a:xfrm>
            <a:off x="9720071" y="3749040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" name="Shape 51"/>
          <p:cNvSpPr/>
          <p:nvPr/>
        </p:nvSpPr>
        <p:spPr>
          <a:xfrm>
            <a:off x="10195559" y="3749040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Shape 52"/>
          <p:cNvSpPr/>
          <p:nvPr/>
        </p:nvSpPr>
        <p:spPr>
          <a:xfrm>
            <a:off x="10671047" y="374904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Shape 53"/>
          <p:cNvSpPr/>
          <p:nvPr/>
        </p:nvSpPr>
        <p:spPr>
          <a:xfrm>
            <a:off x="11146535" y="3749040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" name="Shape 54"/>
          <p:cNvSpPr/>
          <p:nvPr/>
        </p:nvSpPr>
        <p:spPr>
          <a:xfrm>
            <a:off x="7818119" y="4224528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Shape 55"/>
          <p:cNvSpPr/>
          <p:nvPr/>
        </p:nvSpPr>
        <p:spPr>
          <a:xfrm>
            <a:off x="8293607" y="4224528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" name="Shape 56"/>
          <p:cNvSpPr/>
          <p:nvPr/>
        </p:nvSpPr>
        <p:spPr>
          <a:xfrm>
            <a:off x="8769095" y="4224528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Shape 57"/>
          <p:cNvSpPr/>
          <p:nvPr/>
        </p:nvSpPr>
        <p:spPr>
          <a:xfrm>
            <a:off x="9244583" y="4224528"/>
            <a:ext cx="475488" cy="475488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" name="Shape 58"/>
          <p:cNvSpPr/>
          <p:nvPr/>
        </p:nvSpPr>
        <p:spPr>
          <a:xfrm>
            <a:off x="9720071" y="4224528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Shape 59"/>
          <p:cNvSpPr/>
          <p:nvPr/>
        </p:nvSpPr>
        <p:spPr>
          <a:xfrm>
            <a:off x="10195559" y="4224528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0" name="Shape 60"/>
          <p:cNvSpPr/>
          <p:nvPr/>
        </p:nvSpPr>
        <p:spPr>
          <a:xfrm>
            <a:off x="10671047" y="4224528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Shape 61"/>
          <p:cNvSpPr/>
          <p:nvPr/>
        </p:nvSpPr>
        <p:spPr>
          <a:xfrm>
            <a:off x="11146535" y="4224528"/>
            <a:ext cx="475488" cy="475488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Shape 62"/>
          <p:cNvSpPr/>
          <p:nvPr/>
        </p:nvSpPr>
        <p:spPr>
          <a:xfrm>
            <a:off x="7818119" y="4700015"/>
            <a:ext cx="475488" cy="475488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Shape 63"/>
          <p:cNvSpPr/>
          <p:nvPr/>
        </p:nvSpPr>
        <p:spPr>
          <a:xfrm>
            <a:off x="8293607" y="4700015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Shape 64"/>
          <p:cNvSpPr/>
          <p:nvPr/>
        </p:nvSpPr>
        <p:spPr>
          <a:xfrm>
            <a:off x="8769095" y="4700015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Shape 65"/>
          <p:cNvSpPr/>
          <p:nvPr/>
        </p:nvSpPr>
        <p:spPr>
          <a:xfrm>
            <a:off x="9244583" y="4700015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Shape 66"/>
          <p:cNvSpPr/>
          <p:nvPr/>
        </p:nvSpPr>
        <p:spPr>
          <a:xfrm>
            <a:off x="9720071" y="4700015"/>
            <a:ext cx="475488" cy="475488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Shape 67"/>
          <p:cNvSpPr/>
          <p:nvPr/>
        </p:nvSpPr>
        <p:spPr>
          <a:xfrm>
            <a:off x="10195559" y="4700015"/>
            <a:ext cx="475488" cy="475488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Shape 68"/>
          <p:cNvSpPr/>
          <p:nvPr/>
        </p:nvSpPr>
        <p:spPr>
          <a:xfrm>
            <a:off x="10671047" y="4700015"/>
            <a:ext cx="475488" cy="475488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Shape 69"/>
          <p:cNvSpPr/>
          <p:nvPr/>
        </p:nvSpPr>
        <p:spPr>
          <a:xfrm>
            <a:off x="11146535" y="4700015"/>
            <a:ext cx="475488" cy="475488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0" name="pasted-movie.png" descr="pasted-movie.png"/>
          <p:cNvPicPr>
            <a:picLocks noChangeAspect="1"/>
          </p:cNvPicPr>
          <p:nvPr/>
        </p:nvPicPr>
        <p:blipFill>
          <a:blip r:embed="rId3">
            <a:alphaModFix amt="25750"/>
            <a:extLst/>
          </a:blip>
          <a:stretch>
            <a:fillRect/>
          </a:stretch>
        </p:blipFill>
        <p:spPr>
          <a:xfrm>
            <a:off x="5463997" y="1352675"/>
            <a:ext cx="2834373" cy="37791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ROTEIRO</a:t>
            </a:r>
          </a:p>
        </p:txBody>
      </p:sp>
      <p:sp>
        <p:nvSpPr>
          <p:cNvPr id="95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 que vamos fazer hoje</a:t>
            </a:r>
          </a:p>
        </p:txBody>
      </p:sp>
      <p:sp>
        <p:nvSpPr>
          <p:cNvPr id="96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97" name="Shape 3"/>
          <p:cNvSpPr/>
          <p:nvPr/>
        </p:nvSpPr>
        <p:spPr>
          <a:xfrm>
            <a:off x="640080" y="1719072"/>
            <a:ext cx="292609" cy="292609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5"/>
          <p:cNvSpPr txBox="1"/>
          <p:nvPr/>
        </p:nvSpPr>
        <p:spPr>
          <a:xfrm>
            <a:off x="2377439" y="1745953"/>
            <a:ext cx="777240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De onde veio a ideia de atenção, e por que ela mudou a computação</a:t>
            </a:r>
          </a:p>
        </p:txBody>
      </p:sp>
      <p:sp>
        <p:nvSpPr>
          <p:cNvPr id="99" name="Shape 6"/>
          <p:cNvSpPr/>
          <p:nvPr/>
        </p:nvSpPr>
        <p:spPr>
          <a:xfrm>
            <a:off x="640080" y="2340864"/>
            <a:ext cx="292609" cy="292609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Text 7"/>
          <p:cNvSpPr txBox="1"/>
          <p:nvPr/>
        </p:nvSpPr>
        <p:spPr>
          <a:xfrm>
            <a:off x="1143000" y="2393889"/>
            <a:ext cx="118872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2F5D8A"/>
                </a:solidFill>
              </a:defRPr>
            </a:lvl1pPr>
          </a:lstStyle>
          <a:p>
            <a:pPr/>
            <a:r>
              <a:t>Parte 1</a:t>
            </a:r>
          </a:p>
        </p:txBody>
      </p:sp>
      <p:sp>
        <p:nvSpPr>
          <p:cNvPr id="101" name="Text 8"/>
          <p:cNvSpPr txBox="1"/>
          <p:nvPr/>
        </p:nvSpPr>
        <p:spPr>
          <a:xfrm>
            <a:off x="2377439" y="2367745"/>
            <a:ext cx="777240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B1B1B"/>
                </a:solidFill>
              </a:defRPr>
            </a:lvl1pPr>
          </a:lstStyle>
          <a:p>
            <a:pPr/>
            <a:r>
              <a:t>Fazer a atenção passo a passo, num exemplo de três palavras</a:t>
            </a:r>
          </a:p>
        </p:txBody>
      </p:sp>
      <p:sp>
        <p:nvSpPr>
          <p:cNvPr id="102" name="Shape 9"/>
          <p:cNvSpPr/>
          <p:nvPr/>
        </p:nvSpPr>
        <p:spPr>
          <a:xfrm>
            <a:off x="640080" y="2962655"/>
            <a:ext cx="292609" cy="292609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ext 11"/>
          <p:cNvSpPr txBox="1"/>
          <p:nvPr/>
        </p:nvSpPr>
        <p:spPr>
          <a:xfrm>
            <a:off x="2377439" y="2989537"/>
            <a:ext cx="777240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Como a atenção vira um Transformer</a:t>
            </a:r>
          </a:p>
        </p:txBody>
      </p:sp>
      <p:sp>
        <p:nvSpPr>
          <p:cNvPr id="104" name="Shape 12"/>
          <p:cNvSpPr/>
          <p:nvPr/>
        </p:nvSpPr>
        <p:spPr>
          <a:xfrm>
            <a:off x="640080" y="3584447"/>
            <a:ext cx="292609" cy="292609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5" name="Text 13"/>
          <p:cNvSpPr txBox="1"/>
          <p:nvPr/>
        </p:nvSpPr>
        <p:spPr>
          <a:xfrm>
            <a:off x="1143000" y="3637474"/>
            <a:ext cx="118872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2F5D8A"/>
                </a:solidFill>
              </a:defRPr>
            </a:lvl1pPr>
          </a:lstStyle>
          <a:p>
            <a:pPr/>
            <a:r>
              <a:t>Parte 2</a:t>
            </a:r>
          </a:p>
        </p:txBody>
      </p:sp>
      <p:sp>
        <p:nvSpPr>
          <p:cNvPr id="106" name="Text 14"/>
          <p:cNvSpPr txBox="1"/>
          <p:nvPr/>
        </p:nvSpPr>
        <p:spPr>
          <a:xfrm>
            <a:off x="2377439" y="3611329"/>
            <a:ext cx="777240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B1B1B"/>
                </a:solidFill>
              </a:defRPr>
            </a:lvl1pPr>
          </a:lstStyle>
          <a:p>
            <a:pPr/>
            <a:r>
              <a:t>Montar o Transformer e ensiná-lo a ordenar números</a:t>
            </a:r>
          </a:p>
        </p:txBody>
      </p:sp>
      <p:sp>
        <p:nvSpPr>
          <p:cNvPr id="107" name="Shape 15"/>
          <p:cNvSpPr/>
          <p:nvPr/>
        </p:nvSpPr>
        <p:spPr>
          <a:xfrm>
            <a:off x="640080" y="4206240"/>
            <a:ext cx="292609" cy="292609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Text 17"/>
          <p:cNvSpPr txBox="1"/>
          <p:nvPr/>
        </p:nvSpPr>
        <p:spPr>
          <a:xfrm>
            <a:off x="2377439" y="4233121"/>
            <a:ext cx="777240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Intervalo</a:t>
            </a:r>
          </a:p>
        </p:txBody>
      </p:sp>
      <p:sp>
        <p:nvSpPr>
          <p:cNvPr id="109" name="Shape 18"/>
          <p:cNvSpPr/>
          <p:nvPr/>
        </p:nvSpPr>
        <p:spPr>
          <a:xfrm>
            <a:off x="640080" y="4828032"/>
            <a:ext cx="292609" cy="292609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Text 19"/>
          <p:cNvSpPr txBox="1"/>
          <p:nvPr/>
        </p:nvSpPr>
        <p:spPr>
          <a:xfrm>
            <a:off x="1143000" y="4881057"/>
            <a:ext cx="118872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2F5D8A"/>
                </a:solidFill>
              </a:defRPr>
            </a:lvl1pPr>
          </a:lstStyle>
          <a:p>
            <a:pPr/>
            <a:r>
              <a:t>Parte 3</a:t>
            </a:r>
          </a:p>
        </p:txBody>
      </p:sp>
      <p:sp>
        <p:nvSpPr>
          <p:cNvPr id="111" name="Text 20"/>
          <p:cNvSpPr txBox="1"/>
          <p:nvPr/>
        </p:nvSpPr>
        <p:spPr>
          <a:xfrm>
            <a:off x="2377439" y="4854913"/>
            <a:ext cx="777240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B1B1B"/>
                </a:solidFill>
              </a:defRPr>
            </a:lvl1pPr>
          </a:lstStyle>
          <a:p>
            <a:pPr/>
            <a:r>
              <a:t>Treinar um modelo de xadrez e jogar contra ele</a:t>
            </a:r>
          </a:p>
        </p:txBody>
      </p:sp>
      <p:sp>
        <p:nvSpPr>
          <p:cNvPr id="112" name="Text 21"/>
          <p:cNvSpPr txBox="1"/>
          <p:nvPr/>
        </p:nvSpPr>
        <p:spPr>
          <a:xfrm>
            <a:off x="640080" y="5669279"/>
            <a:ext cx="10515601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700">
                <a:solidFill>
                  <a:srgbClr val="5F5F5F"/>
                </a:solidFill>
              </a:defRPr>
            </a:lvl1pPr>
          </a:lstStyle>
          <a:p>
            <a:pPr/>
            <a:r>
              <a:t>Ninguém precisa saber nada de inteligência artificial, nem de xadrez.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MOTIVAÇÃO</a:t>
            </a:r>
          </a:p>
        </p:txBody>
      </p:sp>
      <p:sp>
        <p:nvSpPr>
          <p:cNvPr id="117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Onde vamos chegar</a:t>
            </a:r>
          </a:p>
        </p:txBody>
      </p:sp>
      <p:sp>
        <p:nvSpPr>
          <p:cNvPr id="118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19" name="Shape 3"/>
          <p:cNvSpPr/>
          <p:nvPr/>
        </p:nvSpPr>
        <p:spPr>
          <a:xfrm>
            <a:off x="640079" y="1600200"/>
            <a:ext cx="5852162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4"/>
          <p:cNvSpPr txBox="1"/>
          <p:nvPr/>
        </p:nvSpPr>
        <p:spPr>
          <a:xfrm>
            <a:off x="960119" y="1874520"/>
            <a:ext cx="5394962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;1.e4 e5 2.Nf3 Nc6 3.Bb5 a6</a:t>
            </a:r>
          </a:p>
          <a:p>
            <a:pPr>
              <a:spcBef>
                <a:spcPts val="600"/>
              </a:spcBef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4.Ba4 Nf6 5.O-O Be7 6.Re1 b5</a:t>
            </a:r>
          </a:p>
          <a:p>
            <a:pPr>
              <a:spcBef>
                <a:spcPts val="600"/>
              </a:spcBef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7.Bb3 d6 8.c3 O-O 9.h3 </a:t>
            </a:r>
            <a:r>
              <a:rPr b="1">
                <a:solidFill>
                  <a:srgbClr val="9E2A2B"/>
                </a:solidFill>
              </a:rPr>
              <a:t>Nb8</a:t>
            </a:r>
          </a:p>
        </p:txBody>
      </p:sp>
      <p:sp>
        <p:nvSpPr>
          <p:cNvPr id="121" name="Text 5"/>
          <p:cNvSpPr txBox="1"/>
          <p:nvPr/>
        </p:nvSpPr>
        <p:spPr>
          <a:xfrm>
            <a:off x="960119" y="3337559"/>
            <a:ext cx="530352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F5F5F"/>
                </a:solidFill>
              </a:defRPr>
            </a:lvl1pPr>
          </a:lstStyle>
          <a:p>
            <a:pPr/>
            <a:r>
              <a:t>O modelo lê apenas o texto e prevê o próximo caractere.</a:t>
            </a:r>
          </a:p>
        </p:txBody>
      </p:sp>
      <p:sp>
        <p:nvSpPr>
          <p:cNvPr id="122" name="Shape 6"/>
          <p:cNvSpPr/>
          <p:nvPr/>
        </p:nvSpPr>
        <p:spPr>
          <a:xfrm>
            <a:off x="6720840" y="3200400"/>
            <a:ext cx="640081" cy="0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Shape 7"/>
          <p:cNvSpPr/>
          <p:nvPr/>
        </p:nvSpPr>
        <p:spPr>
          <a:xfrm>
            <a:off x="7589519" y="160020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Shape 8"/>
          <p:cNvSpPr/>
          <p:nvPr/>
        </p:nvSpPr>
        <p:spPr>
          <a:xfrm>
            <a:off x="7991856" y="1600200"/>
            <a:ext cx="402337" cy="402337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Shape 9"/>
          <p:cNvSpPr/>
          <p:nvPr/>
        </p:nvSpPr>
        <p:spPr>
          <a:xfrm>
            <a:off x="8394192" y="160020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6" name="Shape 10"/>
          <p:cNvSpPr/>
          <p:nvPr/>
        </p:nvSpPr>
        <p:spPr>
          <a:xfrm>
            <a:off x="8796528" y="160020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Shape 11"/>
          <p:cNvSpPr/>
          <p:nvPr/>
        </p:nvSpPr>
        <p:spPr>
          <a:xfrm>
            <a:off x="9198864" y="160020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Shape 12"/>
          <p:cNvSpPr/>
          <p:nvPr/>
        </p:nvSpPr>
        <p:spPr>
          <a:xfrm>
            <a:off x="9601200" y="160020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Shape 13"/>
          <p:cNvSpPr/>
          <p:nvPr/>
        </p:nvSpPr>
        <p:spPr>
          <a:xfrm>
            <a:off x="10003535" y="160020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Shape 14"/>
          <p:cNvSpPr/>
          <p:nvPr/>
        </p:nvSpPr>
        <p:spPr>
          <a:xfrm>
            <a:off x="10405871" y="160020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1" name="Shape 15"/>
          <p:cNvSpPr/>
          <p:nvPr/>
        </p:nvSpPr>
        <p:spPr>
          <a:xfrm>
            <a:off x="7589519" y="200253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16"/>
          <p:cNvSpPr/>
          <p:nvPr/>
        </p:nvSpPr>
        <p:spPr>
          <a:xfrm>
            <a:off x="7991856" y="200253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Shape 17"/>
          <p:cNvSpPr/>
          <p:nvPr/>
        </p:nvSpPr>
        <p:spPr>
          <a:xfrm>
            <a:off x="8394192" y="200253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Shape 18"/>
          <p:cNvSpPr/>
          <p:nvPr/>
        </p:nvSpPr>
        <p:spPr>
          <a:xfrm>
            <a:off x="8796528" y="200253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5" name="Shape 19"/>
          <p:cNvSpPr/>
          <p:nvPr/>
        </p:nvSpPr>
        <p:spPr>
          <a:xfrm>
            <a:off x="9198864" y="200253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Shape 20"/>
          <p:cNvSpPr/>
          <p:nvPr/>
        </p:nvSpPr>
        <p:spPr>
          <a:xfrm>
            <a:off x="9601200" y="200253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Shape 21"/>
          <p:cNvSpPr/>
          <p:nvPr/>
        </p:nvSpPr>
        <p:spPr>
          <a:xfrm>
            <a:off x="10003535" y="200253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Shape 22"/>
          <p:cNvSpPr/>
          <p:nvPr/>
        </p:nvSpPr>
        <p:spPr>
          <a:xfrm>
            <a:off x="10405871" y="200253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23"/>
          <p:cNvSpPr/>
          <p:nvPr/>
        </p:nvSpPr>
        <p:spPr>
          <a:xfrm>
            <a:off x="7589519" y="240487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Shape 24"/>
          <p:cNvSpPr/>
          <p:nvPr/>
        </p:nvSpPr>
        <p:spPr>
          <a:xfrm>
            <a:off x="7991856" y="240487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1" name="Shape 25"/>
          <p:cNvSpPr/>
          <p:nvPr/>
        </p:nvSpPr>
        <p:spPr>
          <a:xfrm>
            <a:off x="8394192" y="2404872"/>
            <a:ext cx="402337" cy="402337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2" name="Shape 26"/>
          <p:cNvSpPr/>
          <p:nvPr/>
        </p:nvSpPr>
        <p:spPr>
          <a:xfrm>
            <a:off x="8796528" y="240487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Shape 27"/>
          <p:cNvSpPr/>
          <p:nvPr/>
        </p:nvSpPr>
        <p:spPr>
          <a:xfrm>
            <a:off x="9198864" y="240487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Shape 28"/>
          <p:cNvSpPr/>
          <p:nvPr/>
        </p:nvSpPr>
        <p:spPr>
          <a:xfrm>
            <a:off x="9601200" y="240487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Shape 29"/>
          <p:cNvSpPr/>
          <p:nvPr/>
        </p:nvSpPr>
        <p:spPr>
          <a:xfrm>
            <a:off x="10003535" y="240487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6" name="Shape 30"/>
          <p:cNvSpPr/>
          <p:nvPr/>
        </p:nvSpPr>
        <p:spPr>
          <a:xfrm>
            <a:off x="10405871" y="240487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Shape 31"/>
          <p:cNvSpPr/>
          <p:nvPr/>
        </p:nvSpPr>
        <p:spPr>
          <a:xfrm>
            <a:off x="7589519" y="280720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Shape 32"/>
          <p:cNvSpPr/>
          <p:nvPr/>
        </p:nvSpPr>
        <p:spPr>
          <a:xfrm>
            <a:off x="7991856" y="280720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Shape 33"/>
          <p:cNvSpPr/>
          <p:nvPr/>
        </p:nvSpPr>
        <p:spPr>
          <a:xfrm>
            <a:off x="8394192" y="280720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Shape 34"/>
          <p:cNvSpPr/>
          <p:nvPr/>
        </p:nvSpPr>
        <p:spPr>
          <a:xfrm>
            <a:off x="8796528" y="280720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Shape 35"/>
          <p:cNvSpPr/>
          <p:nvPr/>
        </p:nvSpPr>
        <p:spPr>
          <a:xfrm>
            <a:off x="9198864" y="280720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Shape 36"/>
          <p:cNvSpPr/>
          <p:nvPr/>
        </p:nvSpPr>
        <p:spPr>
          <a:xfrm>
            <a:off x="9601200" y="280720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Shape 37"/>
          <p:cNvSpPr/>
          <p:nvPr/>
        </p:nvSpPr>
        <p:spPr>
          <a:xfrm>
            <a:off x="10003535" y="280720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Shape 38"/>
          <p:cNvSpPr/>
          <p:nvPr/>
        </p:nvSpPr>
        <p:spPr>
          <a:xfrm>
            <a:off x="10405871" y="280720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Shape 39"/>
          <p:cNvSpPr/>
          <p:nvPr/>
        </p:nvSpPr>
        <p:spPr>
          <a:xfrm>
            <a:off x="7589519" y="3209544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Shape 40"/>
          <p:cNvSpPr/>
          <p:nvPr/>
        </p:nvSpPr>
        <p:spPr>
          <a:xfrm>
            <a:off x="7991856" y="3209544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Shape 41"/>
          <p:cNvSpPr/>
          <p:nvPr/>
        </p:nvSpPr>
        <p:spPr>
          <a:xfrm>
            <a:off x="8394192" y="3209544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Shape 42"/>
          <p:cNvSpPr/>
          <p:nvPr/>
        </p:nvSpPr>
        <p:spPr>
          <a:xfrm>
            <a:off x="8796528" y="3209544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Shape 43"/>
          <p:cNvSpPr/>
          <p:nvPr/>
        </p:nvSpPr>
        <p:spPr>
          <a:xfrm>
            <a:off x="9198864" y="3209544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Shape 44"/>
          <p:cNvSpPr/>
          <p:nvPr/>
        </p:nvSpPr>
        <p:spPr>
          <a:xfrm>
            <a:off x="9601200" y="3209544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Shape 45"/>
          <p:cNvSpPr/>
          <p:nvPr/>
        </p:nvSpPr>
        <p:spPr>
          <a:xfrm>
            <a:off x="10003535" y="3209544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Shape 46"/>
          <p:cNvSpPr/>
          <p:nvPr/>
        </p:nvSpPr>
        <p:spPr>
          <a:xfrm>
            <a:off x="10405871" y="3209544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Shape 47"/>
          <p:cNvSpPr/>
          <p:nvPr/>
        </p:nvSpPr>
        <p:spPr>
          <a:xfrm>
            <a:off x="7589519" y="3611879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Shape 48"/>
          <p:cNvSpPr/>
          <p:nvPr/>
        </p:nvSpPr>
        <p:spPr>
          <a:xfrm>
            <a:off x="7991856" y="3611879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5" name="Shape 49"/>
          <p:cNvSpPr/>
          <p:nvPr/>
        </p:nvSpPr>
        <p:spPr>
          <a:xfrm>
            <a:off x="8394192" y="3611879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Shape 50"/>
          <p:cNvSpPr/>
          <p:nvPr/>
        </p:nvSpPr>
        <p:spPr>
          <a:xfrm>
            <a:off x="8796528" y="3611879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Shape 51"/>
          <p:cNvSpPr/>
          <p:nvPr/>
        </p:nvSpPr>
        <p:spPr>
          <a:xfrm>
            <a:off x="9198864" y="3611879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" name="Shape 52"/>
          <p:cNvSpPr/>
          <p:nvPr/>
        </p:nvSpPr>
        <p:spPr>
          <a:xfrm>
            <a:off x="9601200" y="3611879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Shape 53"/>
          <p:cNvSpPr/>
          <p:nvPr/>
        </p:nvSpPr>
        <p:spPr>
          <a:xfrm>
            <a:off x="10003535" y="3611879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Shape 54"/>
          <p:cNvSpPr/>
          <p:nvPr/>
        </p:nvSpPr>
        <p:spPr>
          <a:xfrm>
            <a:off x="10405871" y="3611879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Shape 55"/>
          <p:cNvSpPr/>
          <p:nvPr/>
        </p:nvSpPr>
        <p:spPr>
          <a:xfrm>
            <a:off x="7589519" y="401421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Shape 56"/>
          <p:cNvSpPr/>
          <p:nvPr/>
        </p:nvSpPr>
        <p:spPr>
          <a:xfrm>
            <a:off x="7991856" y="401421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Shape 57"/>
          <p:cNvSpPr/>
          <p:nvPr/>
        </p:nvSpPr>
        <p:spPr>
          <a:xfrm>
            <a:off x="8394192" y="401421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Shape 58"/>
          <p:cNvSpPr/>
          <p:nvPr/>
        </p:nvSpPr>
        <p:spPr>
          <a:xfrm>
            <a:off x="8796528" y="401421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Shape 59"/>
          <p:cNvSpPr/>
          <p:nvPr/>
        </p:nvSpPr>
        <p:spPr>
          <a:xfrm>
            <a:off x="9198864" y="401421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Shape 60"/>
          <p:cNvSpPr/>
          <p:nvPr/>
        </p:nvSpPr>
        <p:spPr>
          <a:xfrm>
            <a:off x="9601200" y="401421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Shape 61"/>
          <p:cNvSpPr/>
          <p:nvPr/>
        </p:nvSpPr>
        <p:spPr>
          <a:xfrm>
            <a:off x="10003535" y="401421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Shape 62"/>
          <p:cNvSpPr/>
          <p:nvPr/>
        </p:nvSpPr>
        <p:spPr>
          <a:xfrm>
            <a:off x="10405871" y="401421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Shape 63"/>
          <p:cNvSpPr/>
          <p:nvPr/>
        </p:nvSpPr>
        <p:spPr>
          <a:xfrm>
            <a:off x="7589519" y="441655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0" name="Shape 64"/>
          <p:cNvSpPr/>
          <p:nvPr/>
        </p:nvSpPr>
        <p:spPr>
          <a:xfrm>
            <a:off x="7991856" y="441655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1" name="Shape 65"/>
          <p:cNvSpPr/>
          <p:nvPr/>
        </p:nvSpPr>
        <p:spPr>
          <a:xfrm>
            <a:off x="8394192" y="441655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66"/>
          <p:cNvSpPr/>
          <p:nvPr/>
        </p:nvSpPr>
        <p:spPr>
          <a:xfrm>
            <a:off x="8796528" y="441655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Shape 67"/>
          <p:cNvSpPr/>
          <p:nvPr/>
        </p:nvSpPr>
        <p:spPr>
          <a:xfrm>
            <a:off x="9198864" y="441655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Shape 68"/>
          <p:cNvSpPr/>
          <p:nvPr/>
        </p:nvSpPr>
        <p:spPr>
          <a:xfrm>
            <a:off x="9601200" y="441655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69"/>
          <p:cNvSpPr/>
          <p:nvPr/>
        </p:nvSpPr>
        <p:spPr>
          <a:xfrm>
            <a:off x="10003535" y="441655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Shape 70"/>
          <p:cNvSpPr/>
          <p:nvPr/>
        </p:nvSpPr>
        <p:spPr>
          <a:xfrm>
            <a:off x="10405871" y="441655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Shape 71"/>
          <p:cNvSpPr/>
          <p:nvPr/>
        </p:nvSpPr>
        <p:spPr>
          <a:xfrm>
            <a:off x="7589519" y="1600200"/>
            <a:ext cx="3218689" cy="3218689"/>
          </a:xfrm>
          <a:prstGeom prst="rect">
            <a:avLst/>
          </a:prstGeom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72"/>
          <p:cNvSpPr txBox="1"/>
          <p:nvPr/>
        </p:nvSpPr>
        <p:spPr>
          <a:xfrm>
            <a:off x="7589519" y="4937759"/>
            <a:ext cx="329184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400">
                <a:solidFill>
                  <a:srgbClr val="5F5F5F"/>
                </a:solidFill>
              </a:defRPr>
            </a:lvl1pPr>
          </a:lstStyle>
          <a:p>
            <a:pPr/>
            <a:r>
              <a:t>O tabuleiro nunca é mostrado ao modelo.</a:t>
            </a:r>
          </a:p>
        </p:txBody>
      </p:sp>
      <p:sp>
        <p:nvSpPr>
          <p:cNvPr id="189" name="Text 73"/>
          <p:cNvSpPr txBox="1"/>
          <p:nvPr/>
        </p:nvSpPr>
        <p:spPr>
          <a:xfrm>
            <a:off x="640080" y="5440679"/>
            <a:ext cx="1051560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Um Transformer montado por vocês, que aprende xadrez só lendo partidas.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PREPARAÇÃO</a:t>
            </a:r>
          </a:p>
        </p:txBody>
      </p:sp>
      <p:sp>
        <p:nvSpPr>
          <p:cNvPr id="194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Abrindo o notebook</a:t>
            </a:r>
          </a:p>
        </p:txBody>
      </p:sp>
      <p:sp>
        <p:nvSpPr>
          <p:cNvPr id="195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96" name="Text 3"/>
          <p:cNvSpPr txBox="1"/>
          <p:nvPr/>
        </p:nvSpPr>
        <p:spPr>
          <a:xfrm>
            <a:off x="640080" y="1645920"/>
            <a:ext cx="64008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97" name="Text 4"/>
          <p:cNvSpPr txBox="1"/>
          <p:nvPr/>
        </p:nvSpPr>
        <p:spPr>
          <a:xfrm>
            <a:off x="1463039" y="1691639"/>
            <a:ext cx="914400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Abra o link</a:t>
            </a:r>
          </a:p>
        </p:txBody>
      </p:sp>
      <p:sp>
        <p:nvSpPr>
          <p:cNvPr id="198" name="Text 5"/>
          <p:cNvSpPr txBox="1"/>
          <p:nvPr/>
        </p:nvSpPr>
        <p:spPr>
          <a:xfrm>
            <a:off x="1463039" y="2075688"/>
            <a:ext cx="1024128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colab.research.google.com/github/giovannibragasv/transformer-do-zero/blob/main/workshop_aluno.ipynb</a:t>
            </a:r>
          </a:p>
        </p:txBody>
      </p:sp>
      <p:sp>
        <p:nvSpPr>
          <p:cNvPr id="199" name="Text 6"/>
          <p:cNvSpPr txBox="1"/>
          <p:nvPr/>
        </p:nvSpPr>
        <p:spPr>
          <a:xfrm>
            <a:off x="640080" y="2670048"/>
            <a:ext cx="64008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00" name="Text 7"/>
          <p:cNvSpPr txBox="1"/>
          <p:nvPr/>
        </p:nvSpPr>
        <p:spPr>
          <a:xfrm>
            <a:off x="1463039" y="2715767"/>
            <a:ext cx="914400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Salve uma cópia</a:t>
            </a:r>
          </a:p>
        </p:txBody>
      </p:sp>
      <p:sp>
        <p:nvSpPr>
          <p:cNvPr id="201" name="Text 8"/>
          <p:cNvSpPr txBox="1"/>
          <p:nvPr/>
        </p:nvSpPr>
        <p:spPr>
          <a:xfrm>
            <a:off x="1463039" y="3099816"/>
            <a:ext cx="102412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Arquivo &gt; Salvar uma cópia no Drive</a:t>
            </a:r>
          </a:p>
        </p:txBody>
      </p:sp>
      <p:sp>
        <p:nvSpPr>
          <p:cNvPr id="202" name="Text 9"/>
          <p:cNvSpPr txBox="1"/>
          <p:nvPr/>
        </p:nvSpPr>
        <p:spPr>
          <a:xfrm>
            <a:off x="640080" y="3694176"/>
            <a:ext cx="64008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03" name="Text 10"/>
          <p:cNvSpPr txBox="1"/>
          <p:nvPr/>
        </p:nvSpPr>
        <p:spPr>
          <a:xfrm>
            <a:off x="1463039" y="3739896"/>
            <a:ext cx="91440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Ative a GPU</a:t>
            </a:r>
          </a:p>
        </p:txBody>
      </p:sp>
      <p:sp>
        <p:nvSpPr>
          <p:cNvPr id="204" name="Text 11"/>
          <p:cNvSpPr txBox="1"/>
          <p:nvPr/>
        </p:nvSpPr>
        <p:spPr>
          <a:xfrm>
            <a:off x="1463039" y="4123944"/>
            <a:ext cx="102412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Ambiente de execução &gt; Alterar o tipo de ambiente &gt; T4 GPU</a:t>
            </a:r>
          </a:p>
        </p:txBody>
      </p:sp>
      <p:sp>
        <p:nvSpPr>
          <p:cNvPr id="205" name="Text 12"/>
          <p:cNvSpPr txBox="1"/>
          <p:nvPr/>
        </p:nvSpPr>
        <p:spPr>
          <a:xfrm>
            <a:off x="640080" y="4718303"/>
            <a:ext cx="64008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06" name="Text 13"/>
          <p:cNvSpPr txBox="1"/>
          <p:nvPr/>
        </p:nvSpPr>
        <p:spPr>
          <a:xfrm>
            <a:off x="1463039" y="4764023"/>
            <a:ext cx="914400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Execute as células da seção 0</a:t>
            </a:r>
          </a:p>
        </p:txBody>
      </p:sp>
      <p:sp>
        <p:nvSpPr>
          <p:cNvPr id="207" name="Text 14"/>
          <p:cNvSpPr txBox="1"/>
          <p:nvPr/>
        </p:nvSpPr>
        <p:spPr>
          <a:xfrm>
            <a:off x="1463039" y="5148071"/>
            <a:ext cx="102412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Clique na célula e aperte Shift + Enter. A segunda deve imprimir: Dispositivo: cuda</a:t>
            </a:r>
          </a:p>
        </p:txBody>
      </p:sp>
      <p:sp>
        <p:nvSpPr>
          <p:cNvPr id="208" name="Text 15"/>
          <p:cNvSpPr txBox="1"/>
          <p:nvPr/>
        </p:nvSpPr>
        <p:spPr>
          <a:xfrm>
            <a:off x="640080" y="5897879"/>
            <a:ext cx="100584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400">
                <a:solidFill>
                  <a:srgbClr val="5F5F5F"/>
                </a:solidFill>
              </a:defRPr>
            </a:lvl1pPr>
          </a:lstStyle>
          <a:p>
            <a:pPr/>
            <a:r>
              <a:t>Você só precisa de um navegador e de uma conta Google.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HISTÓRIA</a:t>
            </a:r>
          </a:p>
        </p:txBody>
      </p:sp>
      <p:sp>
        <p:nvSpPr>
          <p:cNvPr id="213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Uma ideia de 2017 que mudou a computação</a:t>
            </a:r>
          </a:p>
        </p:txBody>
      </p:sp>
      <p:sp>
        <p:nvSpPr>
          <p:cNvPr id="214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15" name="Shape 3"/>
          <p:cNvSpPr/>
          <p:nvPr/>
        </p:nvSpPr>
        <p:spPr>
          <a:xfrm>
            <a:off x="914400" y="2377439"/>
            <a:ext cx="9144000" cy="1"/>
          </a:xfrm>
          <a:prstGeom prst="line">
            <a:avLst/>
          </a:prstGeom>
          <a:ln w="25400"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6" name="Shape 4"/>
          <p:cNvSpPr/>
          <p:nvPr/>
        </p:nvSpPr>
        <p:spPr>
          <a:xfrm>
            <a:off x="786383" y="2249423"/>
            <a:ext cx="256033" cy="256033"/>
          </a:xfrm>
          <a:prstGeom prst="ellipse">
            <a:avLst/>
          </a:prstGeom>
          <a:solidFill>
            <a:srgbClr val="9E2A2B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Text 5"/>
          <p:cNvSpPr txBox="1"/>
          <p:nvPr/>
        </p:nvSpPr>
        <p:spPr>
          <a:xfrm>
            <a:off x="365759" y="1691639"/>
            <a:ext cx="1463042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2017</a:t>
            </a:r>
          </a:p>
        </p:txBody>
      </p:sp>
      <p:sp>
        <p:nvSpPr>
          <p:cNvPr id="218" name="Text 6"/>
          <p:cNvSpPr txBox="1"/>
          <p:nvPr/>
        </p:nvSpPr>
        <p:spPr>
          <a:xfrm>
            <a:off x="822960" y="2697479"/>
            <a:ext cx="2057401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O Google publica Attention Is All You Need</a:t>
            </a:r>
          </a:p>
        </p:txBody>
      </p:sp>
      <p:sp>
        <p:nvSpPr>
          <p:cNvPr id="219" name="Shape 7"/>
          <p:cNvSpPr/>
          <p:nvPr/>
        </p:nvSpPr>
        <p:spPr>
          <a:xfrm>
            <a:off x="3026664" y="2249423"/>
            <a:ext cx="256033" cy="256033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Text 8"/>
          <p:cNvSpPr txBox="1"/>
          <p:nvPr/>
        </p:nvSpPr>
        <p:spPr>
          <a:xfrm>
            <a:off x="2606039" y="1691639"/>
            <a:ext cx="1463042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2018</a:t>
            </a:r>
          </a:p>
        </p:txBody>
      </p:sp>
      <p:sp>
        <p:nvSpPr>
          <p:cNvPr id="221" name="Text 9"/>
          <p:cNvSpPr txBox="1"/>
          <p:nvPr/>
        </p:nvSpPr>
        <p:spPr>
          <a:xfrm>
            <a:off x="3063239" y="2697479"/>
            <a:ext cx="2057401" cy="643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Surgem os primeiros GPT e BERT, ambos Transformers</a:t>
            </a:r>
          </a:p>
        </p:txBody>
      </p:sp>
      <p:sp>
        <p:nvSpPr>
          <p:cNvPr id="222" name="Shape 10"/>
          <p:cNvSpPr/>
          <p:nvPr/>
        </p:nvSpPr>
        <p:spPr>
          <a:xfrm>
            <a:off x="5266944" y="2249423"/>
            <a:ext cx="256033" cy="256033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Text 11"/>
          <p:cNvSpPr txBox="1"/>
          <p:nvPr/>
        </p:nvSpPr>
        <p:spPr>
          <a:xfrm>
            <a:off x="4846320" y="1691639"/>
            <a:ext cx="146304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2020</a:t>
            </a:r>
          </a:p>
        </p:txBody>
      </p:sp>
      <p:sp>
        <p:nvSpPr>
          <p:cNvPr id="224" name="Text 12"/>
          <p:cNvSpPr txBox="1"/>
          <p:nvPr/>
        </p:nvSpPr>
        <p:spPr>
          <a:xfrm>
            <a:off x="5303520" y="2697479"/>
            <a:ext cx="2057401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GPT-3. A atenção chega às imagens e às proteínas</a:t>
            </a:r>
          </a:p>
        </p:txBody>
      </p:sp>
      <p:sp>
        <p:nvSpPr>
          <p:cNvPr id="225" name="Shape 13"/>
          <p:cNvSpPr/>
          <p:nvPr/>
        </p:nvSpPr>
        <p:spPr>
          <a:xfrm>
            <a:off x="7507223" y="2249423"/>
            <a:ext cx="256033" cy="256033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6" name="Text 14"/>
          <p:cNvSpPr txBox="1"/>
          <p:nvPr/>
        </p:nvSpPr>
        <p:spPr>
          <a:xfrm>
            <a:off x="7086600" y="1691639"/>
            <a:ext cx="146304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2022</a:t>
            </a:r>
          </a:p>
        </p:txBody>
      </p:sp>
      <p:sp>
        <p:nvSpPr>
          <p:cNvPr id="227" name="Text 15"/>
          <p:cNvSpPr txBox="1"/>
          <p:nvPr/>
        </p:nvSpPr>
        <p:spPr>
          <a:xfrm>
            <a:off x="7543800" y="2697479"/>
            <a:ext cx="2057400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ChatGPT: 100 milhões de usuários em dois meses</a:t>
            </a:r>
          </a:p>
        </p:txBody>
      </p:sp>
      <p:sp>
        <p:nvSpPr>
          <p:cNvPr id="228" name="Shape 16"/>
          <p:cNvSpPr/>
          <p:nvPr/>
        </p:nvSpPr>
        <p:spPr>
          <a:xfrm>
            <a:off x="9747504" y="2249423"/>
            <a:ext cx="256033" cy="256033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Text 17"/>
          <p:cNvSpPr txBox="1"/>
          <p:nvPr/>
        </p:nvSpPr>
        <p:spPr>
          <a:xfrm>
            <a:off x="9326880" y="1691639"/>
            <a:ext cx="146304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Hoje</a:t>
            </a:r>
          </a:p>
        </p:txBody>
      </p:sp>
      <p:sp>
        <p:nvSpPr>
          <p:cNvPr id="230" name="Text 18"/>
          <p:cNvSpPr txBox="1"/>
          <p:nvPr/>
        </p:nvSpPr>
        <p:spPr>
          <a:xfrm>
            <a:off x="9784080" y="2697479"/>
            <a:ext cx="2057401" cy="643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ChatGPT, Claude, Gemini, Copilot. Nobel de 2024 para o AlphaFold</a:t>
            </a:r>
          </a:p>
        </p:txBody>
      </p:sp>
      <p:sp>
        <p:nvSpPr>
          <p:cNvPr id="231" name="Shape 19"/>
          <p:cNvSpPr/>
          <p:nvPr/>
        </p:nvSpPr>
        <p:spPr>
          <a:xfrm>
            <a:off x="640079" y="4572000"/>
            <a:ext cx="10911537" cy="109728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2" name="Text 20"/>
          <p:cNvSpPr txBox="1"/>
          <p:nvPr/>
        </p:nvSpPr>
        <p:spPr>
          <a:xfrm>
            <a:off x="914399" y="4942840"/>
            <a:ext cx="10362897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O "T" de ChatGPT significa </a:t>
            </a:r>
            <a:r>
              <a:rPr>
                <a:solidFill>
                  <a:srgbClr val="9E2A2B"/>
                </a:solidFill>
              </a:rPr>
              <a:t>Transformer</a:t>
            </a:r>
            <a:r>
              <a:t>. É ele que vamos construir hoje.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HISTÓRIA</a:t>
            </a:r>
          </a:p>
        </p:txBody>
      </p:sp>
      <p:sp>
        <p:nvSpPr>
          <p:cNvPr id="237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Antes de 2017: ler uma palavra de cada vez</a:t>
            </a:r>
          </a:p>
        </p:txBody>
      </p:sp>
      <p:sp>
        <p:nvSpPr>
          <p:cNvPr id="238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239" name="Shape 3"/>
          <p:cNvSpPr/>
          <p:nvPr/>
        </p:nvSpPr>
        <p:spPr>
          <a:xfrm>
            <a:off x="640080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0" name="Text 4"/>
          <p:cNvSpPr txBox="1"/>
          <p:nvPr/>
        </p:nvSpPr>
        <p:spPr>
          <a:xfrm>
            <a:off x="640080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241" name="Shape 5"/>
          <p:cNvSpPr/>
          <p:nvPr/>
        </p:nvSpPr>
        <p:spPr>
          <a:xfrm>
            <a:off x="1742206" y="1737360"/>
            <a:ext cx="992398" cy="640081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6"/>
          <p:cNvSpPr txBox="1"/>
          <p:nvPr/>
        </p:nvSpPr>
        <p:spPr>
          <a:xfrm>
            <a:off x="1742206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1B1B1B"/>
                </a:solidFill>
              </a:defRPr>
            </a:lvl1pPr>
          </a:lstStyle>
          <a:p>
            <a:pPr/>
            <a:r>
              <a:t>gato</a:t>
            </a:r>
          </a:p>
        </p:txBody>
      </p:sp>
      <p:sp>
        <p:nvSpPr>
          <p:cNvPr id="243" name="Shape 7"/>
          <p:cNvSpPr/>
          <p:nvPr/>
        </p:nvSpPr>
        <p:spPr>
          <a:xfrm>
            <a:off x="2844332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Text 8"/>
          <p:cNvSpPr txBox="1"/>
          <p:nvPr/>
        </p:nvSpPr>
        <p:spPr>
          <a:xfrm>
            <a:off x="2844332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subiu</a:t>
            </a:r>
          </a:p>
        </p:txBody>
      </p:sp>
      <p:sp>
        <p:nvSpPr>
          <p:cNvPr id="245" name="Shape 9"/>
          <p:cNvSpPr/>
          <p:nvPr/>
        </p:nvSpPr>
        <p:spPr>
          <a:xfrm>
            <a:off x="3946459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6" name="Text 10"/>
          <p:cNvSpPr txBox="1"/>
          <p:nvPr/>
        </p:nvSpPr>
        <p:spPr>
          <a:xfrm>
            <a:off x="3946459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no</a:t>
            </a:r>
          </a:p>
        </p:txBody>
      </p:sp>
      <p:sp>
        <p:nvSpPr>
          <p:cNvPr id="247" name="Shape 11"/>
          <p:cNvSpPr/>
          <p:nvPr/>
        </p:nvSpPr>
        <p:spPr>
          <a:xfrm>
            <a:off x="5048584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8" name="Text 12"/>
          <p:cNvSpPr txBox="1"/>
          <p:nvPr/>
        </p:nvSpPr>
        <p:spPr>
          <a:xfrm>
            <a:off x="5048584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telhado</a:t>
            </a:r>
          </a:p>
        </p:txBody>
      </p:sp>
      <p:sp>
        <p:nvSpPr>
          <p:cNvPr id="249" name="Shape 13"/>
          <p:cNvSpPr/>
          <p:nvPr/>
        </p:nvSpPr>
        <p:spPr>
          <a:xfrm>
            <a:off x="6150712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14"/>
          <p:cNvSpPr txBox="1"/>
          <p:nvPr/>
        </p:nvSpPr>
        <p:spPr>
          <a:xfrm>
            <a:off x="6150712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porque</a:t>
            </a:r>
          </a:p>
        </p:txBody>
      </p:sp>
      <p:sp>
        <p:nvSpPr>
          <p:cNvPr id="251" name="Shape 15"/>
          <p:cNvSpPr/>
          <p:nvPr/>
        </p:nvSpPr>
        <p:spPr>
          <a:xfrm>
            <a:off x="7252837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9E2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2" name="Text 16"/>
          <p:cNvSpPr txBox="1"/>
          <p:nvPr/>
        </p:nvSpPr>
        <p:spPr>
          <a:xfrm>
            <a:off x="7252837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9E2A2B"/>
                </a:solidFill>
              </a:defRPr>
            </a:lvl1pPr>
          </a:lstStyle>
          <a:p>
            <a:pPr/>
            <a:r>
              <a:t>ele</a:t>
            </a:r>
          </a:p>
        </p:txBody>
      </p:sp>
      <p:sp>
        <p:nvSpPr>
          <p:cNvPr id="253" name="Shape 17"/>
          <p:cNvSpPr/>
          <p:nvPr/>
        </p:nvSpPr>
        <p:spPr>
          <a:xfrm>
            <a:off x="8354963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4" name="Text 18"/>
          <p:cNvSpPr txBox="1"/>
          <p:nvPr/>
        </p:nvSpPr>
        <p:spPr>
          <a:xfrm>
            <a:off x="8354963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estava</a:t>
            </a:r>
          </a:p>
        </p:txBody>
      </p:sp>
      <p:sp>
        <p:nvSpPr>
          <p:cNvPr id="255" name="Shape 19"/>
          <p:cNvSpPr/>
          <p:nvPr/>
        </p:nvSpPr>
        <p:spPr>
          <a:xfrm>
            <a:off x="9457090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Text 20"/>
          <p:cNvSpPr txBox="1"/>
          <p:nvPr/>
        </p:nvSpPr>
        <p:spPr>
          <a:xfrm>
            <a:off x="9457090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com</a:t>
            </a:r>
          </a:p>
        </p:txBody>
      </p:sp>
      <p:sp>
        <p:nvSpPr>
          <p:cNvPr id="257" name="Shape 21"/>
          <p:cNvSpPr/>
          <p:nvPr/>
        </p:nvSpPr>
        <p:spPr>
          <a:xfrm>
            <a:off x="10559216" y="1737360"/>
            <a:ext cx="992398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Text 22"/>
          <p:cNvSpPr txBox="1"/>
          <p:nvPr/>
        </p:nvSpPr>
        <p:spPr>
          <a:xfrm>
            <a:off x="10559216" y="1952823"/>
            <a:ext cx="992398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1B1B1B"/>
                </a:solidFill>
              </a:defRPr>
            </a:lvl1pPr>
          </a:lstStyle>
          <a:p>
            <a:pPr/>
            <a:r>
              <a:t>medo</a:t>
            </a:r>
          </a:p>
        </p:txBody>
      </p:sp>
      <p:sp>
        <p:nvSpPr>
          <p:cNvPr id="259" name="Shape 23"/>
          <p:cNvSpPr/>
          <p:nvPr/>
        </p:nvSpPr>
        <p:spPr>
          <a:xfrm>
            <a:off x="1136278" y="2606039"/>
            <a:ext cx="9919139" cy="1"/>
          </a:xfrm>
          <a:prstGeom prst="line">
            <a:avLst/>
          </a:prstGeom>
          <a:ln w="25400">
            <a:solidFill>
              <a:srgbClr val="5F5F5F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60" name="Text 24"/>
          <p:cNvSpPr txBox="1"/>
          <p:nvPr/>
        </p:nvSpPr>
        <p:spPr>
          <a:xfrm>
            <a:off x="640079" y="2743200"/>
            <a:ext cx="10911537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i="1" sz="1500">
                <a:solidFill>
                  <a:srgbClr val="5F5F5F"/>
                </a:solidFill>
              </a:defRPr>
            </a:lvl1pPr>
          </a:lstStyle>
          <a:p>
            <a:pPr/>
            <a:r>
              <a:t>uma palavra por vez, passando um resumo adiante</a:t>
            </a:r>
          </a:p>
        </p:txBody>
      </p:sp>
      <p:sp>
        <p:nvSpPr>
          <p:cNvPr id="261" name="Text 25"/>
          <p:cNvSpPr txBox="1"/>
          <p:nvPr/>
        </p:nvSpPr>
        <p:spPr>
          <a:xfrm>
            <a:off x="640079" y="3703320"/>
            <a:ext cx="512064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9E2A2B"/>
                </a:solidFill>
              </a:defRPr>
            </a:lvl1pPr>
          </a:lstStyle>
          <a:p>
            <a:pPr/>
            <a:r>
              <a:t>Esquece</a:t>
            </a:r>
          </a:p>
        </p:txBody>
      </p:sp>
      <p:sp>
        <p:nvSpPr>
          <p:cNvPr id="262" name="Text 26"/>
          <p:cNvSpPr txBox="1"/>
          <p:nvPr/>
        </p:nvSpPr>
        <p:spPr>
          <a:xfrm>
            <a:off x="640079" y="4206240"/>
            <a:ext cx="5120642" cy="825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Quando chega em "ele", o "gato" já ficou lá atrás. É como um telefone sem fio: a mensagem se perde no caminho.</a:t>
            </a:r>
          </a:p>
        </p:txBody>
      </p:sp>
      <p:sp>
        <p:nvSpPr>
          <p:cNvPr id="263" name="Text 27"/>
          <p:cNvSpPr txBox="1"/>
          <p:nvPr/>
        </p:nvSpPr>
        <p:spPr>
          <a:xfrm>
            <a:off x="6217920" y="3703320"/>
            <a:ext cx="512064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9E2A2B"/>
                </a:solidFill>
              </a:defRPr>
            </a:lvl1pPr>
          </a:lstStyle>
          <a:p>
            <a:pPr/>
            <a:r>
              <a:t>É lento</a:t>
            </a:r>
          </a:p>
        </p:txBody>
      </p:sp>
      <p:sp>
        <p:nvSpPr>
          <p:cNvPr id="264" name="Text 28"/>
          <p:cNvSpPr txBox="1"/>
          <p:nvPr/>
        </p:nvSpPr>
        <p:spPr>
          <a:xfrm>
            <a:off x="6217920" y="4206240"/>
            <a:ext cx="5120641" cy="533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Cada palavra espera a anterior. Não dá para aproveitar a GPU, que faz milhares de contas ao mesmo tempo.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IDEIA</a:t>
            </a:r>
          </a:p>
        </p:txBody>
      </p:sp>
      <p:sp>
        <p:nvSpPr>
          <p:cNvPr id="269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Um modelo de linguagem adivinha o que vem depois</a:t>
            </a:r>
          </a:p>
        </p:txBody>
      </p:sp>
      <p:sp>
        <p:nvSpPr>
          <p:cNvPr id="270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271" name="Text 3"/>
          <p:cNvSpPr txBox="1"/>
          <p:nvPr/>
        </p:nvSpPr>
        <p:spPr>
          <a:xfrm>
            <a:off x="640080" y="1645920"/>
            <a:ext cx="548640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o rei protege a </a:t>
            </a:r>
            <a:r>
              <a:rPr>
                <a:solidFill>
                  <a:srgbClr val="9E2A2B"/>
                </a:solidFill>
              </a:rPr>
              <a:t>____</a:t>
            </a:r>
          </a:p>
        </p:txBody>
      </p:sp>
      <p:sp>
        <p:nvSpPr>
          <p:cNvPr id="272" name="Text 4"/>
          <p:cNvSpPr txBox="1"/>
          <p:nvPr/>
        </p:nvSpPr>
        <p:spPr>
          <a:xfrm>
            <a:off x="640080" y="2743200"/>
            <a:ext cx="50292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9E2A2B"/>
                </a:solidFill>
              </a:defRPr>
            </a:lvl1pPr>
          </a:lstStyle>
          <a:p>
            <a:pPr/>
            <a:r>
              <a:t>Treinar</a:t>
            </a:r>
          </a:p>
        </p:txBody>
      </p:sp>
      <p:sp>
        <p:nvSpPr>
          <p:cNvPr id="273" name="Text 5"/>
          <p:cNvSpPr txBox="1"/>
          <p:nvPr/>
        </p:nvSpPr>
        <p:spPr>
          <a:xfrm>
            <a:off x="640080" y="3154679"/>
            <a:ext cx="5029201" cy="485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mostrar muito texto e ajustar o modelo até ele dar a maior chance à palavra certa.</a:t>
            </a:r>
          </a:p>
        </p:txBody>
      </p:sp>
      <p:sp>
        <p:nvSpPr>
          <p:cNvPr id="274" name="Text 6"/>
          <p:cNvSpPr txBox="1"/>
          <p:nvPr/>
        </p:nvSpPr>
        <p:spPr>
          <a:xfrm>
            <a:off x="640080" y="3931920"/>
            <a:ext cx="50292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9E2A2B"/>
                </a:solidFill>
              </a:defRPr>
            </a:lvl1pPr>
          </a:lstStyle>
          <a:p>
            <a:pPr/>
            <a:r>
              <a:t>Gerar</a:t>
            </a:r>
          </a:p>
        </p:txBody>
      </p:sp>
      <p:sp>
        <p:nvSpPr>
          <p:cNvPr id="275" name="Text 7"/>
          <p:cNvSpPr txBox="1"/>
          <p:nvPr/>
        </p:nvSpPr>
        <p:spPr>
          <a:xfrm>
            <a:off x="640080" y="4343400"/>
            <a:ext cx="5029201" cy="485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sortear uma palavra, acrescentar ao texto e prever de novo. É assim que o ChatGPT escreve.</a:t>
            </a:r>
          </a:p>
        </p:txBody>
      </p:sp>
      <p:pic>
        <p:nvPicPr>
          <p:cNvPr id="276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0" y="1789725"/>
            <a:ext cx="5120641" cy="37357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IDEIA</a:t>
            </a:r>
          </a:p>
        </p:txBody>
      </p:sp>
      <p:sp>
        <p:nvSpPr>
          <p:cNvPr id="281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atenção: cada palavra olha para todas as outras</a:t>
            </a:r>
          </a:p>
        </p:txBody>
      </p:sp>
      <p:sp>
        <p:nvSpPr>
          <p:cNvPr id="282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283" name="Shape 3"/>
          <p:cNvSpPr/>
          <p:nvPr/>
        </p:nvSpPr>
        <p:spPr>
          <a:xfrm>
            <a:off x="1371600" y="4069079"/>
            <a:ext cx="1255732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4" name="Text 4"/>
          <p:cNvSpPr txBox="1"/>
          <p:nvPr/>
        </p:nvSpPr>
        <p:spPr>
          <a:xfrm>
            <a:off x="1371600" y="4268296"/>
            <a:ext cx="1255732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285" name="Shape 5"/>
          <p:cNvSpPr/>
          <p:nvPr/>
        </p:nvSpPr>
        <p:spPr>
          <a:xfrm>
            <a:off x="2737060" y="4069079"/>
            <a:ext cx="1255733" cy="640081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Text 6"/>
          <p:cNvSpPr txBox="1"/>
          <p:nvPr/>
        </p:nvSpPr>
        <p:spPr>
          <a:xfrm>
            <a:off x="2737060" y="4268296"/>
            <a:ext cx="1255733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gato</a:t>
            </a:r>
          </a:p>
        </p:txBody>
      </p:sp>
      <p:sp>
        <p:nvSpPr>
          <p:cNvPr id="287" name="Shape 7"/>
          <p:cNvSpPr/>
          <p:nvPr/>
        </p:nvSpPr>
        <p:spPr>
          <a:xfrm>
            <a:off x="4102520" y="4069079"/>
            <a:ext cx="1255733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Text 8"/>
          <p:cNvSpPr txBox="1"/>
          <p:nvPr/>
        </p:nvSpPr>
        <p:spPr>
          <a:xfrm>
            <a:off x="4102520" y="4268296"/>
            <a:ext cx="1255733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subiu</a:t>
            </a:r>
          </a:p>
        </p:txBody>
      </p:sp>
      <p:sp>
        <p:nvSpPr>
          <p:cNvPr id="289" name="Shape 9"/>
          <p:cNvSpPr/>
          <p:nvPr/>
        </p:nvSpPr>
        <p:spPr>
          <a:xfrm>
            <a:off x="5467980" y="4069079"/>
            <a:ext cx="1255733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Text 10"/>
          <p:cNvSpPr txBox="1"/>
          <p:nvPr/>
        </p:nvSpPr>
        <p:spPr>
          <a:xfrm>
            <a:off x="5467980" y="4268296"/>
            <a:ext cx="1255733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no</a:t>
            </a:r>
          </a:p>
        </p:txBody>
      </p:sp>
      <p:sp>
        <p:nvSpPr>
          <p:cNvPr id="291" name="Shape 11"/>
          <p:cNvSpPr/>
          <p:nvPr/>
        </p:nvSpPr>
        <p:spPr>
          <a:xfrm>
            <a:off x="6833441" y="4069079"/>
            <a:ext cx="1255733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Text 12"/>
          <p:cNvSpPr txBox="1"/>
          <p:nvPr/>
        </p:nvSpPr>
        <p:spPr>
          <a:xfrm>
            <a:off x="6833441" y="4268296"/>
            <a:ext cx="1255733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telhado</a:t>
            </a:r>
          </a:p>
        </p:txBody>
      </p:sp>
      <p:sp>
        <p:nvSpPr>
          <p:cNvPr id="293" name="Shape 13"/>
          <p:cNvSpPr/>
          <p:nvPr/>
        </p:nvSpPr>
        <p:spPr>
          <a:xfrm>
            <a:off x="8198901" y="4069079"/>
            <a:ext cx="1255733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Text 14"/>
          <p:cNvSpPr txBox="1"/>
          <p:nvPr/>
        </p:nvSpPr>
        <p:spPr>
          <a:xfrm>
            <a:off x="8198901" y="4268296"/>
            <a:ext cx="1255733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porque</a:t>
            </a:r>
          </a:p>
        </p:txBody>
      </p:sp>
      <p:sp>
        <p:nvSpPr>
          <p:cNvPr id="295" name="Shape 15"/>
          <p:cNvSpPr/>
          <p:nvPr/>
        </p:nvSpPr>
        <p:spPr>
          <a:xfrm>
            <a:off x="9564362" y="4069079"/>
            <a:ext cx="1255733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9E2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16"/>
          <p:cNvSpPr txBox="1"/>
          <p:nvPr/>
        </p:nvSpPr>
        <p:spPr>
          <a:xfrm>
            <a:off x="9564362" y="4268296"/>
            <a:ext cx="1255733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9E2A2B"/>
                </a:solidFill>
              </a:defRPr>
            </a:lvl1pPr>
          </a:lstStyle>
          <a:p>
            <a:pPr/>
            <a:r>
              <a:t>ele</a:t>
            </a:r>
          </a:p>
        </p:txBody>
      </p:sp>
      <p:sp>
        <p:nvSpPr>
          <p:cNvPr id="297" name="Shape 17"/>
          <p:cNvSpPr/>
          <p:nvPr/>
        </p:nvSpPr>
        <p:spPr>
          <a:xfrm>
            <a:off x="1600200" y="3843430"/>
            <a:ext cx="798533" cy="88491"/>
          </a:xfrm>
          <a:prstGeom prst="rect">
            <a:avLst/>
          </a:prstGeom>
          <a:solidFill>
            <a:srgbClr val="E8EEF5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8" name="Text 18"/>
          <p:cNvSpPr txBox="1"/>
          <p:nvPr/>
        </p:nvSpPr>
        <p:spPr>
          <a:xfrm>
            <a:off x="1371600" y="3477669"/>
            <a:ext cx="125573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3%</a:t>
            </a:r>
          </a:p>
        </p:txBody>
      </p:sp>
      <p:sp>
        <p:nvSpPr>
          <p:cNvPr id="299" name="Shape 19"/>
          <p:cNvSpPr/>
          <p:nvPr/>
        </p:nvSpPr>
        <p:spPr>
          <a:xfrm>
            <a:off x="2965660" y="2103120"/>
            <a:ext cx="798533" cy="1828801"/>
          </a:xfrm>
          <a:prstGeom prst="rect">
            <a:avLst/>
          </a:prstGeom>
          <a:solidFill>
            <a:srgbClr val="2F5D8A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0" name="Text 20"/>
          <p:cNvSpPr txBox="1"/>
          <p:nvPr/>
        </p:nvSpPr>
        <p:spPr>
          <a:xfrm>
            <a:off x="2737060" y="1737360"/>
            <a:ext cx="12557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62%</a:t>
            </a:r>
          </a:p>
        </p:txBody>
      </p:sp>
      <p:sp>
        <p:nvSpPr>
          <p:cNvPr id="301" name="Shape 21"/>
          <p:cNvSpPr/>
          <p:nvPr/>
        </p:nvSpPr>
        <p:spPr>
          <a:xfrm>
            <a:off x="4331120" y="3754939"/>
            <a:ext cx="798533" cy="176982"/>
          </a:xfrm>
          <a:prstGeom prst="rect">
            <a:avLst/>
          </a:prstGeom>
          <a:solidFill>
            <a:srgbClr val="E8EEF5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2" name="Text 22"/>
          <p:cNvSpPr txBox="1"/>
          <p:nvPr/>
        </p:nvSpPr>
        <p:spPr>
          <a:xfrm>
            <a:off x="4102520" y="3389179"/>
            <a:ext cx="12557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6%</a:t>
            </a:r>
          </a:p>
        </p:txBody>
      </p:sp>
      <p:sp>
        <p:nvSpPr>
          <p:cNvPr id="303" name="Shape 23"/>
          <p:cNvSpPr/>
          <p:nvPr/>
        </p:nvSpPr>
        <p:spPr>
          <a:xfrm>
            <a:off x="5696580" y="3872926"/>
            <a:ext cx="798533" cy="58995"/>
          </a:xfrm>
          <a:prstGeom prst="rect">
            <a:avLst/>
          </a:prstGeom>
          <a:solidFill>
            <a:srgbClr val="E8EEF5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4" name="Text 24"/>
          <p:cNvSpPr txBox="1"/>
          <p:nvPr/>
        </p:nvSpPr>
        <p:spPr>
          <a:xfrm>
            <a:off x="5467980" y="3507166"/>
            <a:ext cx="12557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2%</a:t>
            </a:r>
          </a:p>
        </p:txBody>
      </p:sp>
      <p:sp>
        <p:nvSpPr>
          <p:cNvPr id="305" name="Shape 25"/>
          <p:cNvSpPr/>
          <p:nvPr/>
        </p:nvSpPr>
        <p:spPr>
          <a:xfrm>
            <a:off x="7062041" y="3548462"/>
            <a:ext cx="798533" cy="383459"/>
          </a:xfrm>
          <a:prstGeom prst="rect">
            <a:avLst/>
          </a:prstGeom>
          <a:solidFill>
            <a:srgbClr val="E8EEF5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26"/>
          <p:cNvSpPr txBox="1"/>
          <p:nvPr/>
        </p:nvSpPr>
        <p:spPr>
          <a:xfrm>
            <a:off x="6833441" y="3182702"/>
            <a:ext cx="12557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13%</a:t>
            </a:r>
          </a:p>
        </p:txBody>
      </p:sp>
      <p:sp>
        <p:nvSpPr>
          <p:cNvPr id="307" name="Shape 27"/>
          <p:cNvSpPr/>
          <p:nvPr/>
        </p:nvSpPr>
        <p:spPr>
          <a:xfrm>
            <a:off x="8427501" y="3813933"/>
            <a:ext cx="798533" cy="117988"/>
          </a:xfrm>
          <a:prstGeom prst="rect">
            <a:avLst/>
          </a:prstGeom>
          <a:solidFill>
            <a:srgbClr val="E8EEF5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Text 28"/>
          <p:cNvSpPr txBox="1"/>
          <p:nvPr/>
        </p:nvSpPr>
        <p:spPr>
          <a:xfrm>
            <a:off x="8198901" y="3448172"/>
            <a:ext cx="12557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4%</a:t>
            </a:r>
          </a:p>
        </p:txBody>
      </p:sp>
      <p:sp>
        <p:nvSpPr>
          <p:cNvPr id="309" name="Shape 29"/>
          <p:cNvSpPr/>
          <p:nvPr/>
        </p:nvSpPr>
        <p:spPr>
          <a:xfrm>
            <a:off x="9792962" y="3636952"/>
            <a:ext cx="798533" cy="294969"/>
          </a:xfrm>
          <a:prstGeom prst="rect">
            <a:avLst/>
          </a:prstGeom>
          <a:solidFill>
            <a:srgbClr val="E8EEF5"/>
          </a:solidFill>
          <a:ln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30"/>
          <p:cNvSpPr txBox="1"/>
          <p:nvPr/>
        </p:nvSpPr>
        <p:spPr>
          <a:xfrm>
            <a:off x="9564362" y="3271192"/>
            <a:ext cx="12557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10%</a:t>
            </a:r>
          </a:p>
        </p:txBody>
      </p:sp>
      <p:sp>
        <p:nvSpPr>
          <p:cNvPr id="311" name="Text 31"/>
          <p:cNvSpPr txBox="1"/>
          <p:nvPr/>
        </p:nvSpPr>
        <p:spPr>
          <a:xfrm>
            <a:off x="1371599" y="1463039"/>
            <a:ext cx="9448497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i="1" sz="1500">
                <a:solidFill>
                  <a:srgbClr val="5F5F5F"/>
                </a:solidFill>
              </a:defRPr>
            </a:lvl1pPr>
          </a:lstStyle>
          <a:p>
            <a:pPr/>
            <a:r>
              <a:t>quanto "ele" presta atenção em cada palavra</a:t>
            </a:r>
          </a:p>
        </p:txBody>
      </p:sp>
      <p:sp>
        <p:nvSpPr>
          <p:cNvPr id="312" name="Text 32"/>
          <p:cNvSpPr txBox="1"/>
          <p:nvPr/>
        </p:nvSpPr>
        <p:spPr>
          <a:xfrm>
            <a:off x="640079" y="5166359"/>
            <a:ext cx="1091153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0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Nada se perde no caminho, e todas as palavras fazem isso ao mesmo tempo.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IDEIA</a:t>
            </a:r>
          </a:p>
        </p:txBody>
      </p:sp>
      <p:sp>
        <p:nvSpPr>
          <p:cNvPr id="317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Para o computador, palavras viram listas de números</a:t>
            </a:r>
          </a:p>
        </p:txBody>
      </p:sp>
      <p:sp>
        <p:nvSpPr>
          <p:cNvPr id="318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319" name="Shape 3"/>
          <p:cNvSpPr/>
          <p:nvPr/>
        </p:nvSpPr>
        <p:spPr>
          <a:xfrm>
            <a:off x="640079" y="1828800"/>
            <a:ext cx="1645922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4"/>
          <p:cNvSpPr txBox="1"/>
          <p:nvPr/>
        </p:nvSpPr>
        <p:spPr>
          <a:xfrm>
            <a:off x="640079" y="2028016"/>
            <a:ext cx="1645922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321" name="Shape 5"/>
          <p:cNvSpPr/>
          <p:nvPr/>
        </p:nvSpPr>
        <p:spPr>
          <a:xfrm>
            <a:off x="2377439" y="2148839"/>
            <a:ext cx="82296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2" name="Shape 6"/>
          <p:cNvSpPr/>
          <p:nvPr/>
        </p:nvSpPr>
        <p:spPr>
          <a:xfrm>
            <a:off x="3291840" y="1828800"/>
            <a:ext cx="2743201" cy="640081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3" name="Text 7"/>
          <p:cNvSpPr txBox="1"/>
          <p:nvPr/>
        </p:nvSpPr>
        <p:spPr>
          <a:xfrm>
            <a:off x="3291840" y="2021839"/>
            <a:ext cx="27432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[ 0.9   0.8   0.1 ]</a:t>
            </a:r>
          </a:p>
        </p:txBody>
      </p:sp>
      <p:sp>
        <p:nvSpPr>
          <p:cNvPr id="324" name="Shape 8"/>
          <p:cNvSpPr/>
          <p:nvPr/>
        </p:nvSpPr>
        <p:spPr>
          <a:xfrm>
            <a:off x="640079" y="2697479"/>
            <a:ext cx="1645922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5" name="Text 9"/>
          <p:cNvSpPr txBox="1"/>
          <p:nvPr/>
        </p:nvSpPr>
        <p:spPr>
          <a:xfrm>
            <a:off x="640079" y="2896696"/>
            <a:ext cx="1645922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326" name="Shape 10"/>
          <p:cNvSpPr/>
          <p:nvPr/>
        </p:nvSpPr>
        <p:spPr>
          <a:xfrm>
            <a:off x="2377439" y="3017520"/>
            <a:ext cx="82296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7" name="Shape 11"/>
          <p:cNvSpPr/>
          <p:nvPr/>
        </p:nvSpPr>
        <p:spPr>
          <a:xfrm>
            <a:off x="3291840" y="2697479"/>
            <a:ext cx="2743201" cy="640081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Text 12"/>
          <p:cNvSpPr txBox="1"/>
          <p:nvPr/>
        </p:nvSpPr>
        <p:spPr>
          <a:xfrm>
            <a:off x="3291840" y="2890519"/>
            <a:ext cx="27432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[ 0.9   0.7   0.9 ]</a:t>
            </a:r>
          </a:p>
        </p:txBody>
      </p:sp>
      <p:sp>
        <p:nvSpPr>
          <p:cNvPr id="329" name="Shape 13"/>
          <p:cNvSpPr/>
          <p:nvPr/>
        </p:nvSpPr>
        <p:spPr>
          <a:xfrm>
            <a:off x="640079" y="3566159"/>
            <a:ext cx="1645922" cy="64008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0" name="Text 14"/>
          <p:cNvSpPr txBox="1"/>
          <p:nvPr/>
        </p:nvSpPr>
        <p:spPr>
          <a:xfrm>
            <a:off x="640079" y="3765376"/>
            <a:ext cx="1645922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peão</a:t>
            </a:r>
          </a:p>
        </p:txBody>
      </p:sp>
      <p:sp>
        <p:nvSpPr>
          <p:cNvPr id="331" name="Shape 15"/>
          <p:cNvSpPr/>
          <p:nvPr/>
        </p:nvSpPr>
        <p:spPr>
          <a:xfrm>
            <a:off x="2377439" y="3886200"/>
            <a:ext cx="822961" cy="0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32" name="Shape 16"/>
          <p:cNvSpPr/>
          <p:nvPr/>
        </p:nvSpPr>
        <p:spPr>
          <a:xfrm>
            <a:off x="3291840" y="3566159"/>
            <a:ext cx="2743201" cy="640081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3" name="Text 17"/>
          <p:cNvSpPr txBox="1"/>
          <p:nvPr/>
        </p:nvSpPr>
        <p:spPr>
          <a:xfrm>
            <a:off x="3291840" y="3759200"/>
            <a:ext cx="27432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[ 0.1   0.2   0.3 ]</a:t>
            </a:r>
          </a:p>
        </p:txBody>
      </p:sp>
      <p:sp>
        <p:nvSpPr>
          <p:cNvPr id="334" name="Text 18"/>
          <p:cNvSpPr txBox="1"/>
          <p:nvPr/>
        </p:nvSpPr>
        <p:spPr>
          <a:xfrm>
            <a:off x="640079" y="1417319"/>
            <a:ext cx="164592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palavra</a:t>
            </a:r>
          </a:p>
        </p:txBody>
      </p:sp>
      <p:sp>
        <p:nvSpPr>
          <p:cNvPr id="335" name="Text 19"/>
          <p:cNvSpPr txBox="1"/>
          <p:nvPr/>
        </p:nvSpPr>
        <p:spPr>
          <a:xfrm>
            <a:off x="3291840" y="1417319"/>
            <a:ext cx="27432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vetor (lista de números)</a:t>
            </a:r>
          </a:p>
        </p:txBody>
      </p:sp>
      <p:sp>
        <p:nvSpPr>
          <p:cNvPr id="336" name="Text 20"/>
          <p:cNvSpPr txBox="1"/>
          <p:nvPr/>
        </p:nvSpPr>
        <p:spPr>
          <a:xfrm>
            <a:off x="6400800" y="1737360"/>
            <a:ext cx="5120641" cy="23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900">
                <a:solidFill>
                  <a:srgbClr val="1B1B1B"/>
                </a:solidFill>
              </a:defRPr>
            </a:lvl1pPr>
          </a:lstStyle>
          <a:p>
            <a:pPr/>
            <a:r>
              <a:t>O modelo aprende esses números</a:t>
            </a:r>
          </a:p>
        </p:txBody>
      </p:sp>
      <p:sp>
        <p:nvSpPr>
          <p:cNvPr id="337" name="Text 21"/>
          <p:cNvSpPr txBox="1"/>
          <p:nvPr/>
        </p:nvSpPr>
        <p:spPr>
          <a:xfrm>
            <a:off x="6400800" y="2103120"/>
            <a:ext cx="5120641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</a:defRPr>
            </a:lvl1pPr>
          </a:lstStyle>
          <a:p>
            <a:pPr/>
            <a:r>
              <a:t>no treino. Ninguém escolhe à mão.</a:t>
            </a:r>
          </a:p>
        </p:txBody>
      </p:sp>
      <p:sp>
        <p:nvSpPr>
          <p:cNvPr id="338" name="Text 22"/>
          <p:cNvSpPr txBox="1"/>
          <p:nvPr/>
        </p:nvSpPr>
        <p:spPr>
          <a:xfrm>
            <a:off x="6400800" y="2834639"/>
            <a:ext cx="512064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900">
                <a:solidFill>
                  <a:srgbClr val="1B1B1B"/>
                </a:solidFill>
              </a:defRPr>
            </a:lvl1pPr>
          </a:lstStyle>
          <a:p>
            <a:pPr/>
            <a:r>
              <a:t>Palavras parecidas</a:t>
            </a:r>
          </a:p>
        </p:txBody>
      </p:sp>
      <p:sp>
        <p:nvSpPr>
          <p:cNvPr id="339" name="Text 23"/>
          <p:cNvSpPr txBox="1"/>
          <p:nvPr/>
        </p:nvSpPr>
        <p:spPr>
          <a:xfrm>
            <a:off x="6400800" y="3200400"/>
            <a:ext cx="5120641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</a:defRPr>
            </a:lvl1pPr>
          </a:lstStyle>
          <a:p>
            <a:pPr/>
            <a:r>
              <a:t>ficam com números parecidos: veja rei e rainha.</a:t>
            </a:r>
          </a:p>
        </p:txBody>
      </p:sp>
      <p:sp>
        <p:nvSpPr>
          <p:cNvPr id="340" name="Text 24"/>
          <p:cNvSpPr txBox="1"/>
          <p:nvPr/>
        </p:nvSpPr>
        <p:spPr>
          <a:xfrm>
            <a:off x="6400800" y="3931920"/>
            <a:ext cx="5120641" cy="238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900">
                <a:solidFill>
                  <a:srgbClr val="1B1B1B"/>
                </a:solidFill>
              </a:defRPr>
            </a:lvl1pPr>
          </a:lstStyle>
          <a:p>
            <a:pPr/>
            <a:r>
              <a:t>Uma frase vira uma tabela</a:t>
            </a:r>
          </a:p>
        </p:txBody>
      </p:sp>
      <p:sp>
        <p:nvSpPr>
          <p:cNvPr id="341" name="Text 25"/>
          <p:cNvSpPr txBox="1"/>
          <p:nvPr/>
        </p:nvSpPr>
        <p:spPr>
          <a:xfrm>
            <a:off x="6400800" y="4297679"/>
            <a:ext cx="5120641" cy="485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</a:defRPr>
            </a:lvl1pPr>
          </a:lstStyle>
          <a:p>
            <a:pPr/>
            <a:r>
              <a:t>com uma linha por palavra. É com ela que a atenção trabalha.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IDEIA</a:t>
            </a:r>
          </a:p>
        </p:txBody>
      </p:sp>
      <p:sp>
        <p:nvSpPr>
          <p:cNvPr id="346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Query, key e value: como uma busca no YouTube</a:t>
            </a:r>
          </a:p>
        </p:txBody>
      </p:sp>
      <p:sp>
        <p:nvSpPr>
          <p:cNvPr id="347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348" name="Text 3"/>
          <p:cNvSpPr txBox="1"/>
          <p:nvPr/>
        </p:nvSpPr>
        <p:spPr>
          <a:xfrm>
            <a:off x="640079" y="1554480"/>
            <a:ext cx="347472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Query (Q)</a:t>
            </a:r>
          </a:p>
        </p:txBody>
      </p:sp>
      <p:sp>
        <p:nvSpPr>
          <p:cNvPr id="349" name="Text 4"/>
          <p:cNvSpPr txBox="1"/>
          <p:nvPr/>
        </p:nvSpPr>
        <p:spPr>
          <a:xfrm>
            <a:off x="640079" y="2148839"/>
            <a:ext cx="347472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No YouTube</a:t>
            </a:r>
          </a:p>
        </p:txBody>
      </p:sp>
      <p:sp>
        <p:nvSpPr>
          <p:cNvPr id="350" name="Text 5"/>
          <p:cNvSpPr txBox="1"/>
          <p:nvPr/>
        </p:nvSpPr>
        <p:spPr>
          <a:xfrm>
            <a:off x="640079" y="2468879"/>
            <a:ext cx="3474722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 que você digita</a:t>
            </a:r>
          </a:p>
        </p:txBody>
      </p:sp>
      <p:sp>
        <p:nvSpPr>
          <p:cNvPr id="351" name="Text 6"/>
          <p:cNvSpPr txBox="1"/>
          <p:nvPr/>
        </p:nvSpPr>
        <p:spPr>
          <a:xfrm>
            <a:off x="640079" y="2880360"/>
            <a:ext cx="347472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F5F5F"/>
                </a:solidFill>
              </a:defRPr>
            </a:lvl1pPr>
          </a:lstStyle>
          <a:p>
            <a:pPr/>
            <a:r>
              <a:t>"gol de bicicleta"</a:t>
            </a:r>
          </a:p>
        </p:txBody>
      </p:sp>
      <p:sp>
        <p:nvSpPr>
          <p:cNvPr id="352" name="Text 7"/>
          <p:cNvSpPr txBox="1"/>
          <p:nvPr/>
        </p:nvSpPr>
        <p:spPr>
          <a:xfrm>
            <a:off x="640079" y="3474720"/>
            <a:ext cx="3474722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Na frase</a:t>
            </a:r>
          </a:p>
        </p:txBody>
      </p:sp>
      <p:sp>
        <p:nvSpPr>
          <p:cNvPr id="353" name="Text 8"/>
          <p:cNvSpPr txBox="1"/>
          <p:nvPr/>
        </p:nvSpPr>
        <p:spPr>
          <a:xfrm>
            <a:off x="640079" y="3794759"/>
            <a:ext cx="3474722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 que a palavra procura</a:t>
            </a:r>
          </a:p>
        </p:txBody>
      </p:sp>
      <p:sp>
        <p:nvSpPr>
          <p:cNvPr id="354" name="Text 9"/>
          <p:cNvSpPr txBox="1"/>
          <p:nvPr/>
        </p:nvSpPr>
        <p:spPr>
          <a:xfrm>
            <a:off x="4343400" y="1554480"/>
            <a:ext cx="3474721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>
                <a:solidFill>
                  <a:srgbClr val="2F5D8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Key (K)</a:t>
            </a:r>
          </a:p>
        </p:txBody>
      </p:sp>
      <p:sp>
        <p:nvSpPr>
          <p:cNvPr id="355" name="Text 10"/>
          <p:cNvSpPr txBox="1"/>
          <p:nvPr/>
        </p:nvSpPr>
        <p:spPr>
          <a:xfrm>
            <a:off x="4343400" y="2148839"/>
            <a:ext cx="347472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No YouTube</a:t>
            </a:r>
          </a:p>
        </p:txBody>
      </p:sp>
      <p:sp>
        <p:nvSpPr>
          <p:cNvPr id="356" name="Text 11"/>
          <p:cNvSpPr txBox="1"/>
          <p:nvPr/>
        </p:nvSpPr>
        <p:spPr>
          <a:xfrm>
            <a:off x="4343400" y="2468879"/>
            <a:ext cx="3474721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 título de cada vídeo</a:t>
            </a:r>
          </a:p>
        </p:txBody>
      </p:sp>
      <p:sp>
        <p:nvSpPr>
          <p:cNvPr id="357" name="Text 12"/>
          <p:cNvSpPr txBox="1"/>
          <p:nvPr/>
        </p:nvSpPr>
        <p:spPr>
          <a:xfrm>
            <a:off x="4343400" y="2880360"/>
            <a:ext cx="347472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F5F5F"/>
                </a:solidFill>
              </a:defRPr>
            </a:lvl1pPr>
          </a:lstStyle>
          <a:p>
            <a:pPr/>
            <a:r>
              <a:t>"Top 10 gols de bicicleta"</a:t>
            </a:r>
          </a:p>
        </p:txBody>
      </p:sp>
      <p:sp>
        <p:nvSpPr>
          <p:cNvPr id="358" name="Text 13"/>
          <p:cNvSpPr txBox="1"/>
          <p:nvPr/>
        </p:nvSpPr>
        <p:spPr>
          <a:xfrm>
            <a:off x="4343400" y="3474720"/>
            <a:ext cx="347472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Na frase</a:t>
            </a:r>
          </a:p>
        </p:txBody>
      </p:sp>
      <p:sp>
        <p:nvSpPr>
          <p:cNvPr id="359" name="Text 14"/>
          <p:cNvSpPr txBox="1"/>
          <p:nvPr/>
        </p:nvSpPr>
        <p:spPr>
          <a:xfrm>
            <a:off x="4343400" y="3794759"/>
            <a:ext cx="3474721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 que a palavra oferece</a:t>
            </a:r>
          </a:p>
        </p:txBody>
      </p:sp>
      <p:sp>
        <p:nvSpPr>
          <p:cNvPr id="360" name="Text 15"/>
          <p:cNvSpPr txBox="1"/>
          <p:nvPr/>
        </p:nvSpPr>
        <p:spPr>
          <a:xfrm>
            <a:off x="8046719" y="1554480"/>
            <a:ext cx="3474721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>
                <a:solidFill>
                  <a:srgbClr val="2F5D8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Value (V)</a:t>
            </a:r>
          </a:p>
        </p:txBody>
      </p:sp>
      <p:sp>
        <p:nvSpPr>
          <p:cNvPr id="361" name="Text 16"/>
          <p:cNvSpPr txBox="1"/>
          <p:nvPr/>
        </p:nvSpPr>
        <p:spPr>
          <a:xfrm>
            <a:off x="8046719" y="2148839"/>
            <a:ext cx="347472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No YouTube</a:t>
            </a:r>
          </a:p>
        </p:txBody>
      </p:sp>
      <p:sp>
        <p:nvSpPr>
          <p:cNvPr id="362" name="Text 17"/>
          <p:cNvSpPr txBox="1"/>
          <p:nvPr/>
        </p:nvSpPr>
        <p:spPr>
          <a:xfrm>
            <a:off x="8046719" y="2468879"/>
            <a:ext cx="3474721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 vídeo em si</a:t>
            </a:r>
          </a:p>
        </p:txBody>
      </p:sp>
      <p:sp>
        <p:nvSpPr>
          <p:cNvPr id="363" name="Text 18"/>
          <p:cNvSpPr txBox="1"/>
          <p:nvPr/>
        </p:nvSpPr>
        <p:spPr>
          <a:xfrm>
            <a:off x="8046719" y="2880360"/>
            <a:ext cx="347472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F5F5F"/>
                </a:solidFill>
              </a:defRPr>
            </a:lvl1pPr>
          </a:lstStyle>
          <a:p>
            <a:pPr/>
            <a:r>
              <a:t>o vídeo que você assiste</a:t>
            </a:r>
          </a:p>
        </p:txBody>
      </p:sp>
      <p:sp>
        <p:nvSpPr>
          <p:cNvPr id="364" name="Text 19"/>
          <p:cNvSpPr txBox="1"/>
          <p:nvPr/>
        </p:nvSpPr>
        <p:spPr>
          <a:xfrm>
            <a:off x="8046719" y="3474720"/>
            <a:ext cx="347472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Na frase</a:t>
            </a:r>
          </a:p>
        </p:txBody>
      </p:sp>
      <p:sp>
        <p:nvSpPr>
          <p:cNvPr id="365" name="Text 20"/>
          <p:cNvSpPr txBox="1"/>
          <p:nvPr/>
        </p:nvSpPr>
        <p:spPr>
          <a:xfrm>
            <a:off x="8046719" y="3794759"/>
            <a:ext cx="3474721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o conteúdo que a palavra entrega</a:t>
            </a:r>
          </a:p>
        </p:txBody>
      </p:sp>
      <p:sp>
        <p:nvSpPr>
          <p:cNvPr id="366" name="Shape 21"/>
          <p:cNvSpPr/>
          <p:nvPr/>
        </p:nvSpPr>
        <p:spPr>
          <a:xfrm>
            <a:off x="640079" y="4892040"/>
            <a:ext cx="10911537" cy="91440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7" name="Text 22"/>
          <p:cNvSpPr txBox="1"/>
          <p:nvPr/>
        </p:nvSpPr>
        <p:spPr>
          <a:xfrm>
            <a:off x="914399" y="5082366"/>
            <a:ext cx="10362897" cy="533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A diferença: a atenção não escolhe um vídeo só. Ela mistura um pouco de cada, mais dos que combinam melhor.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A IDEIA</a:t>
            </a:r>
          </a:p>
        </p:txBody>
      </p:sp>
      <p:sp>
        <p:nvSpPr>
          <p:cNvPr id="372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Uma busca que mistura as respostas</a:t>
            </a:r>
          </a:p>
        </p:txBody>
      </p:sp>
      <p:sp>
        <p:nvSpPr>
          <p:cNvPr id="373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374" name="Shape 3"/>
          <p:cNvSpPr/>
          <p:nvPr/>
        </p:nvSpPr>
        <p:spPr>
          <a:xfrm>
            <a:off x="640080" y="2697479"/>
            <a:ext cx="2194561" cy="822961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5" name="Text 4"/>
          <p:cNvSpPr txBox="1"/>
          <p:nvPr/>
        </p:nvSpPr>
        <p:spPr>
          <a:xfrm>
            <a:off x="640080" y="3004383"/>
            <a:ext cx="219456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1B1B1B"/>
                </a:solidFill>
              </a:defRPr>
            </a:lvl1pPr>
          </a:lstStyle>
          <a:p>
            <a:pPr/>
            <a:r>
              <a:t>cavalo + bispo</a:t>
            </a:r>
          </a:p>
        </p:txBody>
      </p:sp>
      <p:sp>
        <p:nvSpPr>
          <p:cNvPr id="376" name="Text 5"/>
          <p:cNvSpPr txBox="1"/>
          <p:nvPr/>
        </p:nvSpPr>
        <p:spPr>
          <a:xfrm>
            <a:off x="457199" y="2286000"/>
            <a:ext cx="2560322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9E2A2B"/>
                </a:solidFill>
              </a:defRPr>
            </a:lvl1pPr>
          </a:lstStyle>
          <a:p>
            <a:pPr/>
            <a:r>
              <a:t>o que procuro (query)</a:t>
            </a:r>
          </a:p>
        </p:txBody>
      </p:sp>
      <p:sp>
        <p:nvSpPr>
          <p:cNvPr id="377" name="Text 6"/>
          <p:cNvSpPr txBox="1"/>
          <p:nvPr/>
        </p:nvSpPr>
        <p:spPr>
          <a:xfrm>
            <a:off x="3749040" y="1371600"/>
            <a:ext cx="18288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peça (key)</a:t>
            </a:r>
          </a:p>
        </p:txBody>
      </p:sp>
      <p:sp>
        <p:nvSpPr>
          <p:cNvPr id="378" name="Text 7"/>
          <p:cNvSpPr txBox="1"/>
          <p:nvPr/>
        </p:nvSpPr>
        <p:spPr>
          <a:xfrm>
            <a:off x="5669279" y="1371600"/>
            <a:ext cx="128016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peso</a:t>
            </a:r>
          </a:p>
        </p:txBody>
      </p:sp>
      <p:sp>
        <p:nvSpPr>
          <p:cNvPr id="379" name="Text 8"/>
          <p:cNvSpPr txBox="1"/>
          <p:nvPr/>
        </p:nvSpPr>
        <p:spPr>
          <a:xfrm>
            <a:off x="6949440" y="1371600"/>
            <a:ext cx="146304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pontos (value)</a:t>
            </a:r>
          </a:p>
        </p:txBody>
      </p:sp>
      <p:sp>
        <p:nvSpPr>
          <p:cNvPr id="380" name="Shape 9"/>
          <p:cNvSpPr/>
          <p:nvPr/>
        </p:nvSpPr>
        <p:spPr>
          <a:xfrm>
            <a:off x="3840479" y="1783079"/>
            <a:ext cx="164592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1" name="Text 10"/>
          <p:cNvSpPr txBox="1"/>
          <p:nvPr/>
        </p:nvSpPr>
        <p:spPr>
          <a:xfrm>
            <a:off x="3840479" y="1904685"/>
            <a:ext cx="164592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peão</a:t>
            </a:r>
          </a:p>
        </p:txBody>
      </p:sp>
      <p:sp>
        <p:nvSpPr>
          <p:cNvPr id="382" name="Shape 11"/>
          <p:cNvSpPr/>
          <p:nvPr/>
        </p:nvSpPr>
        <p:spPr>
          <a:xfrm>
            <a:off x="5669279" y="1783079"/>
            <a:ext cx="1280161" cy="429769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3" name="Text 12"/>
          <p:cNvSpPr txBox="1"/>
          <p:nvPr/>
        </p:nvSpPr>
        <p:spPr>
          <a:xfrm>
            <a:off x="5669279" y="1904685"/>
            <a:ext cx="12801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1%</a:t>
            </a:r>
          </a:p>
        </p:txBody>
      </p:sp>
      <p:sp>
        <p:nvSpPr>
          <p:cNvPr id="384" name="Shape 13"/>
          <p:cNvSpPr/>
          <p:nvPr/>
        </p:nvSpPr>
        <p:spPr>
          <a:xfrm>
            <a:off x="7132319" y="1783079"/>
            <a:ext cx="109728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5" name="Text 14"/>
          <p:cNvSpPr txBox="1"/>
          <p:nvPr/>
        </p:nvSpPr>
        <p:spPr>
          <a:xfrm>
            <a:off x="7132319" y="1904685"/>
            <a:ext cx="10972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86" name="Shape 15"/>
          <p:cNvSpPr/>
          <p:nvPr/>
        </p:nvSpPr>
        <p:spPr>
          <a:xfrm>
            <a:off x="3840479" y="2286000"/>
            <a:ext cx="164592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7" name="Text 16"/>
          <p:cNvSpPr txBox="1"/>
          <p:nvPr/>
        </p:nvSpPr>
        <p:spPr>
          <a:xfrm>
            <a:off x="3840479" y="2407605"/>
            <a:ext cx="164592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cavalo</a:t>
            </a:r>
          </a:p>
        </p:txBody>
      </p:sp>
      <p:sp>
        <p:nvSpPr>
          <p:cNvPr id="388" name="Shape 17"/>
          <p:cNvSpPr/>
          <p:nvPr/>
        </p:nvSpPr>
        <p:spPr>
          <a:xfrm>
            <a:off x="5669279" y="2286000"/>
            <a:ext cx="1280161" cy="429769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9" name="Text 18"/>
          <p:cNvSpPr txBox="1"/>
          <p:nvPr/>
        </p:nvSpPr>
        <p:spPr>
          <a:xfrm>
            <a:off x="5669279" y="2407605"/>
            <a:ext cx="12801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49%</a:t>
            </a:r>
          </a:p>
        </p:txBody>
      </p:sp>
      <p:sp>
        <p:nvSpPr>
          <p:cNvPr id="390" name="Shape 19"/>
          <p:cNvSpPr/>
          <p:nvPr/>
        </p:nvSpPr>
        <p:spPr>
          <a:xfrm>
            <a:off x="7132319" y="2286000"/>
            <a:ext cx="109728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1" name="Text 20"/>
          <p:cNvSpPr txBox="1"/>
          <p:nvPr/>
        </p:nvSpPr>
        <p:spPr>
          <a:xfrm>
            <a:off x="7132319" y="2407605"/>
            <a:ext cx="109728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92" name="Shape 21"/>
          <p:cNvSpPr/>
          <p:nvPr/>
        </p:nvSpPr>
        <p:spPr>
          <a:xfrm>
            <a:off x="3840479" y="2788920"/>
            <a:ext cx="164592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3" name="Text 22"/>
          <p:cNvSpPr txBox="1"/>
          <p:nvPr/>
        </p:nvSpPr>
        <p:spPr>
          <a:xfrm>
            <a:off x="3840479" y="2910526"/>
            <a:ext cx="164592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bispo</a:t>
            </a:r>
          </a:p>
        </p:txBody>
      </p:sp>
      <p:sp>
        <p:nvSpPr>
          <p:cNvPr id="394" name="Shape 23"/>
          <p:cNvSpPr/>
          <p:nvPr/>
        </p:nvSpPr>
        <p:spPr>
          <a:xfrm>
            <a:off x="5669279" y="2788920"/>
            <a:ext cx="1280161" cy="429769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5" name="Text 24"/>
          <p:cNvSpPr txBox="1"/>
          <p:nvPr/>
        </p:nvSpPr>
        <p:spPr>
          <a:xfrm>
            <a:off x="5669279" y="2910526"/>
            <a:ext cx="12801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49%</a:t>
            </a:r>
          </a:p>
        </p:txBody>
      </p:sp>
      <p:sp>
        <p:nvSpPr>
          <p:cNvPr id="396" name="Shape 25"/>
          <p:cNvSpPr/>
          <p:nvPr/>
        </p:nvSpPr>
        <p:spPr>
          <a:xfrm>
            <a:off x="7132319" y="2788920"/>
            <a:ext cx="109728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7" name="Text 26"/>
          <p:cNvSpPr txBox="1"/>
          <p:nvPr/>
        </p:nvSpPr>
        <p:spPr>
          <a:xfrm>
            <a:off x="7132319" y="2910526"/>
            <a:ext cx="10972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98" name="Shape 27"/>
          <p:cNvSpPr/>
          <p:nvPr/>
        </p:nvSpPr>
        <p:spPr>
          <a:xfrm>
            <a:off x="3840479" y="3291840"/>
            <a:ext cx="164592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9" name="Text 28"/>
          <p:cNvSpPr txBox="1"/>
          <p:nvPr/>
        </p:nvSpPr>
        <p:spPr>
          <a:xfrm>
            <a:off x="3840479" y="3413446"/>
            <a:ext cx="164592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torre</a:t>
            </a:r>
          </a:p>
        </p:txBody>
      </p:sp>
      <p:sp>
        <p:nvSpPr>
          <p:cNvPr id="400" name="Shape 29"/>
          <p:cNvSpPr/>
          <p:nvPr/>
        </p:nvSpPr>
        <p:spPr>
          <a:xfrm>
            <a:off x="5669279" y="3291840"/>
            <a:ext cx="1280161" cy="429769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1" name="Text 30"/>
          <p:cNvSpPr txBox="1"/>
          <p:nvPr/>
        </p:nvSpPr>
        <p:spPr>
          <a:xfrm>
            <a:off x="5669279" y="3413446"/>
            <a:ext cx="12801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1%</a:t>
            </a:r>
          </a:p>
        </p:txBody>
      </p:sp>
      <p:sp>
        <p:nvSpPr>
          <p:cNvPr id="402" name="Shape 31"/>
          <p:cNvSpPr/>
          <p:nvPr/>
        </p:nvSpPr>
        <p:spPr>
          <a:xfrm>
            <a:off x="7132319" y="3291840"/>
            <a:ext cx="109728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3" name="Text 32"/>
          <p:cNvSpPr txBox="1"/>
          <p:nvPr/>
        </p:nvSpPr>
        <p:spPr>
          <a:xfrm>
            <a:off x="7132319" y="3413446"/>
            <a:ext cx="10972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404" name="Shape 33"/>
          <p:cNvSpPr/>
          <p:nvPr/>
        </p:nvSpPr>
        <p:spPr>
          <a:xfrm>
            <a:off x="3840479" y="3794759"/>
            <a:ext cx="164592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5" name="Text 34"/>
          <p:cNvSpPr txBox="1"/>
          <p:nvPr/>
        </p:nvSpPr>
        <p:spPr>
          <a:xfrm>
            <a:off x="3840479" y="3916365"/>
            <a:ext cx="164592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dama</a:t>
            </a:r>
          </a:p>
        </p:txBody>
      </p:sp>
      <p:sp>
        <p:nvSpPr>
          <p:cNvPr id="406" name="Shape 35"/>
          <p:cNvSpPr/>
          <p:nvPr/>
        </p:nvSpPr>
        <p:spPr>
          <a:xfrm>
            <a:off x="5669279" y="3794759"/>
            <a:ext cx="1280161" cy="429769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7" name="Text 36"/>
          <p:cNvSpPr txBox="1"/>
          <p:nvPr/>
        </p:nvSpPr>
        <p:spPr>
          <a:xfrm>
            <a:off x="5669279" y="3916365"/>
            <a:ext cx="12801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1%</a:t>
            </a:r>
          </a:p>
        </p:txBody>
      </p:sp>
      <p:sp>
        <p:nvSpPr>
          <p:cNvPr id="408" name="Shape 37"/>
          <p:cNvSpPr/>
          <p:nvPr/>
        </p:nvSpPr>
        <p:spPr>
          <a:xfrm>
            <a:off x="7132319" y="3794759"/>
            <a:ext cx="1097281" cy="42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9" name="Text 38"/>
          <p:cNvSpPr txBox="1"/>
          <p:nvPr/>
        </p:nvSpPr>
        <p:spPr>
          <a:xfrm>
            <a:off x="7132319" y="3916365"/>
            <a:ext cx="109728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410" name="Shape 39"/>
          <p:cNvSpPr/>
          <p:nvPr/>
        </p:nvSpPr>
        <p:spPr>
          <a:xfrm>
            <a:off x="2880360" y="3108960"/>
            <a:ext cx="86868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411" name="Shape 40"/>
          <p:cNvSpPr/>
          <p:nvPr/>
        </p:nvSpPr>
        <p:spPr>
          <a:xfrm>
            <a:off x="8366759" y="3108960"/>
            <a:ext cx="109728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412" name="Text 41"/>
          <p:cNvSpPr txBox="1"/>
          <p:nvPr/>
        </p:nvSpPr>
        <p:spPr>
          <a:xfrm>
            <a:off x="8366759" y="2697479"/>
            <a:ext cx="109728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300">
                <a:solidFill>
                  <a:srgbClr val="5F5F5F"/>
                </a:solidFill>
              </a:defRPr>
            </a:lvl1pPr>
          </a:lstStyle>
          <a:p>
            <a:pPr/>
            <a:r>
              <a:t>mistura</a:t>
            </a:r>
          </a:p>
        </p:txBody>
      </p:sp>
      <p:sp>
        <p:nvSpPr>
          <p:cNvPr id="413" name="Shape 42"/>
          <p:cNvSpPr/>
          <p:nvPr/>
        </p:nvSpPr>
        <p:spPr>
          <a:xfrm>
            <a:off x="9555480" y="2697479"/>
            <a:ext cx="1828801" cy="822961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4" name="Text 43"/>
          <p:cNvSpPr txBox="1"/>
          <p:nvPr/>
        </p:nvSpPr>
        <p:spPr>
          <a:xfrm>
            <a:off x="9555480" y="2912109"/>
            <a:ext cx="1828801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6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3.05</a:t>
            </a:r>
          </a:p>
        </p:txBody>
      </p:sp>
      <p:sp>
        <p:nvSpPr>
          <p:cNvPr id="415" name="Text 44"/>
          <p:cNvSpPr txBox="1"/>
          <p:nvPr/>
        </p:nvSpPr>
        <p:spPr>
          <a:xfrm>
            <a:off x="9555480" y="2286000"/>
            <a:ext cx="18288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5F5F5F"/>
                </a:solidFill>
              </a:defRPr>
            </a:lvl1pPr>
          </a:lstStyle>
          <a:p>
            <a:pPr/>
            <a:r>
              <a:t>resposta</a:t>
            </a:r>
          </a:p>
        </p:txBody>
      </p:sp>
      <p:sp>
        <p:nvSpPr>
          <p:cNvPr id="416" name="Text 45"/>
          <p:cNvSpPr txBox="1"/>
          <p:nvPr/>
        </p:nvSpPr>
        <p:spPr>
          <a:xfrm>
            <a:off x="640079" y="4800600"/>
            <a:ext cx="10789922" cy="53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Em vez de achar uma única entrada, a atenção mistura todas, dando mais peso às que combinam com a consulta.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OS TRÊS PASSOS</a:t>
            </a:r>
          </a:p>
        </p:txBody>
      </p:sp>
      <p:sp>
        <p:nvSpPr>
          <p:cNvPr id="421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Passo 1: comparar</a:t>
            </a:r>
          </a:p>
        </p:txBody>
      </p:sp>
      <p:sp>
        <p:nvSpPr>
          <p:cNvPr id="422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423" name="Text 3"/>
          <p:cNvSpPr txBox="1"/>
          <p:nvPr/>
        </p:nvSpPr>
        <p:spPr>
          <a:xfrm>
            <a:off x="640080" y="1463039"/>
            <a:ext cx="731521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24" name="Text 4"/>
          <p:cNvSpPr txBox="1"/>
          <p:nvPr/>
        </p:nvSpPr>
        <p:spPr>
          <a:xfrm>
            <a:off x="1463039" y="1600200"/>
            <a:ext cx="4572001" cy="53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Cada palavra compara o que procura (query) com o que cada uma das outras oferece (key).</a:t>
            </a:r>
          </a:p>
        </p:txBody>
      </p:sp>
      <p:sp>
        <p:nvSpPr>
          <p:cNvPr id="425" name="Text 5"/>
          <p:cNvSpPr txBox="1"/>
          <p:nvPr/>
        </p:nvSpPr>
        <p:spPr>
          <a:xfrm>
            <a:off x="1463039" y="2834639"/>
            <a:ext cx="4572001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</a:defRPr>
            </a:lvl1pPr>
          </a:lstStyle>
          <a:p>
            <a:pPr/>
            <a:r>
              <a:t>Número maior: combinam mais.</a:t>
            </a:r>
          </a:p>
        </p:txBody>
      </p:sp>
      <p:sp>
        <p:nvSpPr>
          <p:cNvPr id="426" name="Shape 6"/>
          <p:cNvSpPr/>
          <p:nvPr/>
        </p:nvSpPr>
        <p:spPr>
          <a:xfrm>
            <a:off x="640079" y="4023359"/>
            <a:ext cx="5394962" cy="74980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7" name="Text 7"/>
          <p:cNvSpPr txBox="1"/>
          <p:nvPr/>
        </p:nvSpPr>
        <p:spPr>
          <a:xfrm>
            <a:off x="914399" y="4206240"/>
            <a:ext cx="493776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scores = Q @ </a:t>
            </a:r>
            <a:r>
              <a:rPr b="1">
                <a:solidFill>
                  <a:srgbClr val="9E2A2B"/>
                </a:solidFill>
              </a:rPr>
              <a:t>K.T</a:t>
            </a:r>
            <a:r>
              <a:t> / np.sqrt(d_k)</a:t>
            </a:r>
          </a:p>
        </p:txBody>
      </p:sp>
      <p:sp>
        <p:nvSpPr>
          <p:cNvPr id="428" name="Text 8"/>
          <p:cNvSpPr txBox="1"/>
          <p:nvPr/>
        </p:nvSpPr>
        <p:spPr>
          <a:xfrm>
            <a:off x="640079" y="4983479"/>
            <a:ext cx="539496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400">
                <a:solidFill>
                  <a:srgbClr val="5F5F5F"/>
                </a:solidFill>
              </a:defRPr>
            </a:lvl1pPr>
          </a:lstStyle>
          <a:p>
            <a:pPr/>
            <a:r>
              <a:t>K.T é a tabela K "deitada" (transposta), para comparar linha com linha.</a:t>
            </a:r>
          </a:p>
        </p:txBody>
      </p:sp>
      <p:sp>
        <p:nvSpPr>
          <p:cNvPr id="429" name="Shape 9"/>
          <p:cNvSpPr/>
          <p:nvPr/>
        </p:nvSpPr>
        <p:spPr>
          <a:xfrm>
            <a:off x="7772400" y="2103120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0" name="Text 10"/>
          <p:cNvSpPr txBox="1"/>
          <p:nvPr/>
        </p:nvSpPr>
        <p:spPr>
          <a:xfrm>
            <a:off x="7772400" y="2535621"/>
            <a:ext cx="10515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0.71</a:t>
            </a:r>
          </a:p>
        </p:txBody>
      </p:sp>
      <p:sp>
        <p:nvSpPr>
          <p:cNvPr id="431" name="Shape 11"/>
          <p:cNvSpPr/>
          <p:nvPr/>
        </p:nvSpPr>
        <p:spPr>
          <a:xfrm>
            <a:off x="8823959" y="2103120"/>
            <a:ext cx="1051561" cy="105156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2" name="Text 12"/>
          <p:cNvSpPr txBox="1"/>
          <p:nvPr/>
        </p:nvSpPr>
        <p:spPr>
          <a:xfrm>
            <a:off x="8823959" y="2535621"/>
            <a:ext cx="10515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0.00</a:t>
            </a:r>
          </a:p>
        </p:txBody>
      </p:sp>
      <p:sp>
        <p:nvSpPr>
          <p:cNvPr id="433" name="Shape 13"/>
          <p:cNvSpPr/>
          <p:nvPr/>
        </p:nvSpPr>
        <p:spPr>
          <a:xfrm>
            <a:off x="9875519" y="2103120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4" name="Text 14"/>
          <p:cNvSpPr txBox="1"/>
          <p:nvPr/>
        </p:nvSpPr>
        <p:spPr>
          <a:xfrm>
            <a:off x="9875519" y="2535621"/>
            <a:ext cx="10515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0.71</a:t>
            </a:r>
          </a:p>
        </p:txBody>
      </p:sp>
      <p:sp>
        <p:nvSpPr>
          <p:cNvPr id="435" name="Shape 15"/>
          <p:cNvSpPr/>
          <p:nvPr/>
        </p:nvSpPr>
        <p:spPr>
          <a:xfrm>
            <a:off x="7772400" y="3154679"/>
            <a:ext cx="1051561" cy="105156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6" name="Text 16"/>
          <p:cNvSpPr txBox="1"/>
          <p:nvPr/>
        </p:nvSpPr>
        <p:spPr>
          <a:xfrm>
            <a:off x="7772400" y="3587181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0.00</a:t>
            </a:r>
          </a:p>
        </p:txBody>
      </p:sp>
      <p:sp>
        <p:nvSpPr>
          <p:cNvPr id="437" name="Shape 17"/>
          <p:cNvSpPr/>
          <p:nvPr/>
        </p:nvSpPr>
        <p:spPr>
          <a:xfrm>
            <a:off x="8823959" y="3154679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8" name="Text 18"/>
          <p:cNvSpPr txBox="1"/>
          <p:nvPr/>
        </p:nvSpPr>
        <p:spPr>
          <a:xfrm>
            <a:off x="8823959" y="3587181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0.71</a:t>
            </a:r>
          </a:p>
        </p:txBody>
      </p:sp>
      <p:sp>
        <p:nvSpPr>
          <p:cNvPr id="439" name="Shape 19"/>
          <p:cNvSpPr/>
          <p:nvPr/>
        </p:nvSpPr>
        <p:spPr>
          <a:xfrm>
            <a:off x="9875519" y="3154679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0" name="Text 20"/>
          <p:cNvSpPr txBox="1"/>
          <p:nvPr/>
        </p:nvSpPr>
        <p:spPr>
          <a:xfrm>
            <a:off x="9875519" y="3587181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0.71</a:t>
            </a:r>
          </a:p>
        </p:txBody>
      </p:sp>
      <p:sp>
        <p:nvSpPr>
          <p:cNvPr id="441" name="Shape 21"/>
          <p:cNvSpPr/>
          <p:nvPr/>
        </p:nvSpPr>
        <p:spPr>
          <a:xfrm>
            <a:off x="7772400" y="4206240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2" name="Text 22"/>
          <p:cNvSpPr txBox="1"/>
          <p:nvPr/>
        </p:nvSpPr>
        <p:spPr>
          <a:xfrm>
            <a:off x="7772400" y="4638742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0.71</a:t>
            </a:r>
          </a:p>
        </p:txBody>
      </p:sp>
      <p:sp>
        <p:nvSpPr>
          <p:cNvPr id="443" name="Shape 23"/>
          <p:cNvSpPr/>
          <p:nvPr/>
        </p:nvSpPr>
        <p:spPr>
          <a:xfrm>
            <a:off x="8823959" y="4206240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4" name="Text 24"/>
          <p:cNvSpPr txBox="1"/>
          <p:nvPr/>
        </p:nvSpPr>
        <p:spPr>
          <a:xfrm>
            <a:off x="8823959" y="4638742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0.71</a:t>
            </a:r>
          </a:p>
        </p:txBody>
      </p:sp>
      <p:sp>
        <p:nvSpPr>
          <p:cNvPr id="445" name="Shape 25"/>
          <p:cNvSpPr/>
          <p:nvPr/>
        </p:nvSpPr>
        <p:spPr>
          <a:xfrm>
            <a:off x="9875519" y="4206240"/>
            <a:ext cx="1051561" cy="105156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6" name="Text 26"/>
          <p:cNvSpPr txBox="1"/>
          <p:nvPr/>
        </p:nvSpPr>
        <p:spPr>
          <a:xfrm>
            <a:off x="9875519" y="4638742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1.41</a:t>
            </a:r>
          </a:p>
        </p:txBody>
      </p:sp>
      <p:sp>
        <p:nvSpPr>
          <p:cNvPr id="447" name="Text 27"/>
          <p:cNvSpPr txBox="1"/>
          <p:nvPr/>
        </p:nvSpPr>
        <p:spPr>
          <a:xfrm>
            <a:off x="6675119" y="253422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448" name="Text 28"/>
          <p:cNvSpPr txBox="1"/>
          <p:nvPr/>
        </p:nvSpPr>
        <p:spPr>
          <a:xfrm>
            <a:off x="6675119" y="358578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449" name="Text 29"/>
          <p:cNvSpPr txBox="1"/>
          <p:nvPr/>
        </p:nvSpPr>
        <p:spPr>
          <a:xfrm>
            <a:off x="6675119" y="463734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450" name="Text 30"/>
          <p:cNvSpPr txBox="1"/>
          <p:nvPr/>
        </p:nvSpPr>
        <p:spPr>
          <a:xfrm>
            <a:off x="7498080" y="1783079"/>
            <a:ext cx="16002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451" name="Text 31"/>
          <p:cNvSpPr txBox="1"/>
          <p:nvPr/>
        </p:nvSpPr>
        <p:spPr>
          <a:xfrm>
            <a:off x="8549640" y="1783079"/>
            <a:ext cx="16002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452" name="Text 32"/>
          <p:cNvSpPr txBox="1"/>
          <p:nvPr/>
        </p:nvSpPr>
        <p:spPr>
          <a:xfrm>
            <a:off x="9601200" y="1783079"/>
            <a:ext cx="160020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453" name="Text 33"/>
          <p:cNvSpPr txBox="1"/>
          <p:nvPr/>
        </p:nvSpPr>
        <p:spPr>
          <a:xfrm>
            <a:off x="7772400" y="5349240"/>
            <a:ext cx="315468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scores (comparações)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OS TRÊS PASSOS</a:t>
            </a:r>
          </a:p>
        </p:txBody>
      </p:sp>
      <p:sp>
        <p:nvSpPr>
          <p:cNvPr id="458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Passo 2: pesar</a:t>
            </a:r>
          </a:p>
        </p:txBody>
      </p:sp>
      <p:sp>
        <p:nvSpPr>
          <p:cNvPr id="459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460" name="Text 3"/>
          <p:cNvSpPr txBox="1"/>
          <p:nvPr/>
        </p:nvSpPr>
        <p:spPr>
          <a:xfrm>
            <a:off x="640080" y="1463039"/>
            <a:ext cx="731521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61" name="Text 4"/>
          <p:cNvSpPr txBox="1"/>
          <p:nvPr/>
        </p:nvSpPr>
        <p:spPr>
          <a:xfrm>
            <a:off x="1463039" y="1600200"/>
            <a:ext cx="4572001" cy="53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A softmax transforma cada linha em porcentagens que somam 100%.</a:t>
            </a:r>
          </a:p>
        </p:txBody>
      </p:sp>
      <p:sp>
        <p:nvSpPr>
          <p:cNvPr id="462" name="Text 5"/>
          <p:cNvSpPr txBox="1"/>
          <p:nvPr/>
        </p:nvSpPr>
        <p:spPr>
          <a:xfrm>
            <a:off x="1463039" y="2834639"/>
            <a:ext cx="4572001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</a:defRPr>
            </a:lvl1pPr>
          </a:lstStyle>
          <a:p>
            <a:pPr/>
            <a:r>
              <a:t>Quem combina mais leva a maior fatia.</a:t>
            </a:r>
          </a:p>
        </p:txBody>
      </p:sp>
      <p:sp>
        <p:nvSpPr>
          <p:cNvPr id="463" name="Shape 6"/>
          <p:cNvSpPr/>
          <p:nvPr/>
        </p:nvSpPr>
        <p:spPr>
          <a:xfrm>
            <a:off x="640079" y="4023359"/>
            <a:ext cx="5394962" cy="74980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4" name="Text 7"/>
          <p:cNvSpPr txBox="1"/>
          <p:nvPr/>
        </p:nvSpPr>
        <p:spPr>
          <a:xfrm>
            <a:off x="914399" y="4206240"/>
            <a:ext cx="493776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pesos = </a:t>
            </a:r>
            <a:r>
              <a:rPr b="1">
                <a:solidFill>
                  <a:srgbClr val="9E2A2B"/>
                </a:solidFill>
              </a:rPr>
              <a:t>softmax</a:t>
            </a:r>
            <a:r>
              <a:t>(scores)</a:t>
            </a:r>
          </a:p>
        </p:txBody>
      </p:sp>
      <p:sp>
        <p:nvSpPr>
          <p:cNvPr id="465" name="Shape 8"/>
          <p:cNvSpPr/>
          <p:nvPr/>
        </p:nvSpPr>
        <p:spPr>
          <a:xfrm>
            <a:off x="7772400" y="2103120"/>
            <a:ext cx="1051561" cy="105156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6" name="Text 9"/>
          <p:cNvSpPr txBox="1"/>
          <p:nvPr/>
        </p:nvSpPr>
        <p:spPr>
          <a:xfrm>
            <a:off x="7772400" y="2535621"/>
            <a:ext cx="10515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40%</a:t>
            </a:r>
          </a:p>
        </p:txBody>
      </p:sp>
      <p:sp>
        <p:nvSpPr>
          <p:cNvPr id="467" name="Shape 10"/>
          <p:cNvSpPr/>
          <p:nvPr/>
        </p:nvSpPr>
        <p:spPr>
          <a:xfrm>
            <a:off x="8823959" y="2103120"/>
            <a:ext cx="1051561" cy="1051561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8" name="Text 11"/>
          <p:cNvSpPr txBox="1"/>
          <p:nvPr/>
        </p:nvSpPr>
        <p:spPr>
          <a:xfrm>
            <a:off x="8823959" y="2535621"/>
            <a:ext cx="10515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469" name="Shape 12"/>
          <p:cNvSpPr/>
          <p:nvPr/>
        </p:nvSpPr>
        <p:spPr>
          <a:xfrm>
            <a:off x="9875519" y="2103120"/>
            <a:ext cx="1051561" cy="105156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0" name="Text 13"/>
          <p:cNvSpPr txBox="1"/>
          <p:nvPr/>
        </p:nvSpPr>
        <p:spPr>
          <a:xfrm>
            <a:off x="9875519" y="2535621"/>
            <a:ext cx="1051561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40%</a:t>
            </a:r>
          </a:p>
        </p:txBody>
      </p:sp>
      <p:sp>
        <p:nvSpPr>
          <p:cNvPr id="471" name="Shape 14"/>
          <p:cNvSpPr/>
          <p:nvPr/>
        </p:nvSpPr>
        <p:spPr>
          <a:xfrm>
            <a:off x="7772400" y="3154679"/>
            <a:ext cx="1051561" cy="1051561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2" name="Text 15"/>
          <p:cNvSpPr txBox="1"/>
          <p:nvPr/>
        </p:nvSpPr>
        <p:spPr>
          <a:xfrm>
            <a:off x="7772400" y="3587181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473" name="Shape 16"/>
          <p:cNvSpPr/>
          <p:nvPr/>
        </p:nvSpPr>
        <p:spPr>
          <a:xfrm>
            <a:off x="8823959" y="3154679"/>
            <a:ext cx="1051561" cy="105156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4" name="Text 17"/>
          <p:cNvSpPr txBox="1"/>
          <p:nvPr/>
        </p:nvSpPr>
        <p:spPr>
          <a:xfrm>
            <a:off x="8823959" y="3587181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40%</a:t>
            </a:r>
          </a:p>
        </p:txBody>
      </p:sp>
      <p:sp>
        <p:nvSpPr>
          <p:cNvPr id="475" name="Shape 18"/>
          <p:cNvSpPr/>
          <p:nvPr/>
        </p:nvSpPr>
        <p:spPr>
          <a:xfrm>
            <a:off x="9875519" y="3154679"/>
            <a:ext cx="1051561" cy="105156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6" name="Text 19"/>
          <p:cNvSpPr txBox="1"/>
          <p:nvPr/>
        </p:nvSpPr>
        <p:spPr>
          <a:xfrm>
            <a:off x="9875519" y="3587181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40%</a:t>
            </a:r>
          </a:p>
        </p:txBody>
      </p:sp>
      <p:sp>
        <p:nvSpPr>
          <p:cNvPr id="477" name="Shape 20"/>
          <p:cNvSpPr/>
          <p:nvPr/>
        </p:nvSpPr>
        <p:spPr>
          <a:xfrm>
            <a:off x="7772400" y="4206240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8" name="Text 21"/>
          <p:cNvSpPr txBox="1"/>
          <p:nvPr/>
        </p:nvSpPr>
        <p:spPr>
          <a:xfrm>
            <a:off x="7772400" y="4638742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25%</a:t>
            </a:r>
          </a:p>
        </p:txBody>
      </p:sp>
      <p:sp>
        <p:nvSpPr>
          <p:cNvPr id="479" name="Shape 22"/>
          <p:cNvSpPr/>
          <p:nvPr/>
        </p:nvSpPr>
        <p:spPr>
          <a:xfrm>
            <a:off x="8823959" y="4206240"/>
            <a:ext cx="1051561" cy="105156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0" name="Text 23"/>
          <p:cNvSpPr txBox="1"/>
          <p:nvPr/>
        </p:nvSpPr>
        <p:spPr>
          <a:xfrm>
            <a:off x="8823959" y="4638742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25%</a:t>
            </a:r>
          </a:p>
        </p:txBody>
      </p:sp>
      <p:sp>
        <p:nvSpPr>
          <p:cNvPr id="481" name="Shape 24"/>
          <p:cNvSpPr/>
          <p:nvPr/>
        </p:nvSpPr>
        <p:spPr>
          <a:xfrm>
            <a:off x="9875519" y="4206240"/>
            <a:ext cx="1051561" cy="105156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2" name="Text 25"/>
          <p:cNvSpPr txBox="1"/>
          <p:nvPr/>
        </p:nvSpPr>
        <p:spPr>
          <a:xfrm>
            <a:off x="9875519" y="4638742"/>
            <a:ext cx="105156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50%</a:t>
            </a:r>
          </a:p>
        </p:txBody>
      </p:sp>
      <p:sp>
        <p:nvSpPr>
          <p:cNvPr id="483" name="Text 26"/>
          <p:cNvSpPr txBox="1"/>
          <p:nvPr/>
        </p:nvSpPr>
        <p:spPr>
          <a:xfrm>
            <a:off x="6675119" y="253422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484" name="Text 27"/>
          <p:cNvSpPr txBox="1"/>
          <p:nvPr/>
        </p:nvSpPr>
        <p:spPr>
          <a:xfrm>
            <a:off x="6675119" y="358578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485" name="Text 28"/>
          <p:cNvSpPr txBox="1"/>
          <p:nvPr/>
        </p:nvSpPr>
        <p:spPr>
          <a:xfrm>
            <a:off x="6675119" y="463734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486" name="Text 29"/>
          <p:cNvSpPr txBox="1"/>
          <p:nvPr/>
        </p:nvSpPr>
        <p:spPr>
          <a:xfrm>
            <a:off x="7498080" y="1783079"/>
            <a:ext cx="16002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487" name="Text 30"/>
          <p:cNvSpPr txBox="1"/>
          <p:nvPr/>
        </p:nvSpPr>
        <p:spPr>
          <a:xfrm>
            <a:off x="8549640" y="1783079"/>
            <a:ext cx="16002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488" name="Text 31"/>
          <p:cNvSpPr txBox="1"/>
          <p:nvPr/>
        </p:nvSpPr>
        <p:spPr>
          <a:xfrm>
            <a:off x="9601200" y="1783079"/>
            <a:ext cx="160020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489" name="Text 32"/>
          <p:cNvSpPr txBox="1"/>
          <p:nvPr/>
        </p:nvSpPr>
        <p:spPr>
          <a:xfrm>
            <a:off x="7772400" y="5349240"/>
            <a:ext cx="315468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pesos: cada linha soma 100%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OS TRÊS PASSOS</a:t>
            </a:r>
          </a:p>
        </p:txBody>
      </p:sp>
      <p:sp>
        <p:nvSpPr>
          <p:cNvPr id="494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Passo 3: misturar</a:t>
            </a:r>
          </a:p>
        </p:txBody>
      </p:sp>
      <p:sp>
        <p:nvSpPr>
          <p:cNvPr id="495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496" name="Text 3"/>
          <p:cNvSpPr txBox="1"/>
          <p:nvPr/>
        </p:nvSpPr>
        <p:spPr>
          <a:xfrm>
            <a:off x="640080" y="1463039"/>
            <a:ext cx="731521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97" name="Text 4"/>
          <p:cNvSpPr txBox="1"/>
          <p:nvPr/>
        </p:nvSpPr>
        <p:spPr>
          <a:xfrm>
            <a:off x="1463039" y="1600200"/>
            <a:ext cx="4572001" cy="53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>
                <a:solidFill>
                  <a:srgbClr val="1B1B1B"/>
                </a:solidFill>
              </a:defRPr>
            </a:lvl1pPr>
          </a:lstStyle>
          <a:p>
            <a:pPr/>
            <a:r>
              <a:t>Cada palavra recebe uma mistura dos conteúdos (values), com essas porcentagens.</a:t>
            </a:r>
          </a:p>
        </p:txBody>
      </p:sp>
      <p:sp>
        <p:nvSpPr>
          <p:cNvPr id="498" name="Shape 5"/>
          <p:cNvSpPr/>
          <p:nvPr/>
        </p:nvSpPr>
        <p:spPr>
          <a:xfrm>
            <a:off x="640079" y="3108960"/>
            <a:ext cx="5394962" cy="74980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9" name="Text 6"/>
          <p:cNvSpPr txBox="1"/>
          <p:nvPr/>
        </p:nvSpPr>
        <p:spPr>
          <a:xfrm>
            <a:off x="914399" y="3291840"/>
            <a:ext cx="493776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saida = pesos @ </a:t>
            </a:r>
            <a:r>
              <a:rPr b="1">
                <a:solidFill>
                  <a:srgbClr val="9E2A2B"/>
                </a:solidFill>
              </a:rPr>
              <a:t>V</a:t>
            </a:r>
          </a:p>
        </p:txBody>
      </p:sp>
      <p:sp>
        <p:nvSpPr>
          <p:cNvPr id="500" name="Shape 7"/>
          <p:cNvSpPr/>
          <p:nvPr/>
        </p:nvSpPr>
        <p:spPr>
          <a:xfrm>
            <a:off x="640079" y="4160520"/>
            <a:ext cx="5394962" cy="1417321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1" name="Text 8"/>
          <p:cNvSpPr txBox="1"/>
          <p:nvPr/>
        </p:nvSpPr>
        <p:spPr>
          <a:xfrm>
            <a:off x="868680" y="4251959"/>
            <a:ext cx="5029201" cy="818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b="1" sz="1600">
                <a:solidFill>
                  <a:srgbClr val="1B1B1B"/>
                </a:solidFill>
              </a:defRPr>
            </a:pPr>
            <a:r>
              <a:t>rei recebe:</a:t>
            </a:r>
          </a:p>
          <a:p>
            <a:pPr>
              <a:spcBef>
                <a:spcPts val="400"/>
              </a:spcBef>
              <a:defRPr sz="1600">
                <a:solidFill>
                  <a:srgbClr val="1B1B1B"/>
                </a:solidFill>
              </a:defRPr>
            </a:pPr>
            <a:r>
              <a:t>40% de rei + 20% de protege + 40% de rainha</a:t>
            </a:r>
          </a:p>
          <a:p>
            <a:pPr>
              <a:spcBef>
                <a:spcPts val="400"/>
              </a:spcBef>
              <a:defRPr b="1" sz="1600">
                <a:solidFill>
                  <a:srgbClr val="9E2A2B"/>
                </a:solidFill>
              </a:defRPr>
            </a:pPr>
            <a:r>
              <a:t>= [6, 4]</a:t>
            </a:r>
          </a:p>
        </p:txBody>
      </p:sp>
      <p:sp>
        <p:nvSpPr>
          <p:cNvPr id="502" name="Shape 9"/>
          <p:cNvSpPr/>
          <p:nvPr/>
        </p:nvSpPr>
        <p:spPr>
          <a:xfrm>
            <a:off x="7223759" y="2103120"/>
            <a:ext cx="777241" cy="77724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3" name="Text 10"/>
          <p:cNvSpPr txBox="1"/>
          <p:nvPr/>
        </p:nvSpPr>
        <p:spPr>
          <a:xfrm>
            <a:off x="7223759" y="239846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504" name="Shape 11"/>
          <p:cNvSpPr/>
          <p:nvPr/>
        </p:nvSpPr>
        <p:spPr>
          <a:xfrm>
            <a:off x="8001000" y="2103120"/>
            <a:ext cx="777241" cy="77724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5" name="Text 12"/>
          <p:cNvSpPr txBox="1"/>
          <p:nvPr/>
        </p:nvSpPr>
        <p:spPr>
          <a:xfrm>
            <a:off x="8001000" y="239846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06" name="Shape 13"/>
          <p:cNvSpPr/>
          <p:nvPr/>
        </p:nvSpPr>
        <p:spPr>
          <a:xfrm>
            <a:off x="7223759" y="2880360"/>
            <a:ext cx="777241" cy="77724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7" name="Text 14"/>
          <p:cNvSpPr txBox="1"/>
          <p:nvPr/>
        </p:nvSpPr>
        <p:spPr>
          <a:xfrm>
            <a:off x="7223759" y="3175701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08" name="Shape 15"/>
          <p:cNvSpPr/>
          <p:nvPr/>
        </p:nvSpPr>
        <p:spPr>
          <a:xfrm>
            <a:off x="8001000" y="2880360"/>
            <a:ext cx="777241" cy="77724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9" name="Text 16"/>
          <p:cNvSpPr txBox="1"/>
          <p:nvPr/>
        </p:nvSpPr>
        <p:spPr>
          <a:xfrm>
            <a:off x="8001000" y="3175701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510" name="Shape 17"/>
          <p:cNvSpPr/>
          <p:nvPr/>
        </p:nvSpPr>
        <p:spPr>
          <a:xfrm>
            <a:off x="7223759" y="3657600"/>
            <a:ext cx="777241" cy="77724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1" name="Text 18"/>
          <p:cNvSpPr txBox="1"/>
          <p:nvPr/>
        </p:nvSpPr>
        <p:spPr>
          <a:xfrm>
            <a:off x="7223759" y="395294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12" name="Shape 19"/>
          <p:cNvSpPr/>
          <p:nvPr/>
        </p:nvSpPr>
        <p:spPr>
          <a:xfrm>
            <a:off x="8001000" y="3657600"/>
            <a:ext cx="777241" cy="777241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3" name="Text 20"/>
          <p:cNvSpPr txBox="1"/>
          <p:nvPr/>
        </p:nvSpPr>
        <p:spPr>
          <a:xfrm>
            <a:off x="8001000" y="395294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14" name="Text 21"/>
          <p:cNvSpPr txBox="1"/>
          <p:nvPr/>
        </p:nvSpPr>
        <p:spPr>
          <a:xfrm>
            <a:off x="6126479" y="239706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515" name="Text 22"/>
          <p:cNvSpPr txBox="1"/>
          <p:nvPr/>
        </p:nvSpPr>
        <p:spPr>
          <a:xfrm>
            <a:off x="6126479" y="317430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516" name="Text 23"/>
          <p:cNvSpPr txBox="1"/>
          <p:nvPr/>
        </p:nvSpPr>
        <p:spPr>
          <a:xfrm>
            <a:off x="6126479" y="395154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517" name="Text 26"/>
          <p:cNvSpPr txBox="1"/>
          <p:nvPr/>
        </p:nvSpPr>
        <p:spPr>
          <a:xfrm>
            <a:off x="7223759" y="4526279"/>
            <a:ext cx="155448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V</a:t>
            </a:r>
          </a:p>
        </p:txBody>
      </p:sp>
      <p:sp>
        <p:nvSpPr>
          <p:cNvPr id="518" name="Shape 27"/>
          <p:cNvSpPr/>
          <p:nvPr/>
        </p:nvSpPr>
        <p:spPr>
          <a:xfrm>
            <a:off x="9006840" y="3246120"/>
            <a:ext cx="54864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519" name="Shape 28"/>
          <p:cNvSpPr/>
          <p:nvPr/>
        </p:nvSpPr>
        <p:spPr>
          <a:xfrm>
            <a:off x="10424159" y="2103120"/>
            <a:ext cx="777241" cy="77724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0" name="Text 29"/>
          <p:cNvSpPr txBox="1"/>
          <p:nvPr/>
        </p:nvSpPr>
        <p:spPr>
          <a:xfrm>
            <a:off x="10424159" y="239846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521" name="Shape 30"/>
          <p:cNvSpPr/>
          <p:nvPr/>
        </p:nvSpPr>
        <p:spPr>
          <a:xfrm>
            <a:off x="11201400" y="2103120"/>
            <a:ext cx="777241" cy="77724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2" name="Text 31"/>
          <p:cNvSpPr txBox="1"/>
          <p:nvPr/>
        </p:nvSpPr>
        <p:spPr>
          <a:xfrm>
            <a:off x="11201400" y="239846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23" name="Shape 32"/>
          <p:cNvSpPr/>
          <p:nvPr/>
        </p:nvSpPr>
        <p:spPr>
          <a:xfrm>
            <a:off x="10424159" y="2880360"/>
            <a:ext cx="777241" cy="777241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4" name="Text 33"/>
          <p:cNvSpPr txBox="1"/>
          <p:nvPr/>
        </p:nvSpPr>
        <p:spPr>
          <a:xfrm>
            <a:off x="10424159" y="3175701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25" name="Shape 34"/>
          <p:cNvSpPr/>
          <p:nvPr/>
        </p:nvSpPr>
        <p:spPr>
          <a:xfrm>
            <a:off x="11201400" y="2880360"/>
            <a:ext cx="777241" cy="77724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6" name="Text 35"/>
          <p:cNvSpPr txBox="1"/>
          <p:nvPr/>
        </p:nvSpPr>
        <p:spPr>
          <a:xfrm>
            <a:off x="11201400" y="3175701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527" name="Shape 36"/>
          <p:cNvSpPr/>
          <p:nvPr/>
        </p:nvSpPr>
        <p:spPr>
          <a:xfrm>
            <a:off x="10424159" y="3657600"/>
            <a:ext cx="777241" cy="77724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8" name="Text 37"/>
          <p:cNvSpPr txBox="1"/>
          <p:nvPr/>
        </p:nvSpPr>
        <p:spPr>
          <a:xfrm>
            <a:off x="10424159" y="395294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29" name="Shape 38"/>
          <p:cNvSpPr/>
          <p:nvPr/>
        </p:nvSpPr>
        <p:spPr>
          <a:xfrm>
            <a:off x="11201400" y="3657600"/>
            <a:ext cx="777241" cy="777241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0" name="Text 39"/>
          <p:cNvSpPr txBox="1"/>
          <p:nvPr/>
        </p:nvSpPr>
        <p:spPr>
          <a:xfrm>
            <a:off x="11201400" y="3952942"/>
            <a:ext cx="77724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31" name="Text 40"/>
          <p:cNvSpPr txBox="1"/>
          <p:nvPr/>
        </p:nvSpPr>
        <p:spPr>
          <a:xfrm>
            <a:off x="9326880" y="239706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532" name="Text 41"/>
          <p:cNvSpPr txBox="1"/>
          <p:nvPr/>
        </p:nvSpPr>
        <p:spPr>
          <a:xfrm>
            <a:off x="9326880" y="317430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533" name="Text 42"/>
          <p:cNvSpPr txBox="1"/>
          <p:nvPr/>
        </p:nvSpPr>
        <p:spPr>
          <a:xfrm>
            <a:off x="9326880" y="395154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534" name="Text 45"/>
          <p:cNvSpPr txBox="1"/>
          <p:nvPr/>
        </p:nvSpPr>
        <p:spPr>
          <a:xfrm>
            <a:off x="10424159" y="4526279"/>
            <a:ext cx="155448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saída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OS TRÊS PASSOS</a:t>
            </a:r>
          </a:p>
        </p:txBody>
      </p:sp>
      <p:sp>
        <p:nvSpPr>
          <p:cNvPr id="539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Os três passos numa linha: a fórmula do artigo</a:t>
            </a:r>
          </a:p>
        </p:txBody>
      </p:sp>
      <p:sp>
        <p:nvSpPr>
          <p:cNvPr id="540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15</a:t>
            </a:r>
          </a:p>
        </p:txBody>
      </p:sp>
      <p:pic>
        <p:nvPicPr>
          <p:cNvPr id="541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011679" y="1508760"/>
            <a:ext cx="8138161" cy="1386701"/>
          </a:xfrm>
          <a:prstGeom prst="rect">
            <a:avLst/>
          </a:prstGeom>
          <a:ln w="12700">
            <a:miter lim="400000"/>
          </a:ln>
        </p:spPr>
      </p:pic>
      <p:sp>
        <p:nvSpPr>
          <p:cNvPr id="542" name="Text 3"/>
          <p:cNvSpPr txBox="1"/>
          <p:nvPr/>
        </p:nvSpPr>
        <p:spPr>
          <a:xfrm>
            <a:off x="640080" y="3520440"/>
            <a:ext cx="54864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4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43" name="Text 4"/>
          <p:cNvSpPr txBox="1"/>
          <p:nvPr/>
        </p:nvSpPr>
        <p:spPr>
          <a:xfrm>
            <a:off x="1188719" y="3611879"/>
            <a:ext cx="292608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Comparar</a:t>
            </a:r>
          </a:p>
        </p:txBody>
      </p:sp>
      <p:sp>
        <p:nvSpPr>
          <p:cNvPr id="544" name="Text 5"/>
          <p:cNvSpPr txBox="1"/>
          <p:nvPr/>
        </p:nvSpPr>
        <p:spPr>
          <a:xfrm>
            <a:off x="1188719" y="4069079"/>
            <a:ext cx="29260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Q @ K.T</a:t>
            </a:r>
          </a:p>
        </p:txBody>
      </p:sp>
      <p:sp>
        <p:nvSpPr>
          <p:cNvPr id="545" name="Text 6"/>
          <p:cNvSpPr txBox="1"/>
          <p:nvPr/>
        </p:nvSpPr>
        <p:spPr>
          <a:xfrm>
            <a:off x="4343400" y="3520440"/>
            <a:ext cx="54864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4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46" name="Text 7"/>
          <p:cNvSpPr txBox="1"/>
          <p:nvPr/>
        </p:nvSpPr>
        <p:spPr>
          <a:xfrm>
            <a:off x="4892040" y="3611879"/>
            <a:ext cx="292608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Pesar</a:t>
            </a:r>
          </a:p>
        </p:txBody>
      </p:sp>
      <p:sp>
        <p:nvSpPr>
          <p:cNvPr id="547" name="Text 8"/>
          <p:cNvSpPr txBox="1"/>
          <p:nvPr/>
        </p:nvSpPr>
        <p:spPr>
          <a:xfrm>
            <a:off x="4892040" y="4069079"/>
            <a:ext cx="29260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softmax</a:t>
            </a:r>
          </a:p>
        </p:txBody>
      </p:sp>
      <p:sp>
        <p:nvSpPr>
          <p:cNvPr id="548" name="Text 9"/>
          <p:cNvSpPr txBox="1"/>
          <p:nvPr/>
        </p:nvSpPr>
        <p:spPr>
          <a:xfrm>
            <a:off x="8046719" y="3520440"/>
            <a:ext cx="54864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4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49" name="Text 10"/>
          <p:cNvSpPr txBox="1"/>
          <p:nvPr/>
        </p:nvSpPr>
        <p:spPr>
          <a:xfrm>
            <a:off x="8595359" y="3611879"/>
            <a:ext cx="292608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000">
                <a:solidFill>
                  <a:srgbClr val="1B1B1B"/>
                </a:solidFill>
              </a:defRPr>
            </a:lvl1pPr>
          </a:lstStyle>
          <a:p>
            <a:pPr/>
            <a:r>
              <a:t>Misturar</a:t>
            </a:r>
          </a:p>
        </p:txBody>
      </p:sp>
      <p:sp>
        <p:nvSpPr>
          <p:cNvPr id="550" name="Text 11"/>
          <p:cNvSpPr txBox="1"/>
          <p:nvPr/>
        </p:nvSpPr>
        <p:spPr>
          <a:xfrm>
            <a:off x="8595359" y="4069079"/>
            <a:ext cx="29260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@ V</a:t>
            </a:r>
          </a:p>
        </p:txBody>
      </p:sp>
      <p:sp>
        <p:nvSpPr>
          <p:cNvPr id="551" name="Text 12"/>
          <p:cNvSpPr txBox="1"/>
          <p:nvPr/>
        </p:nvSpPr>
        <p:spPr>
          <a:xfrm>
            <a:off x="640079" y="5257800"/>
            <a:ext cx="10789922" cy="292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Esta linha é o coração do ChatGPT. O resto do Transformer é organização em volta dela.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OS TRÊS PASSOS</a:t>
            </a:r>
          </a:p>
        </p:txBody>
      </p:sp>
      <p:sp>
        <p:nvSpPr>
          <p:cNvPr id="556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Ninguém olha para o futuro</a:t>
            </a:r>
          </a:p>
        </p:txBody>
      </p:sp>
      <p:sp>
        <p:nvSpPr>
          <p:cNvPr id="557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16</a:t>
            </a:r>
          </a:p>
        </p:txBody>
      </p:sp>
      <p:sp>
        <p:nvSpPr>
          <p:cNvPr id="558" name="Shape 3"/>
          <p:cNvSpPr/>
          <p:nvPr/>
        </p:nvSpPr>
        <p:spPr>
          <a:xfrm>
            <a:off x="1920239" y="2011679"/>
            <a:ext cx="621793" cy="621793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9" name="Text 4"/>
          <p:cNvSpPr txBox="1"/>
          <p:nvPr/>
        </p:nvSpPr>
        <p:spPr>
          <a:xfrm>
            <a:off x="1920239" y="2239194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100%</a:t>
            </a:r>
          </a:p>
        </p:txBody>
      </p:sp>
      <p:sp>
        <p:nvSpPr>
          <p:cNvPr id="560" name="Shape 5"/>
          <p:cNvSpPr/>
          <p:nvPr/>
        </p:nvSpPr>
        <p:spPr>
          <a:xfrm>
            <a:off x="2542032" y="2011679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1" name="Text 6"/>
          <p:cNvSpPr txBox="1"/>
          <p:nvPr/>
        </p:nvSpPr>
        <p:spPr>
          <a:xfrm>
            <a:off x="2542032" y="2239194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62" name="Shape 7"/>
          <p:cNvSpPr/>
          <p:nvPr/>
        </p:nvSpPr>
        <p:spPr>
          <a:xfrm>
            <a:off x="3163823" y="2011679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3" name="Text 8"/>
          <p:cNvSpPr txBox="1"/>
          <p:nvPr/>
        </p:nvSpPr>
        <p:spPr>
          <a:xfrm>
            <a:off x="3163823" y="2239194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64" name="Shape 9"/>
          <p:cNvSpPr/>
          <p:nvPr/>
        </p:nvSpPr>
        <p:spPr>
          <a:xfrm>
            <a:off x="3785615" y="2011679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5" name="Text 10"/>
          <p:cNvSpPr txBox="1"/>
          <p:nvPr/>
        </p:nvSpPr>
        <p:spPr>
          <a:xfrm>
            <a:off x="3785615" y="2239194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66" name="Shape 11"/>
          <p:cNvSpPr/>
          <p:nvPr/>
        </p:nvSpPr>
        <p:spPr>
          <a:xfrm>
            <a:off x="4407408" y="2011679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7" name="Text 12"/>
          <p:cNvSpPr txBox="1"/>
          <p:nvPr/>
        </p:nvSpPr>
        <p:spPr>
          <a:xfrm>
            <a:off x="4407408" y="2239194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68" name="Shape 13"/>
          <p:cNvSpPr/>
          <p:nvPr/>
        </p:nvSpPr>
        <p:spPr>
          <a:xfrm>
            <a:off x="1920239" y="2633472"/>
            <a:ext cx="621793" cy="621792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9" name="Text 14"/>
          <p:cNvSpPr txBox="1"/>
          <p:nvPr/>
        </p:nvSpPr>
        <p:spPr>
          <a:xfrm>
            <a:off x="1920239" y="2860986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14%</a:t>
            </a:r>
          </a:p>
        </p:txBody>
      </p:sp>
      <p:sp>
        <p:nvSpPr>
          <p:cNvPr id="570" name="Shape 15"/>
          <p:cNvSpPr/>
          <p:nvPr/>
        </p:nvSpPr>
        <p:spPr>
          <a:xfrm>
            <a:off x="2542032" y="2633472"/>
            <a:ext cx="621793" cy="621792"/>
          </a:xfrm>
          <a:prstGeom prst="rect">
            <a:avLst/>
          </a:prstGeom>
          <a:solidFill>
            <a:srgbClr val="2F5D8A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1" name="Text 16"/>
          <p:cNvSpPr txBox="1"/>
          <p:nvPr/>
        </p:nvSpPr>
        <p:spPr>
          <a:xfrm>
            <a:off x="2542032" y="2860986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86%</a:t>
            </a:r>
          </a:p>
        </p:txBody>
      </p:sp>
      <p:sp>
        <p:nvSpPr>
          <p:cNvPr id="572" name="Shape 17"/>
          <p:cNvSpPr/>
          <p:nvPr/>
        </p:nvSpPr>
        <p:spPr>
          <a:xfrm>
            <a:off x="3163823" y="2633472"/>
            <a:ext cx="621793" cy="621792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3" name="Text 18"/>
          <p:cNvSpPr txBox="1"/>
          <p:nvPr/>
        </p:nvSpPr>
        <p:spPr>
          <a:xfrm>
            <a:off x="3163823" y="2860986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74" name="Shape 19"/>
          <p:cNvSpPr/>
          <p:nvPr/>
        </p:nvSpPr>
        <p:spPr>
          <a:xfrm>
            <a:off x="3785615" y="2633472"/>
            <a:ext cx="621793" cy="621792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5" name="Text 20"/>
          <p:cNvSpPr txBox="1"/>
          <p:nvPr/>
        </p:nvSpPr>
        <p:spPr>
          <a:xfrm>
            <a:off x="3785615" y="2860986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76" name="Shape 21"/>
          <p:cNvSpPr/>
          <p:nvPr/>
        </p:nvSpPr>
        <p:spPr>
          <a:xfrm>
            <a:off x="4407408" y="2633472"/>
            <a:ext cx="621793" cy="621792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7" name="Text 22"/>
          <p:cNvSpPr txBox="1"/>
          <p:nvPr/>
        </p:nvSpPr>
        <p:spPr>
          <a:xfrm>
            <a:off x="4407408" y="2860986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78" name="Shape 23"/>
          <p:cNvSpPr/>
          <p:nvPr/>
        </p:nvSpPr>
        <p:spPr>
          <a:xfrm>
            <a:off x="1920239" y="3255264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9" name="Text 24"/>
          <p:cNvSpPr txBox="1"/>
          <p:nvPr/>
        </p:nvSpPr>
        <p:spPr>
          <a:xfrm>
            <a:off x="1920239" y="3482779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24%</a:t>
            </a:r>
          </a:p>
        </p:txBody>
      </p:sp>
      <p:sp>
        <p:nvSpPr>
          <p:cNvPr id="580" name="Shape 25"/>
          <p:cNvSpPr/>
          <p:nvPr/>
        </p:nvSpPr>
        <p:spPr>
          <a:xfrm>
            <a:off x="2542032" y="3255264"/>
            <a:ext cx="621793" cy="621793"/>
          </a:xfrm>
          <a:prstGeom prst="rect">
            <a:avLst/>
          </a:prstGeom>
          <a:solidFill>
            <a:srgbClr val="7FA0C4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1" name="Text 26"/>
          <p:cNvSpPr txBox="1"/>
          <p:nvPr/>
        </p:nvSpPr>
        <p:spPr>
          <a:xfrm>
            <a:off x="2542032" y="3482779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60%</a:t>
            </a:r>
          </a:p>
        </p:txBody>
      </p:sp>
      <p:sp>
        <p:nvSpPr>
          <p:cNvPr id="582" name="Shape 27"/>
          <p:cNvSpPr/>
          <p:nvPr/>
        </p:nvSpPr>
        <p:spPr>
          <a:xfrm>
            <a:off x="3163823" y="3255264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3" name="Text 28"/>
          <p:cNvSpPr txBox="1"/>
          <p:nvPr/>
        </p:nvSpPr>
        <p:spPr>
          <a:xfrm>
            <a:off x="3163823" y="3482779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16%</a:t>
            </a:r>
          </a:p>
        </p:txBody>
      </p:sp>
      <p:sp>
        <p:nvSpPr>
          <p:cNvPr id="584" name="Shape 29"/>
          <p:cNvSpPr/>
          <p:nvPr/>
        </p:nvSpPr>
        <p:spPr>
          <a:xfrm>
            <a:off x="3785615" y="3255264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5" name="Text 30"/>
          <p:cNvSpPr txBox="1"/>
          <p:nvPr/>
        </p:nvSpPr>
        <p:spPr>
          <a:xfrm>
            <a:off x="3785615" y="3482779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86" name="Shape 31"/>
          <p:cNvSpPr/>
          <p:nvPr/>
        </p:nvSpPr>
        <p:spPr>
          <a:xfrm>
            <a:off x="4407408" y="3255264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7" name="Text 32"/>
          <p:cNvSpPr txBox="1"/>
          <p:nvPr/>
        </p:nvSpPr>
        <p:spPr>
          <a:xfrm>
            <a:off x="4407408" y="3482779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88" name="Shape 33"/>
          <p:cNvSpPr/>
          <p:nvPr/>
        </p:nvSpPr>
        <p:spPr>
          <a:xfrm>
            <a:off x="1920239" y="3877055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9" name="Text 34"/>
          <p:cNvSpPr txBox="1"/>
          <p:nvPr/>
        </p:nvSpPr>
        <p:spPr>
          <a:xfrm>
            <a:off x="1920239" y="4104571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13%</a:t>
            </a:r>
          </a:p>
        </p:txBody>
      </p:sp>
      <p:sp>
        <p:nvSpPr>
          <p:cNvPr id="590" name="Shape 35"/>
          <p:cNvSpPr/>
          <p:nvPr/>
        </p:nvSpPr>
        <p:spPr>
          <a:xfrm>
            <a:off x="2542032" y="3877055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1" name="Text 36"/>
          <p:cNvSpPr txBox="1"/>
          <p:nvPr/>
        </p:nvSpPr>
        <p:spPr>
          <a:xfrm>
            <a:off x="2542032" y="4104571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22%</a:t>
            </a:r>
          </a:p>
        </p:txBody>
      </p:sp>
      <p:sp>
        <p:nvSpPr>
          <p:cNvPr id="592" name="Shape 37"/>
          <p:cNvSpPr/>
          <p:nvPr/>
        </p:nvSpPr>
        <p:spPr>
          <a:xfrm>
            <a:off x="3163823" y="3877055"/>
            <a:ext cx="621793" cy="621793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3" name="Text 38"/>
          <p:cNvSpPr txBox="1"/>
          <p:nvPr/>
        </p:nvSpPr>
        <p:spPr>
          <a:xfrm>
            <a:off x="3163823" y="4104571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29%</a:t>
            </a:r>
          </a:p>
        </p:txBody>
      </p:sp>
      <p:sp>
        <p:nvSpPr>
          <p:cNvPr id="594" name="Shape 39"/>
          <p:cNvSpPr/>
          <p:nvPr/>
        </p:nvSpPr>
        <p:spPr>
          <a:xfrm>
            <a:off x="3785615" y="3877055"/>
            <a:ext cx="621793" cy="621793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5" name="Text 40"/>
          <p:cNvSpPr txBox="1"/>
          <p:nvPr/>
        </p:nvSpPr>
        <p:spPr>
          <a:xfrm>
            <a:off x="3785615" y="4104571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36%</a:t>
            </a:r>
          </a:p>
        </p:txBody>
      </p:sp>
      <p:sp>
        <p:nvSpPr>
          <p:cNvPr id="596" name="Shape 41"/>
          <p:cNvSpPr/>
          <p:nvPr/>
        </p:nvSpPr>
        <p:spPr>
          <a:xfrm>
            <a:off x="4407408" y="3877055"/>
            <a:ext cx="621793" cy="621793"/>
          </a:xfrm>
          <a:prstGeom prst="rect">
            <a:avLst/>
          </a:prstGeom>
          <a:solidFill>
            <a:srgbClr val="FFFFFF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7" name="Text 42"/>
          <p:cNvSpPr txBox="1"/>
          <p:nvPr/>
        </p:nvSpPr>
        <p:spPr>
          <a:xfrm>
            <a:off x="4407408" y="4104571"/>
            <a:ext cx="621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598" name="Shape 43"/>
          <p:cNvSpPr/>
          <p:nvPr/>
        </p:nvSpPr>
        <p:spPr>
          <a:xfrm>
            <a:off x="1920239" y="4498847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9" name="Text 44"/>
          <p:cNvSpPr txBox="1"/>
          <p:nvPr/>
        </p:nvSpPr>
        <p:spPr>
          <a:xfrm>
            <a:off x="1920239" y="4726363"/>
            <a:ext cx="621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8%</a:t>
            </a:r>
          </a:p>
        </p:txBody>
      </p:sp>
      <p:sp>
        <p:nvSpPr>
          <p:cNvPr id="600" name="Shape 45"/>
          <p:cNvSpPr/>
          <p:nvPr/>
        </p:nvSpPr>
        <p:spPr>
          <a:xfrm>
            <a:off x="2542032" y="4498847"/>
            <a:ext cx="621793" cy="621793"/>
          </a:xfrm>
          <a:prstGeom prst="rect">
            <a:avLst/>
          </a:prstGeom>
          <a:solidFill>
            <a:srgbClr val="BFD0E3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1" name="Text 46"/>
          <p:cNvSpPr txBox="1"/>
          <p:nvPr/>
        </p:nvSpPr>
        <p:spPr>
          <a:xfrm>
            <a:off x="2542032" y="4726363"/>
            <a:ext cx="621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44%</a:t>
            </a:r>
          </a:p>
        </p:txBody>
      </p:sp>
      <p:sp>
        <p:nvSpPr>
          <p:cNvPr id="602" name="Shape 47"/>
          <p:cNvSpPr/>
          <p:nvPr/>
        </p:nvSpPr>
        <p:spPr>
          <a:xfrm>
            <a:off x="3163823" y="4498847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3" name="Text 48"/>
          <p:cNvSpPr txBox="1"/>
          <p:nvPr/>
        </p:nvSpPr>
        <p:spPr>
          <a:xfrm>
            <a:off x="3163823" y="4726363"/>
            <a:ext cx="621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24%</a:t>
            </a:r>
          </a:p>
        </p:txBody>
      </p:sp>
      <p:sp>
        <p:nvSpPr>
          <p:cNvPr id="604" name="Shape 49"/>
          <p:cNvSpPr/>
          <p:nvPr/>
        </p:nvSpPr>
        <p:spPr>
          <a:xfrm>
            <a:off x="3785615" y="4498847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5" name="Text 50"/>
          <p:cNvSpPr txBox="1"/>
          <p:nvPr/>
        </p:nvSpPr>
        <p:spPr>
          <a:xfrm>
            <a:off x="3785615" y="4726363"/>
            <a:ext cx="621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11%</a:t>
            </a:r>
          </a:p>
        </p:txBody>
      </p:sp>
      <p:sp>
        <p:nvSpPr>
          <p:cNvPr id="606" name="Shape 51"/>
          <p:cNvSpPr/>
          <p:nvPr/>
        </p:nvSpPr>
        <p:spPr>
          <a:xfrm>
            <a:off x="4407408" y="4498847"/>
            <a:ext cx="621793" cy="621793"/>
          </a:xfrm>
          <a:prstGeom prst="rect">
            <a:avLst/>
          </a:prstGeom>
          <a:solidFill>
            <a:srgbClr val="E8EEF5"/>
          </a:solidFill>
          <a:ln>
            <a:solidFill>
              <a:srgbClr val="C9C9C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7" name="Text 52"/>
          <p:cNvSpPr txBox="1"/>
          <p:nvPr/>
        </p:nvSpPr>
        <p:spPr>
          <a:xfrm>
            <a:off x="4407408" y="4726363"/>
            <a:ext cx="621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1B1B1B"/>
                </a:solidFill>
              </a:defRPr>
            </a:lvl1pPr>
          </a:lstStyle>
          <a:p>
            <a:pPr/>
            <a:r>
              <a:t>13%</a:t>
            </a:r>
          </a:p>
        </p:txBody>
      </p:sp>
      <p:sp>
        <p:nvSpPr>
          <p:cNvPr id="608" name="Text 53"/>
          <p:cNvSpPr txBox="1"/>
          <p:nvPr/>
        </p:nvSpPr>
        <p:spPr>
          <a:xfrm>
            <a:off x="822960" y="2227896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609" name="Text 54"/>
          <p:cNvSpPr txBox="1"/>
          <p:nvPr/>
        </p:nvSpPr>
        <p:spPr>
          <a:xfrm>
            <a:off x="822960" y="2849688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610" name="Text 55"/>
          <p:cNvSpPr txBox="1"/>
          <p:nvPr/>
        </p:nvSpPr>
        <p:spPr>
          <a:xfrm>
            <a:off x="822960" y="3471480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611" name="Text 56"/>
          <p:cNvSpPr txBox="1"/>
          <p:nvPr/>
        </p:nvSpPr>
        <p:spPr>
          <a:xfrm>
            <a:off x="822960" y="4093272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612" name="Text 57"/>
          <p:cNvSpPr txBox="1"/>
          <p:nvPr/>
        </p:nvSpPr>
        <p:spPr>
          <a:xfrm>
            <a:off x="822960" y="4715064"/>
            <a:ext cx="100584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613" name="Text 58"/>
          <p:cNvSpPr txBox="1"/>
          <p:nvPr/>
        </p:nvSpPr>
        <p:spPr>
          <a:xfrm>
            <a:off x="1645920" y="1691639"/>
            <a:ext cx="11704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614" name="Text 59"/>
          <p:cNvSpPr txBox="1"/>
          <p:nvPr/>
        </p:nvSpPr>
        <p:spPr>
          <a:xfrm>
            <a:off x="2267711" y="1691639"/>
            <a:ext cx="117043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rei</a:t>
            </a:r>
          </a:p>
        </p:txBody>
      </p:sp>
      <p:sp>
        <p:nvSpPr>
          <p:cNvPr id="615" name="Text 60"/>
          <p:cNvSpPr txBox="1"/>
          <p:nvPr/>
        </p:nvSpPr>
        <p:spPr>
          <a:xfrm>
            <a:off x="2889504" y="1691639"/>
            <a:ext cx="11704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protege</a:t>
            </a:r>
          </a:p>
        </p:txBody>
      </p:sp>
      <p:sp>
        <p:nvSpPr>
          <p:cNvPr id="616" name="Text 61"/>
          <p:cNvSpPr txBox="1"/>
          <p:nvPr/>
        </p:nvSpPr>
        <p:spPr>
          <a:xfrm>
            <a:off x="3511296" y="1691639"/>
            <a:ext cx="11704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617" name="Text 62"/>
          <p:cNvSpPr txBox="1"/>
          <p:nvPr/>
        </p:nvSpPr>
        <p:spPr>
          <a:xfrm>
            <a:off x="4133088" y="1691639"/>
            <a:ext cx="117043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rainha</a:t>
            </a:r>
          </a:p>
        </p:txBody>
      </p:sp>
      <p:sp>
        <p:nvSpPr>
          <p:cNvPr id="618" name="Text 63"/>
          <p:cNvSpPr txBox="1"/>
          <p:nvPr/>
        </p:nvSpPr>
        <p:spPr>
          <a:xfrm>
            <a:off x="1920239" y="5212079"/>
            <a:ext cx="310896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pesos de atenção com a máscara</a:t>
            </a:r>
          </a:p>
        </p:txBody>
      </p:sp>
      <p:sp>
        <p:nvSpPr>
          <p:cNvPr id="619" name="Text 64"/>
          <p:cNvSpPr txBox="1"/>
          <p:nvPr/>
        </p:nvSpPr>
        <p:spPr>
          <a:xfrm>
            <a:off x="6035040" y="2011679"/>
            <a:ext cx="54864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Cada palavra só olha para ela mesma e para as anteriores. Acima da diagonal, o peso é zero.</a:t>
            </a:r>
          </a:p>
        </p:txBody>
      </p:sp>
      <p:sp>
        <p:nvSpPr>
          <p:cNvPr id="620" name="Text 65"/>
          <p:cNvSpPr txBox="1"/>
          <p:nvPr/>
        </p:nvSpPr>
        <p:spPr>
          <a:xfrm>
            <a:off x="6035040" y="3246120"/>
            <a:ext cx="5486401" cy="485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5F5F5F"/>
                </a:solidFill>
              </a:defRPr>
            </a:lvl1pPr>
          </a:lstStyle>
          <a:p>
            <a:pPr/>
            <a:r>
              <a:t>Por quê? Na hora de escrever uma palavra, as seguintes ainda não existem.</a:t>
            </a:r>
          </a:p>
        </p:txBody>
      </p:sp>
      <p:sp>
        <p:nvSpPr>
          <p:cNvPr id="621" name="Shape 66"/>
          <p:cNvSpPr/>
          <p:nvPr/>
        </p:nvSpPr>
        <p:spPr>
          <a:xfrm>
            <a:off x="6035040" y="4251959"/>
            <a:ext cx="5486401" cy="74980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2" name="Text 67"/>
          <p:cNvSpPr txBox="1"/>
          <p:nvPr/>
        </p:nvSpPr>
        <p:spPr>
          <a:xfrm>
            <a:off x="6309359" y="4434840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np.tril(</a:t>
            </a:r>
            <a:r>
              <a:rPr b="1">
                <a:solidFill>
                  <a:srgbClr val="9E2A2B"/>
                </a:solidFill>
              </a:rPr>
              <a:t>np.ones((T, T))</a:t>
            </a:r>
            <a:r>
              <a:t>)</a:t>
            </a:r>
          </a:p>
        </p:txBody>
      </p:sp>
      <p:sp>
        <p:nvSpPr>
          <p:cNvPr id="623" name="Text 68"/>
          <p:cNvSpPr txBox="1"/>
          <p:nvPr/>
        </p:nvSpPr>
        <p:spPr>
          <a:xfrm>
            <a:off x="6035040" y="5212079"/>
            <a:ext cx="54864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400">
                <a:solidFill>
                  <a:srgbClr val="5F5F5F"/>
                </a:solidFill>
              </a:defRPr>
            </a:lvl1pPr>
          </a:lstStyle>
          <a:p>
            <a:pPr/>
            <a:r>
              <a:t>tril = triângulo de baixo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PRÁTICA</a:t>
            </a:r>
          </a:p>
        </p:txBody>
      </p:sp>
      <p:sp>
        <p:nvSpPr>
          <p:cNvPr id="628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Parte 1 no notebook: a atenção</a:t>
            </a:r>
          </a:p>
        </p:txBody>
      </p:sp>
      <p:sp>
        <p:nvSpPr>
          <p:cNvPr id="629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17</a:t>
            </a:r>
          </a:p>
        </p:txBody>
      </p:sp>
      <p:sp>
        <p:nvSpPr>
          <p:cNvPr id="630" name="Text 3"/>
          <p:cNvSpPr txBox="1"/>
          <p:nvPr/>
        </p:nvSpPr>
        <p:spPr>
          <a:xfrm>
            <a:off x="640080" y="1600200"/>
            <a:ext cx="2011679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5F5F5F"/>
                </a:solidFill>
              </a:defRPr>
            </a:lvl1pPr>
          </a:lstStyle>
          <a:p>
            <a:pPr/>
            <a:r>
              <a:t>Seção 1.1</a:t>
            </a:r>
          </a:p>
        </p:txBody>
      </p:sp>
      <p:sp>
        <p:nvSpPr>
          <p:cNvPr id="631" name="Text 4"/>
          <p:cNvSpPr txBox="1"/>
          <p:nvPr/>
        </p:nvSpPr>
        <p:spPr>
          <a:xfrm>
            <a:off x="2743200" y="1600200"/>
            <a:ext cx="384048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o exemplo das três palavras</a:t>
            </a:r>
          </a:p>
        </p:txBody>
      </p:sp>
      <p:sp>
        <p:nvSpPr>
          <p:cNvPr id="632" name="Text 5"/>
          <p:cNvSpPr txBox="1"/>
          <p:nvPr/>
        </p:nvSpPr>
        <p:spPr>
          <a:xfrm>
            <a:off x="640080" y="2240279"/>
            <a:ext cx="2011679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Exercício 1</a:t>
            </a:r>
          </a:p>
        </p:txBody>
      </p:sp>
      <p:sp>
        <p:nvSpPr>
          <p:cNvPr id="633" name="Text 6"/>
          <p:cNvSpPr txBox="1"/>
          <p:nvPr/>
        </p:nvSpPr>
        <p:spPr>
          <a:xfrm>
            <a:off x="2743200" y="2240279"/>
            <a:ext cx="3840480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os três passos: comparar, pesar, misturar</a:t>
            </a:r>
          </a:p>
        </p:txBody>
      </p:sp>
      <p:sp>
        <p:nvSpPr>
          <p:cNvPr id="634" name="Text 7"/>
          <p:cNvSpPr txBox="1"/>
          <p:nvPr/>
        </p:nvSpPr>
        <p:spPr>
          <a:xfrm>
            <a:off x="640080" y="2880360"/>
            <a:ext cx="2011679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5F5F5F"/>
                </a:solidFill>
              </a:defRPr>
            </a:lvl1pPr>
          </a:lstStyle>
          <a:p>
            <a:pPr/>
            <a:r>
              <a:t>Experimente</a:t>
            </a:r>
          </a:p>
        </p:txBody>
      </p:sp>
      <p:sp>
        <p:nvSpPr>
          <p:cNvPr id="635" name="Text 8"/>
          <p:cNvSpPr txBox="1"/>
          <p:nvPr/>
        </p:nvSpPr>
        <p:spPr>
          <a:xfrm>
            <a:off x="2743200" y="2880360"/>
            <a:ext cx="384048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o dicionário de peças de xadrez</a:t>
            </a:r>
          </a:p>
        </p:txBody>
      </p:sp>
      <p:sp>
        <p:nvSpPr>
          <p:cNvPr id="636" name="Text 9"/>
          <p:cNvSpPr txBox="1"/>
          <p:nvPr/>
        </p:nvSpPr>
        <p:spPr>
          <a:xfrm>
            <a:off x="640080" y="3520440"/>
            <a:ext cx="2011679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Exercício 2</a:t>
            </a:r>
          </a:p>
        </p:txBody>
      </p:sp>
      <p:sp>
        <p:nvSpPr>
          <p:cNvPr id="637" name="Text 10"/>
          <p:cNvSpPr txBox="1"/>
          <p:nvPr/>
        </p:nvSpPr>
        <p:spPr>
          <a:xfrm>
            <a:off x="2743200" y="3520440"/>
            <a:ext cx="384048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a máscara causal</a:t>
            </a:r>
          </a:p>
        </p:txBody>
      </p:sp>
      <p:sp>
        <p:nvSpPr>
          <p:cNvPr id="638" name="Shape 11"/>
          <p:cNvSpPr/>
          <p:nvPr/>
        </p:nvSpPr>
        <p:spPr>
          <a:xfrm>
            <a:off x="6400800" y="1554480"/>
            <a:ext cx="5166361" cy="228600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39" name="Text 12"/>
          <p:cNvSpPr txBox="1"/>
          <p:nvPr/>
        </p:nvSpPr>
        <p:spPr>
          <a:xfrm>
            <a:off x="6675119" y="1737360"/>
            <a:ext cx="4709161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scores = Q @ </a:t>
            </a:r>
            <a:r>
              <a:rPr b="1">
                <a:solidFill>
                  <a:srgbClr val="9E2A2B"/>
                </a:solidFill>
              </a:rPr>
              <a:t>___</a:t>
            </a:r>
            <a:r>
              <a:rPr>
                <a:solidFill>
                  <a:srgbClr val="9A9A9A"/>
                </a:solidFill>
              </a:rPr>
              <a:t>  # troque por K.T</a:t>
            </a:r>
          </a:p>
          <a:p>
            <a:pPr>
              <a:spcBef>
                <a:spcPts val="400"/>
              </a:spcBef>
              <a:defRPr sz="14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pesos = </a:t>
            </a:r>
            <a:r>
              <a:rPr b="1">
                <a:solidFill>
                  <a:srgbClr val="9E2A2B"/>
                </a:solidFill>
              </a:rPr>
              <a:t>___</a:t>
            </a:r>
            <a:r>
              <a:rPr>
                <a:solidFill>
                  <a:srgbClr val="9A9A9A"/>
                </a:solidFill>
              </a:rPr>
              <a:t>(scores)  # troque por softmax</a:t>
            </a:r>
          </a:p>
          <a:p>
            <a:pPr>
              <a:spcBef>
                <a:spcPts val="400"/>
              </a:spcBef>
              <a:defRPr sz="14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saida = pesos @ </a:t>
            </a:r>
            <a:r>
              <a:rPr b="1">
                <a:solidFill>
                  <a:srgbClr val="9E2A2B"/>
                </a:solidFill>
              </a:rPr>
              <a:t>___</a:t>
            </a:r>
            <a:r>
              <a:rPr>
                <a:solidFill>
                  <a:srgbClr val="9A9A9A"/>
                </a:solidFill>
              </a:rPr>
              <a:t>  # troque por V</a:t>
            </a:r>
          </a:p>
          <a:p>
            <a:pPr>
              <a:spcBef>
                <a:spcPts val="400"/>
              </a:spcBef>
              <a:defRPr sz="14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 np.tril(</a:t>
            </a:r>
            <a:r>
              <a:rPr b="1">
                <a:solidFill>
                  <a:srgbClr val="9E2A2B"/>
                </a:solidFill>
              </a:rPr>
              <a:t>___</a:t>
            </a:r>
            <a:r>
              <a:t>)</a:t>
            </a:r>
          </a:p>
          <a:p>
            <a:pPr>
              <a:spcBef>
                <a:spcPts val="400"/>
              </a:spcBef>
              <a:defRPr sz="1400">
                <a:solidFill>
                  <a:srgbClr val="9A9A9A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troque por np.ones((T, T))</a:t>
            </a:r>
          </a:p>
        </p:txBody>
      </p:sp>
      <p:sp>
        <p:nvSpPr>
          <p:cNvPr id="640" name="Shape 13"/>
          <p:cNvSpPr/>
          <p:nvPr/>
        </p:nvSpPr>
        <p:spPr>
          <a:xfrm>
            <a:off x="640079" y="5120640"/>
            <a:ext cx="10911537" cy="91440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1" name="Text 14"/>
          <p:cNvSpPr txBox="1"/>
          <p:nvPr/>
        </p:nvSpPr>
        <p:spPr>
          <a:xfrm>
            <a:off x="914399" y="5457016"/>
            <a:ext cx="10362897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Troque cada ___ pela resposta do comentário e aperte Shift + Enter. A célula diz se está correto.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O TRANSFORMER</a:t>
            </a:r>
          </a:p>
        </p:txBody>
      </p:sp>
      <p:sp>
        <p:nvSpPr>
          <p:cNvPr id="646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 Transformer em uma imagem</a:t>
            </a:r>
          </a:p>
        </p:txBody>
      </p:sp>
      <p:sp>
        <p:nvSpPr>
          <p:cNvPr id="647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648" name="Shape 3"/>
          <p:cNvSpPr/>
          <p:nvPr/>
        </p:nvSpPr>
        <p:spPr>
          <a:xfrm>
            <a:off x="640080" y="2148839"/>
            <a:ext cx="1600201" cy="1234442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9" name="Text 4"/>
          <p:cNvSpPr txBox="1"/>
          <p:nvPr/>
        </p:nvSpPr>
        <p:spPr>
          <a:xfrm>
            <a:off x="640080" y="2672782"/>
            <a:ext cx="16002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caracteres</a:t>
            </a:r>
          </a:p>
        </p:txBody>
      </p:sp>
      <p:sp>
        <p:nvSpPr>
          <p:cNvPr id="650" name="Shape 5"/>
          <p:cNvSpPr/>
          <p:nvPr/>
        </p:nvSpPr>
        <p:spPr>
          <a:xfrm>
            <a:off x="2286000" y="2766060"/>
            <a:ext cx="41148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651" name="Shape 6"/>
          <p:cNvSpPr/>
          <p:nvPr/>
        </p:nvSpPr>
        <p:spPr>
          <a:xfrm>
            <a:off x="2743200" y="2148839"/>
            <a:ext cx="1691640" cy="1234442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2" name="Text 7"/>
          <p:cNvSpPr txBox="1"/>
          <p:nvPr/>
        </p:nvSpPr>
        <p:spPr>
          <a:xfrm>
            <a:off x="2743200" y="2558482"/>
            <a:ext cx="1691640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1B1B1B"/>
                </a:solidFill>
              </a:defRPr>
            </a:pPr>
            <a:r>
              <a:t>vetores</a:t>
            </a:r>
          </a:p>
          <a:p>
            <a:pPr algn="ctr">
              <a:defRPr sz="1500">
                <a:solidFill>
                  <a:srgbClr val="1B1B1B"/>
                </a:solidFill>
              </a:defRPr>
            </a:pPr>
            <a:r>
              <a:t>+ posição</a:t>
            </a:r>
          </a:p>
        </p:txBody>
      </p:sp>
      <p:sp>
        <p:nvSpPr>
          <p:cNvPr id="653" name="Shape 8"/>
          <p:cNvSpPr/>
          <p:nvPr/>
        </p:nvSpPr>
        <p:spPr>
          <a:xfrm>
            <a:off x="4480559" y="2766060"/>
            <a:ext cx="41148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654" name="Shape 9"/>
          <p:cNvSpPr/>
          <p:nvPr/>
        </p:nvSpPr>
        <p:spPr>
          <a:xfrm>
            <a:off x="4937759" y="1737360"/>
            <a:ext cx="3931921" cy="2057401"/>
          </a:xfrm>
          <a:prstGeom prst="rect">
            <a:avLst/>
          </a:prstGeom>
          <a:solidFill>
            <a:srgbClr val="F3F4F6"/>
          </a:solidFill>
          <a:ln w="15875">
            <a:solidFill>
              <a:srgbClr val="2F5D8A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655" name="Text 10"/>
          <p:cNvSpPr txBox="1"/>
          <p:nvPr/>
        </p:nvSpPr>
        <p:spPr>
          <a:xfrm>
            <a:off x="4937759" y="1344167"/>
            <a:ext cx="393192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400">
                <a:solidFill>
                  <a:srgbClr val="2F5D8A"/>
                </a:solidFill>
              </a:defRPr>
            </a:lvl1pPr>
          </a:lstStyle>
          <a:p>
            <a:pPr/>
            <a:r>
              <a:t>um bloco, repetido várias vezes</a:t>
            </a:r>
          </a:p>
        </p:txBody>
      </p:sp>
      <p:sp>
        <p:nvSpPr>
          <p:cNvPr id="656" name="Shape 11"/>
          <p:cNvSpPr/>
          <p:nvPr/>
        </p:nvSpPr>
        <p:spPr>
          <a:xfrm>
            <a:off x="5166359" y="2148839"/>
            <a:ext cx="1600201" cy="1234442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7" name="Text 12"/>
          <p:cNvSpPr txBox="1"/>
          <p:nvPr/>
        </p:nvSpPr>
        <p:spPr>
          <a:xfrm>
            <a:off x="5166359" y="2661483"/>
            <a:ext cx="16002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1B1B1B"/>
                </a:solidFill>
              </a:defRPr>
            </a:lvl1pPr>
          </a:lstStyle>
          <a:p>
            <a:pPr/>
            <a:r>
              <a:t>atenção</a:t>
            </a:r>
          </a:p>
        </p:txBody>
      </p:sp>
      <p:sp>
        <p:nvSpPr>
          <p:cNvPr id="658" name="Shape 13"/>
          <p:cNvSpPr/>
          <p:nvPr/>
        </p:nvSpPr>
        <p:spPr>
          <a:xfrm>
            <a:off x="6812280" y="2766060"/>
            <a:ext cx="18288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659" name="Shape 14"/>
          <p:cNvSpPr/>
          <p:nvPr/>
        </p:nvSpPr>
        <p:spPr>
          <a:xfrm>
            <a:off x="7040880" y="2148839"/>
            <a:ext cx="1600201" cy="1234442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60" name="Text 15"/>
          <p:cNvSpPr txBox="1"/>
          <p:nvPr/>
        </p:nvSpPr>
        <p:spPr>
          <a:xfrm>
            <a:off x="7040880" y="2534483"/>
            <a:ext cx="1600201" cy="46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1B1B1B"/>
                </a:solidFill>
              </a:defRPr>
            </a:pPr>
            <a:r>
              <a:t>feed-</a:t>
            </a:r>
          </a:p>
          <a:p>
            <a:pPr algn="ctr">
              <a:defRPr sz="1600">
                <a:solidFill>
                  <a:srgbClr val="1B1B1B"/>
                </a:solidFill>
              </a:defRPr>
            </a:pPr>
            <a:r>
              <a:t>forward</a:t>
            </a:r>
          </a:p>
        </p:txBody>
      </p:sp>
      <p:sp>
        <p:nvSpPr>
          <p:cNvPr id="661" name="Shape 16"/>
          <p:cNvSpPr/>
          <p:nvPr/>
        </p:nvSpPr>
        <p:spPr>
          <a:xfrm>
            <a:off x="8915400" y="2766060"/>
            <a:ext cx="411481" cy="1"/>
          </a:xfrm>
          <a:prstGeom prst="line">
            <a:avLst/>
          </a:prstGeom>
          <a:ln w="15875">
            <a:solidFill>
              <a:srgbClr val="1B1B1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662" name="Shape 17"/>
          <p:cNvSpPr/>
          <p:nvPr/>
        </p:nvSpPr>
        <p:spPr>
          <a:xfrm>
            <a:off x="9372600" y="2148839"/>
            <a:ext cx="2148840" cy="1234442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63" name="Text 18"/>
          <p:cNvSpPr txBox="1"/>
          <p:nvPr/>
        </p:nvSpPr>
        <p:spPr>
          <a:xfrm>
            <a:off x="9372600" y="2558482"/>
            <a:ext cx="2148840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500">
                <a:solidFill>
                  <a:srgbClr val="1B1B1B"/>
                </a:solidFill>
              </a:defRPr>
            </a:pPr>
            <a:r>
              <a:t>chance de cada</a:t>
            </a:r>
          </a:p>
          <a:p>
            <a:pPr algn="ctr">
              <a:defRPr sz="1500">
                <a:solidFill>
                  <a:srgbClr val="1B1B1B"/>
                </a:solidFill>
              </a:defRPr>
            </a:pPr>
            <a:r>
              <a:t>próximo caractere</a:t>
            </a:r>
          </a:p>
        </p:txBody>
      </p:sp>
      <p:sp>
        <p:nvSpPr>
          <p:cNvPr id="664" name="Text 19"/>
          <p:cNvSpPr txBox="1"/>
          <p:nvPr/>
        </p:nvSpPr>
        <p:spPr>
          <a:xfrm>
            <a:off x="640079" y="4343400"/>
            <a:ext cx="3474722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Atenção</a:t>
            </a:r>
          </a:p>
        </p:txBody>
      </p:sp>
      <p:sp>
        <p:nvSpPr>
          <p:cNvPr id="665" name="Text 20"/>
          <p:cNvSpPr txBox="1"/>
          <p:nvPr/>
        </p:nvSpPr>
        <p:spPr>
          <a:xfrm>
            <a:off x="640079" y="4754879"/>
            <a:ext cx="3474722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as palavras trocam informação entre si. É o que vocês acabaram de fazer.</a:t>
            </a:r>
          </a:p>
        </p:txBody>
      </p:sp>
      <p:sp>
        <p:nvSpPr>
          <p:cNvPr id="666" name="Text 21"/>
          <p:cNvSpPr txBox="1"/>
          <p:nvPr/>
        </p:nvSpPr>
        <p:spPr>
          <a:xfrm>
            <a:off x="4343400" y="4343400"/>
            <a:ext cx="347472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Feed-forward</a:t>
            </a:r>
          </a:p>
        </p:txBody>
      </p:sp>
      <p:sp>
        <p:nvSpPr>
          <p:cNvPr id="667" name="Text 22"/>
          <p:cNvSpPr txBox="1"/>
          <p:nvPr/>
        </p:nvSpPr>
        <p:spPr>
          <a:xfrm>
            <a:off x="4343400" y="4754879"/>
            <a:ext cx="3474721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cada palavra "pensa sozinha" sobre o que recebeu.</a:t>
            </a:r>
          </a:p>
        </p:txBody>
      </p:sp>
      <p:sp>
        <p:nvSpPr>
          <p:cNvPr id="668" name="Text 23"/>
          <p:cNvSpPr txBox="1"/>
          <p:nvPr/>
        </p:nvSpPr>
        <p:spPr>
          <a:xfrm>
            <a:off x="8046719" y="4343400"/>
            <a:ext cx="347472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9E2A2B"/>
                </a:solidFill>
              </a:defRPr>
            </a:lvl1pPr>
          </a:lstStyle>
          <a:p>
            <a:pPr/>
            <a:r>
              <a:t>Soma, não substitui</a:t>
            </a:r>
          </a:p>
        </p:txBody>
      </p:sp>
      <p:sp>
        <p:nvSpPr>
          <p:cNvPr id="669" name="Text 24"/>
          <p:cNvSpPr txBox="1"/>
          <p:nvPr/>
        </p:nvSpPr>
        <p:spPr>
          <a:xfrm>
            <a:off x="8046719" y="4754879"/>
            <a:ext cx="3474721" cy="643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</a:defRPr>
            </a:lvl1pPr>
          </a:lstStyle>
          <a:p>
            <a:pPr/>
            <a:r>
              <a:t>cada etapa acrescenta anotações ao que já existia, como escrever na margem em vez de apagar.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PRÁTICA</a:t>
            </a:r>
          </a:p>
        </p:txBody>
      </p:sp>
      <p:sp>
        <p:nvSpPr>
          <p:cNvPr id="674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Parte 2 no notebook: o Transformer</a:t>
            </a:r>
          </a:p>
        </p:txBody>
      </p:sp>
      <p:sp>
        <p:nvSpPr>
          <p:cNvPr id="675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19</a:t>
            </a:r>
          </a:p>
        </p:txBody>
      </p:sp>
      <p:sp>
        <p:nvSpPr>
          <p:cNvPr id="676" name="Text 3"/>
          <p:cNvSpPr txBox="1"/>
          <p:nvPr/>
        </p:nvSpPr>
        <p:spPr>
          <a:xfrm>
            <a:off x="640080" y="1600200"/>
            <a:ext cx="2011679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5F5F5F"/>
                </a:solidFill>
              </a:defRPr>
            </a:lvl1pPr>
          </a:lstStyle>
          <a:p>
            <a:pPr/>
            <a:r>
              <a:t>Executar</a:t>
            </a:r>
          </a:p>
        </p:txBody>
      </p:sp>
      <p:sp>
        <p:nvSpPr>
          <p:cNvPr id="677" name="Text 4"/>
          <p:cNvSpPr txBox="1"/>
          <p:nvPr/>
        </p:nvSpPr>
        <p:spPr>
          <a:xfrm>
            <a:off x="2743200" y="1600200"/>
            <a:ext cx="384048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as peças prontas do Transformer</a:t>
            </a:r>
          </a:p>
        </p:txBody>
      </p:sp>
      <p:sp>
        <p:nvSpPr>
          <p:cNvPr id="678" name="Text 5"/>
          <p:cNvSpPr txBox="1"/>
          <p:nvPr/>
        </p:nvSpPr>
        <p:spPr>
          <a:xfrm>
            <a:off x="640080" y="2240279"/>
            <a:ext cx="2011679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Exercício 3</a:t>
            </a:r>
          </a:p>
        </p:txBody>
      </p:sp>
      <p:sp>
        <p:nvSpPr>
          <p:cNvPr id="679" name="Text 6"/>
          <p:cNvSpPr txBox="1"/>
          <p:nvPr/>
        </p:nvSpPr>
        <p:spPr>
          <a:xfrm>
            <a:off x="2743200" y="2240279"/>
            <a:ext cx="3840480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o bloco: somar em vez de substituir</a:t>
            </a:r>
          </a:p>
        </p:txBody>
      </p:sp>
      <p:sp>
        <p:nvSpPr>
          <p:cNvPr id="680" name="Text 7"/>
          <p:cNvSpPr txBox="1"/>
          <p:nvPr/>
        </p:nvSpPr>
        <p:spPr>
          <a:xfrm>
            <a:off x="640080" y="2880360"/>
            <a:ext cx="2011679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5F5F5F"/>
                </a:solidFill>
              </a:defRPr>
            </a:lvl1pPr>
          </a:lstStyle>
          <a:p>
            <a:pPr/>
            <a:r>
              <a:t>Experimente</a:t>
            </a:r>
          </a:p>
        </p:txBody>
      </p:sp>
      <p:sp>
        <p:nvSpPr>
          <p:cNvPr id="681" name="Text 8"/>
          <p:cNvSpPr txBox="1"/>
          <p:nvPr/>
        </p:nvSpPr>
        <p:spPr>
          <a:xfrm>
            <a:off x="2743200" y="2880360"/>
            <a:ext cx="384048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treinar o modelo de ordenação</a:t>
            </a:r>
          </a:p>
        </p:txBody>
      </p:sp>
      <p:sp>
        <p:nvSpPr>
          <p:cNvPr id="682" name="Text 9"/>
          <p:cNvSpPr txBox="1"/>
          <p:nvPr/>
        </p:nvSpPr>
        <p:spPr>
          <a:xfrm>
            <a:off x="640080" y="3520440"/>
            <a:ext cx="2011679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5F5F5F"/>
                </a:solidFill>
              </a:defRPr>
            </a:lvl1pPr>
          </a:lstStyle>
          <a:p>
            <a:pPr/>
            <a:r>
              <a:t>Experimente</a:t>
            </a:r>
          </a:p>
        </p:txBody>
      </p:sp>
      <p:sp>
        <p:nvSpPr>
          <p:cNvPr id="683" name="Text 10"/>
          <p:cNvSpPr txBox="1"/>
          <p:nvPr/>
        </p:nvSpPr>
        <p:spPr>
          <a:xfrm>
            <a:off x="2743200" y="3520440"/>
            <a:ext cx="3840480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1B1B1B"/>
                </a:solidFill>
              </a:defRPr>
            </a:lvl1pPr>
          </a:lstStyle>
          <a:p>
            <a:pPr/>
            <a:r>
              <a:t>ver para onde ele olhou</a:t>
            </a:r>
          </a:p>
        </p:txBody>
      </p:sp>
      <p:sp>
        <p:nvSpPr>
          <p:cNvPr id="684" name="Shape 11"/>
          <p:cNvSpPr/>
          <p:nvPr/>
        </p:nvSpPr>
        <p:spPr>
          <a:xfrm>
            <a:off x="6400800" y="1554480"/>
            <a:ext cx="5166361" cy="1517905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5" name="Text 12"/>
          <p:cNvSpPr txBox="1"/>
          <p:nvPr/>
        </p:nvSpPr>
        <p:spPr>
          <a:xfrm>
            <a:off x="6675119" y="1737360"/>
            <a:ext cx="4709161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9A9A9A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troque os dois ___ por x</a:t>
            </a:r>
          </a:p>
          <a:p>
            <a:pPr>
              <a:spcBef>
                <a:spcPts val="400"/>
              </a:spcBef>
              <a:defRPr sz="14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x = </a:t>
            </a:r>
            <a:r>
              <a:rPr b="1">
                <a:solidFill>
                  <a:srgbClr val="9E2A2B"/>
                </a:solidFill>
              </a:rPr>
              <a:t>___</a:t>
            </a:r>
            <a:r>
              <a:t> + self.attn(self.ln1(x))</a:t>
            </a:r>
          </a:p>
          <a:p>
            <a:pPr>
              <a:spcBef>
                <a:spcPts val="400"/>
              </a:spcBef>
              <a:defRPr sz="14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x = </a:t>
            </a:r>
            <a:r>
              <a:rPr b="1">
                <a:solidFill>
                  <a:srgbClr val="9E2A2B"/>
                </a:solidFill>
              </a:rPr>
              <a:t>___</a:t>
            </a:r>
            <a:r>
              <a:t> + self.ffn(self.ln2(x))</a:t>
            </a:r>
          </a:p>
        </p:txBody>
      </p:sp>
      <p:sp>
        <p:nvSpPr>
          <p:cNvPr id="686" name="Shape 13"/>
          <p:cNvSpPr/>
          <p:nvPr/>
        </p:nvSpPr>
        <p:spPr>
          <a:xfrm>
            <a:off x="640079" y="5120640"/>
            <a:ext cx="10911537" cy="91440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7" name="Text 14"/>
          <p:cNvSpPr txBox="1"/>
          <p:nvPr/>
        </p:nvSpPr>
        <p:spPr>
          <a:xfrm>
            <a:off x="914399" y="5457016"/>
            <a:ext cx="10362897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Antes do intervalo: execute as seções 3.1 e 3.2. O modelo de xadrez treina enquanto vocês descansam.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PRÁTICA</a:t>
            </a:r>
          </a:p>
        </p:txBody>
      </p:sp>
      <p:sp>
        <p:nvSpPr>
          <p:cNvPr id="692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 que o modelo de ordenação aprendeu</a:t>
            </a:r>
          </a:p>
        </p:txBody>
      </p:sp>
      <p:sp>
        <p:nvSpPr>
          <p:cNvPr id="693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20</a:t>
            </a:r>
          </a:p>
        </p:txBody>
      </p:sp>
      <p:pic>
        <p:nvPicPr>
          <p:cNvPr id="694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508760"/>
            <a:ext cx="7139824" cy="4206241"/>
          </a:xfrm>
          <a:prstGeom prst="rect">
            <a:avLst/>
          </a:prstGeom>
          <a:ln w="12700">
            <a:miter lim="400000"/>
          </a:ln>
        </p:spPr>
      </p:pic>
      <p:sp>
        <p:nvSpPr>
          <p:cNvPr id="695" name="Text 3"/>
          <p:cNvSpPr txBox="1"/>
          <p:nvPr/>
        </p:nvSpPr>
        <p:spPr>
          <a:xfrm>
            <a:off x="8145663" y="1645920"/>
            <a:ext cx="340595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Entrada: 3 1 4 1 5 9 2 6</a:t>
            </a:r>
          </a:p>
        </p:txBody>
      </p:sp>
      <p:sp>
        <p:nvSpPr>
          <p:cNvPr id="696" name="Text 4"/>
          <p:cNvSpPr txBox="1"/>
          <p:nvPr/>
        </p:nvSpPr>
        <p:spPr>
          <a:xfrm>
            <a:off x="8145663" y="2286000"/>
            <a:ext cx="3405953" cy="825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1B1B1B"/>
                </a:solidFill>
              </a:defRPr>
            </a:lvl1pPr>
          </a:lstStyle>
          <a:p>
            <a:pPr/>
            <a:r>
              <a:t>Em cada passo, o modelo olha para o número da entrada que vai escrever em seguida.</a:t>
            </a:r>
          </a:p>
        </p:txBody>
      </p:sp>
      <p:sp>
        <p:nvSpPr>
          <p:cNvPr id="697" name="Text 5"/>
          <p:cNvSpPr txBox="1"/>
          <p:nvPr/>
        </p:nvSpPr>
        <p:spPr>
          <a:xfrm>
            <a:off x="8145663" y="3840479"/>
            <a:ext cx="3405953" cy="485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9E2A2B"/>
                </a:solidFill>
              </a:defRPr>
            </a:lvl1pPr>
          </a:lstStyle>
          <a:p>
            <a:pPr/>
            <a:r>
              <a:t>Ninguém programou essa regra: ela surgiu do treino.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INTERVALO</a:t>
            </a:r>
          </a:p>
        </p:txBody>
      </p:sp>
      <p:sp>
        <p:nvSpPr>
          <p:cNvPr id="702" name="Text 1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21</a:t>
            </a:r>
          </a:p>
        </p:txBody>
      </p:sp>
      <p:sp>
        <p:nvSpPr>
          <p:cNvPr id="703" name="Text 2"/>
          <p:cNvSpPr txBox="1"/>
          <p:nvPr/>
        </p:nvSpPr>
        <p:spPr>
          <a:xfrm>
            <a:off x="640080" y="1737360"/>
            <a:ext cx="7315201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5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Intervalo</a:t>
            </a:r>
          </a:p>
        </p:txBody>
      </p:sp>
      <p:sp>
        <p:nvSpPr>
          <p:cNvPr id="704" name="Shape 3"/>
          <p:cNvSpPr/>
          <p:nvPr/>
        </p:nvSpPr>
        <p:spPr>
          <a:xfrm>
            <a:off x="640080" y="3291840"/>
            <a:ext cx="6766560" cy="146304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5" name="Text 4"/>
          <p:cNvSpPr txBox="1"/>
          <p:nvPr/>
        </p:nvSpPr>
        <p:spPr>
          <a:xfrm>
            <a:off x="914399" y="3474720"/>
            <a:ext cx="6309362" cy="6071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900">
                <a:solidFill>
                  <a:srgbClr val="1B1B1B"/>
                </a:solidFill>
              </a:defRPr>
            </a:pPr>
            <a:r>
              <a:t>Antes de sair, execute as seções 3.1 e 3.2.</a:t>
            </a:r>
          </a:p>
          <a:p>
            <a:pPr>
              <a:spcBef>
                <a:spcPts val="600"/>
              </a:spcBef>
              <a:defRPr sz="1900">
                <a:solidFill>
                  <a:srgbClr val="1B1B1B"/>
                </a:solidFill>
              </a:defRPr>
            </a:pPr>
            <a:r>
              <a:t>O modelo de xadrez treina enquanto isso.</a:t>
            </a:r>
          </a:p>
        </p:txBody>
      </p:sp>
      <p:sp>
        <p:nvSpPr>
          <p:cNvPr id="706" name="Shape 5"/>
          <p:cNvSpPr/>
          <p:nvPr/>
        </p:nvSpPr>
        <p:spPr>
          <a:xfrm>
            <a:off x="8229600" y="173736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7" name="Shape 6"/>
          <p:cNvSpPr/>
          <p:nvPr/>
        </p:nvSpPr>
        <p:spPr>
          <a:xfrm>
            <a:off x="8631935" y="173736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8" name="Shape 7"/>
          <p:cNvSpPr/>
          <p:nvPr/>
        </p:nvSpPr>
        <p:spPr>
          <a:xfrm>
            <a:off x="9034271" y="173736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9" name="Shape 8"/>
          <p:cNvSpPr/>
          <p:nvPr/>
        </p:nvSpPr>
        <p:spPr>
          <a:xfrm>
            <a:off x="9436607" y="173736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0" name="Shape 9"/>
          <p:cNvSpPr/>
          <p:nvPr/>
        </p:nvSpPr>
        <p:spPr>
          <a:xfrm>
            <a:off x="9838943" y="173736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1" name="Shape 10"/>
          <p:cNvSpPr/>
          <p:nvPr/>
        </p:nvSpPr>
        <p:spPr>
          <a:xfrm>
            <a:off x="10241280" y="173736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2" name="Shape 11"/>
          <p:cNvSpPr/>
          <p:nvPr/>
        </p:nvSpPr>
        <p:spPr>
          <a:xfrm>
            <a:off x="10643616" y="173736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3" name="Shape 12"/>
          <p:cNvSpPr/>
          <p:nvPr/>
        </p:nvSpPr>
        <p:spPr>
          <a:xfrm>
            <a:off x="11045952" y="173736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4" name="Shape 13"/>
          <p:cNvSpPr/>
          <p:nvPr/>
        </p:nvSpPr>
        <p:spPr>
          <a:xfrm>
            <a:off x="8229600" y="213969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5" name="Shape 14"/>
          <p:cNvSpPr/>
          <p:nvPr/>
        </p:nvSpPr>
        <p:spPr>
          <a:xfrm>
            <a:off x="8631935" y="213969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6" name="Shape 15"/>
          <p:cNvSpPr/>
          <p:nvPr/>
        </p:nvSpPr>
        <p:spPr>
          <a:xfrm>
            <a:off x="9034271" y="213969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7" name="Shape 16"/>
          <p:cNvSpPr/>
          <p:nvPr/>
        </p:nvSpPr>
        <p:spPr>
          <a:xfrm>
            <a:off x="9436607" y="213969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8" name="Shape 17"/>
          <p:cNvSpPr/>
          <p:nvPr/>
        </p:nvSpPr>
        <p:spPr>
          <a:xfrm>
            <a:off x="9838943" y="213969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9" name="Shape 18"/>
          <p:cNvSpPr/>
          <p:nvPr/>
        </p:nvSpPr>
        <p:spPr>
          <a:xfrm>
            <a:off x="10241280" y="213969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0" name="Shape 19"/>
          <p:cNvSpPr/>
          <p:nvPr/>
        </p:nvSpPr>
        <p:spPr>
          <a:xfrm>
            <a:off x="10643616" y="2139695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1" name="Shape 20"/>
          <p:cNvSpPr/>
          <p:nvPr/>
        </p:nvSpPr>
        <p:spPr>
          <a:xfrm>
            <a:off x="11045952" y="2139695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2" name="Shape 21"/>
          <p:cNvSpPr/>
          <p:nvPr/>
        </p:nvSpPr>
        <p:spPr>
          <a:xfrm>
            <a:off x="8229600" y="254203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3" name="Shape 22"/>
          <p:cNvSpPr/>
          <p:nvPr/>
        </p:nvSpPr>
        <p:spPr>
          <a:xfrm>
            <a:off x="8631935" y="254203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4" name="Shape 23"/>
          <p:cNvSpPr/>
          <p:nvPr/>
        </p:nvSpPr>
        <p:spPr>
          <a:xfrm>
            <a:off x="9034271" y="254203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5" name="Shape 24"/>
          <p:cNvSpPr/>
          <p:nvPr/>
        </p:nvSpPr>
        <p:spPr>
          <a:xfrm>
            <a:off x="9436607" y="254203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6" name="Shape 25"/>
          <p:cNvSpPr/>
          <p:nvPr/>
        </p:nvSpPr>
        <p:spPr>
          <a:xfrm>
            <a:off x="9838943" y="254203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7" name="Shape 26"/>
          <p:cNvSpPr/>
          <p:nvPr/>
        </p:nvSpPr>
        <p:spPr>
          <a:xfrm>
            <a:off x="10241280" y="254203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8" name="Shape 27"/>
          <p:cNvSpPr/>
          <p:nvPr/>
        </p:nvSpPr>
        <p:spPr>
          <a:xfrm>
            <a:off x="10643616" y="2542032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9" name="Shape 28"/>
          <p:cNvSpPr/>
          <p:nvPr/>
        </p:nvSpPr>
        <p:spPr>
          <a:xfrm>
            <a:off x="11045952" y="2542032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0" name="Shape 29"/>
          <p:cNvSpPr/>
          <p:nvPr/>
        </p:nvSpPr>
        <p:spPr>
          <a:xfrm>
            <a:off x="8229600" y="294436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1" name="Shape 30"/>
          <p:cNvSpPr/>
          <p:nvPr/>
        </p:nvSpPr>
        <p:spPr>
          <a:xfrm>
            <a:off x="8631935" y="294436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2" name="Shape 31"/>
          <p:cNvSpPr/>
          <p:nvPr/>
        </p:nvSpPr>
        <p:spPr>
          <a:xfrm>
            <a:off x="9034271" y="294436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3" name="Shape 32"/>
          <p:cNvSpPr/>
          <p:nvPr/>
        </p:nvSpPr>
        <p:spPr>
          <a:xfrm>
            <a:off x="9436607" y="294436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4" name="Shape 33"/>
          <p:cNvSpPr/>
          <p:nvPr/>
        </p:nvSpPr>
        <p:spPr>
          <a:xfrm>
            <a:off x="9838943" y="294436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5" name="Shape 34"/>
          <p:cNvSpPr/>
          <p:nvPr/>
        </p:nvSpPr>
        <p:spPr>
          <a:xfrm>
            <a:off x="10241280" y="294436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6" name="Shape 35"/>
          <p:cNvSpPr/>
          <p:nvPr/>
        </p:nvSpPr>
        <p:spPr>
          <a:xfrm>
            <a:off x="10643616" y="2944367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7" name="Shape 36"/>
          <p:cNvSpPr/>
          <p:nvPr/>
        </p:nvSpPr>
        <p:spPr>
          <a:xfrm>
            <a:off x="11045952" y="2944367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8" name="Shape 37"/>
          <p:cNvSpPr/>
          <p:nvPr/>
        </p:nvSpPr>
        <p:spPr>
          <a:xfrm>
            <a:off x="8229600" y="3346703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9" name="Shape 38"/>
          <p:cNvSpPr/>
          <p:nvPr/>
        </p:nvSpPr>
        <p:spPr>
          <a:xfrm>
            <a:off x="8631935" y="3346703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0" name="Shape 39"/>
          <p:cNvSpPr/>
          <p:nvPr/>
        </p:nvSpPr>
        <p:spPr>
          <a:xfrm>
            <a:off x="9034271" y="3346703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1" name="Shape 40"/>
          <p:cNvSpPr/>
          <p:nvPr/>
        </p:nvSpPr>
        <p:spPr>
          <a:xfrm>
            <a:off x="9436607" y="3346703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2" name="Shape 41"/>
          <p:cNvSpPr/>
          <p:nvPr/>
        </p:nvSpPr>
        <p:spPr>
          <a:xfrm>
            <a:off x="9838943" y="3346703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3" name="Shape 42"/>
          <p:cNvSpPr/>
          <p:nvPr/>
        </p:nvSpPr>
        <p:spPr>
          <a:xfrm>
            <a:off x="10241280" y="3346703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4" name="Shape 43"/>
          <p:cNvSpPr/>
          <p:nvPr/>
        </p:nvSpPr>
        <p:spPr>
          <a:xfrm>
            <a:off x="10643616" y="3346703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5" name="Shape 44"/>
          <p:cNvSpPr/>
          <p:nvPr/>
        </p:nvSpPr>
        <p:spPr>
          <a:xfrm>
            <a:off x="11045952" y="3346703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6" name="Shape 45"/>
          <p:cNvSpPr/>
          <p:nvPr/>
        </p:nvSpPr>
        <p:spPr>
          <a:xfrm>
            <a:off x="8229600" y="374904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7" name="Shape 46"/>
          <p:cNvSpPr/>
          <p:nvPr/>
        </p:nvSpPr>
        <p:spPr>
          <a:xfrm>
            <a:off x="8631935" y="374904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8" name="Shape 47"/>
          <p:cNvSpPr/>
          <p:nvPr/>
        </p:nvSpPr>
        <p:spPr>
          <a:xfrm>
            <a:off x="9034271" y="374904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49" name="Shape 48"/>
          <p:cNvSpPr/>
          <p:nvPr/>
        </p:nvSpPr>
        <p:spPr>
          <a:xfrm>
            <a:off x="9436607" y="374904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0" name="Shape 49"/>
          <p:cNvSpPr/>
          <p:nvPr/>
        </p:nvSpPr>
        <p:spPr>
          <a:xfrm>
            <a:off x="9838943" y="374904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1" name="Shape 50"/>
          <p:cNvSpPr/>
          <p:nvPr/>
        </p:nvSpPr>
        <p:spPr>
          <a:xfrm>
            <a:off x="10241280" y="374904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2" name="Shape 51"/>
          <p:cNvSpPr/>
          <p:nvPr/>
        </p:nvSpPr>
        <p:spPr>
          <a:xfrm>
            <a:off x="10643616" y="3749040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3" name="Shape 52"/>
          <p:cNvSpPr/>
          <p:nvPr/>
        </p:nvSpPr>
        <p:spPr>
          <a:xfrm>
            <a:off x="11045952" y="3749040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4" name="Shape 53"/>
          <p:cNvSpPr/>
          <p:nvPr/>
        </p:nvSpPr>
        <p:spPr>
          <a:xfrm>
            <a:off x="8229600" y="4151376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5" name="Shape 54"/>
          <p:cNvSpPr/>
          <p:nvPr/>
        </p:nvSpPr>
        <p:spPr>
          <a:xfrm>
            <a:off x="8631935" y="4151376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6" name="Shape 55"/>
          <p:cNvSpPr/>
          <p:nvPr/>
        </p:nvSpPr>
        <p:spPr>
          <a:xfrm>
            <a:off x="9034271" y="4151376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7" name="Shape 56"/>
          <p:cNvSpPr/>
          <p:nvPr/>
        </p:nvSpPr>
        <p:spPr>
          <a:xfrm>
            <a:off x="9436607" y="4151376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8" name="Shape 57"/>
          <p:cNvSpPr/>
          <p:nvPr/>
        </p:nvSpPr>
        <p:spPr>
          <a:xfrm>
            <a:off x="9838943" y="4151376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9" name="Shape 58"/>
          <p:cNvSpPr/>
          <p:nvPr/>
        </p:nvSpPr>
        <p:spPr>
          <a:xfrm>
            <a:off x="10241280" y="4151376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0" name="Shape 59"/>
          <p:cNvSpPr/>
          <p:nvPr/>
        </p:nvSpPr>
        <p:spPr>
          <a:xfrm>
            <a:off x="10643616" y="4151376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1" name="Shape 60"/>
          <p:cNvSpPr/>
          <p:nvPr/>
        </p:nvSpPr>
        <p:spPr>
          <a:xfrm>
            <a:off x="11045952" y="4151376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2" name="Shape 61"/>
          <p:cNvSpPr/>
          <p:nvPr/>
        </p:nvSpPr>
        <p:spPr>
          <a:xfrm>
            <a:off x="8229600" y="4553711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3" name="Shape 62"/>
          <p:cNvSpPr/>
          <p:nvPr/>
        </p:nvSpPr>
        <p:spPr>
          <a:xfrm>
            <a:off x="8631935" y="4553711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4" name="Shape 63"/>
          <p:cNvSpPr/>
          <p:nvPr/>
        </p:nvSpPr>
        <p:spPr>
          <a:xfrm>
            <a:off x="9034271" y="4553711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5" name="Shape 64"/>
          <p:cNvSpPr/>
          <p:nvPr/>
        </p:nvSpPr>
        <p:spPr>
          <a:xfrm>
            <a:off x="9436607" y="4553711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6" name="Shape 65"/>
          <p:cNvSpPr/>
          <p:nvPr/>
        </p:nvSpPr>
        <p:spPr>
          <a:xfrm>
            <a:off x="9838943" y="4553711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7" name="Shape 66"/>
          <p:cNvSpPr/>
          <p:nvPr/>
        </p:nvSpPr>
        <p:spPr>
          <a:xfrm>
            <a:off x="10241280" y="4553711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8" name="Shape 67"/>
          <p:cNvSpPr/>
          <p:nvPr/>
        </p:nvSpPr>
        <p:spPr>
          <a:xfrm>
            <a:off x="10643616" y="4553711"/>
            <a:ext cx="402337" cy="402337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9" name="Shape 68"/>
          <p:cNvSpPr/>
          <p:nvPr/>
        </p:nvSpPr>
        <p:spPr>
          <a:xfrm>
            <a:off x="11045952" y="4553711"/>
            <a:ext cx="402337" cy="402337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0" name="Shape 69"/>
          <p:cNvSpPr/>
          <p:nvPr/>
        </p:nvSpPr>
        <p:spPr>
          <a:xfrm>
            <a:off x="8229600" y="1737360"/>
            <a:ext cx="3218689" cy="3218689"/>
          </a:xfrm>
          <a:prstGeom prst="rect">
            <a:avLst/>
          </a:prstGeom>
          <a:ln w="12700">
            <a:solidFill>
              <a:srgbClr val="1B1B1B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XADREZ</a:t>
            </a:r>
          </a:p>
        </p:txBody>
      </p:sp>
      <p:sp>
        <p:nvSpPr>
          <p:cNvPr id="775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Xadrez é só mais um texto</a:t>
            </a:r>
          </a:p>
        </p:txBody>
      </p:sp>
      <p:sp>
        <p:nvSpPr>
          <p:cNvPr id="776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22</a:t>
            </a:r>
          </a:p>
        </p:txBody>
      </p:sp>
      <p:sp>
        <p:nvSpPr>
          <p:cNvPr id="777" name="Shape 3"/>
          <p:cNvSpPr/>
          <p:nvPr/>
        </p:nvSpPr>
        <p:spPr>
          <a:xfrm>
            <a:off x="640079" y="1600200"/>
            <a:ext cx="6583682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8" name="Text 4"/>
          <p:cNvSpPr txBox="1"/>
          <p:nvPr/>
        </p:nvSpPr>
        <p:spPr>
          <a:xfrm>
            <a:off x="914400" y="1737360"/>
            <a:ext cx="621792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;1.e4 e5 2.Nf3 Nc6 3.Bb5 a6</a:t>
            </a:r>
          </a:p>
          <a:p>
            <a:pPr>
              <a:spcBef>
                <a:spcPts val="400"/>
              </a:spcBef>
              <a:defRPr>
                <a:solidFill>
                  <a:srgbClr val="1B1B1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4.Ba4 Nf6 5.O-O Be7 6.Re1 b5 ...</a:t>
            </a:r>
          </a:p>
        </p:txBody>
      </p:sp>
      <p:graphicFrame>
        <p:nvGraphicFramePr>
          <p:cNvPr id="779" name="Table 0"/>
          <p:cNvGraphicFramePr/>
          <p:nvPr/>
        </p:nvGraphicFramePr>
        <p:xfrm>
          <a:off x="7589519" y="1600200"/>
          <a:ext cx="3959353" cy="205740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280160"/>
                <a:gridCol w="2679192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Escrito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Significa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e4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um peão vai para e4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Nf3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o cavalo (N) vai para f3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Bxe5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o bispo (B) captura em e5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#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xeque-mate</a:t>
                      </a:r>
                    </a:p>
                  </a:txBody>
                  <a:tcPr marL="73152" marR="73152" marT="73152" marB="73152" anchor="ctr" anchorCtr="0" horzOverflow="overflow">
                    <a:lnL w="6350">
                      <a:solidFill>
                        <a:srgbClr val="C9C9C9"/>
                      </a:solidFill>
                    </a:lnL>
                    <a:lnR w="6350">
                      <a:solidFill>
                        <a:srgbClr val="C9C9C9"/>
                      </a:solidFill>
                    </a:lnR>
                    <a:lnT w="6350">
                      <a:solidFill>
                        <a:srgbClr val="C9C9C9"/>
                      </a:solidFill>
                    </a:lnT>
                    <a:lnB w="6350">
                      <a:solidFill>
                        <a:srgbClr val="C9C9C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80" name="Text 5"/>
          <p:cNvSpPr txBox="1"/>
          <p:nvPr/>
        </p:nvSpPr>
        <p:spPr>
          <a:xfrm>
            <a:off x="640080" y="3246120"/>
            <a:ext cx="219456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2F5D8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60 mil</a:t>
            </a:r>
          </a:p>
        </p:txBody>
      </p:sp>
      <p:sp>
        <p:nvSpPr>
          <p:cNvPr id="781" name="Text 6"/>
          <p:cNvSpPr txBox="1"/>
          <p:nvPr/>
        </p:nvSpPr>
        <p:spPr>
          <a:xfrm>
            <a:off x="640080" y="4069079"/>
            <a:ext cx="219456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partidas reais</a:t>
            </a:r>
          </a:p>
        </p:txBody>
      </p:sp>
      <p:sp>
        <p:nvSpPr>
          <p:cNvPr id="782" name="Text 7"/>
          <p:cNvSpPr txBox="1"/>
          <p:nvPr/>
        </p:nvSpPr>
        <p:spPr>
          <a:xfrm>
            <a:off x="2971800" y="3246120"/>
            <a:ext cx="219456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2F5D8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33</a:t>
            </a:r>
          </a:p>
        </p:txBody>
      </p:sp>
      <p:sp>
        <p:nvSpPr>
          <p:cNvPr id="783" name="Text 8"/>
          <p:cNvSpPr txBox="1"/>
          <p:nvPr/>
        </p:nvSpPr>
        <p:spPr>
          <a:xfrm>
            <a:off x="2971800" y="4069079"/>
            <a:ext cx="219456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caracteres diferentes</a:t>
            </a:r>
          </a:p>
        </p:txBody>
      </p:sp>
      <p:sp>
        <p:nvSpPr>
          <p:cNvPr id="784" name="Text 9"/>
          <p:cNvSpPr txBox="1"/>
          <p:nvPr/>
        </p:nvSpPr>
        <p:spPr>
          <a:xfrm>
            <a:off x="5303520" y="3246120"/>
            <a:ext cx="219456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785" name="Text 10"/>
          <p:cNvSpPr txBox="1"/>
          <p:nvPr/>
        </p:nvSpPr>
        <p:spPr>
          <a:xfrm>
            <a:off x="5303520" y="4069079"/>
            <a:ext cx="219456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tabuleiros vistos pelo modelo</a:t>
            </a:r>
          </a:p>
        </p:txBody>
      </p:sp>
      <p:sp>
        <p:nvSpPr>
          <p:cNvPr id="786" name="Text 11"/>
          <p:cNvSpPr txBox="1"/>
          <p:nvPr/>
        </p:nvSpPr>
        <p:spPr>
          <a:xfrm>
            <a:off x="640079" y="5074920"/>
            <a:ext cx="10789922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Se o modelo joga lances válidos sem nunca ter visto um tabuleiro, de onde vem essa noção de onde estão as peças?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PRÁTICA</a:t>
            </a:r>
          </a:p>
        </p:txBody>
      </p:sp>
      <p:sp>
        <p:nvSpPr>
          <p:cNvPr id="791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Parte 3 no notebook: xadrez</a:t>
            </a:r>
          </a:p>
        </p:txBody>
      </p:sp>
      <p:sp>
        <p:nvSpPr>
          <p:cNvPr id="792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23</a:t>
            </a:r>
          </a:p>
        </p:txBody>
      </p:sp>
      <p:sp>
        <p:nvSpPr>
          <p:cNvPr id="793" name="Text 3"/>
          <p:cNvSpPr txBox="1"/>
          <p:nvPr/>
        </p:nvSpPr>
        <p:spPr>
          <a:xfrm>
            <a:off x="640079" y="1691639"/>
            <a:ext cx="1463042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seção 3.3</a:t>
            </a:r>
          </a:p>
        </p:txBody>
      </p:sp>
      <p:sp>
        <p:nvSpPr>
          <p:cNvPr id="794" name="Text 4"/>
          <p:cNvSpPr txBox="1"/>
          <p:nvPr/>
        </p:nvSpPr>
        <p:spPr>
          <a:xfrm>
            <a:off x="2286000" y="1691639"/>
            <a:ext cx="8686800" cy="271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>
                <a:solidFill>
                  <a:srgbClr val="1B1B1B"/>
                </a:solidFill>
              </a:defRPr>
            </a:lvl1pPr>
          </a:lstStyle>
          <a:p>
            <a:pPr/>
            <a:r>
              <a:t>gerar partidas e ver onde o modelo erra</a:t>
            </a:r>
          </a:p>
        </p:txBody>
      </p:sp>
      <p:sp>
        <p:nvSpPr>
          <p:cNvPr id="795" name="Text 5"/>
          <p:cNvSpPr txBox="1"/>
          <p:nvPr/>
        </p:nvSpPr>
        <p:spPr>
          <a:xfrm>
            <a:off x="640079" y="2468879"/>
            <a:ext cx="14630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seção 3.3</a:t>
            </a:r>
          </a:p>
        </p:txBody>
      </p:sp>
      <p:sp>
        <p:nvSpPr>
          <p:cNvPr id="796" name="Text 6"/>
          <p:cNvSpPr txBox="1"/>
          <p:nvPr/>
        </p:nvSpPr>
        <p:spPr>
          <a:xfrm>
            <a:off x="2286000" y="2468879"/>
            <a:ext cx="8686800" cy="271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>
                <a:solidFill>
                  <a:srgbClr val="1B1B1B"/>
                </a:solidFill>
              </a:defRPr>
            </a:lvl1pPr>
          </a:lstStyle>
          <a:p>
            <a:pPr/>
            <a:r>
              <a:t>mexer no controle de temperatura</a:t>
            </a:r>
          </a:p>
        </p:txBody>
      </p:sp>
      <p:sp>
        <p:nvSpPr>
          <p:cNvPr id="797" name="Text 7"/>
          <p:cNvSpPr txBox="1"/>
          <p:nvPr/>
        </p:nvSpPr>
        <p:spPr>
          <a:xfrm>
            <a:off x="640079" y="3246120"/>
            <a:ext cx="14630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seção 3.4</a:t>
            </a:r>
          </a:p>
        </p:txBody>
      </p:sp>
      <p:sp>
        <p:nvSpPr>
          <p:cNvPr id="798" name="Text 8"/>
          <p:cNvSpPr txBox="1"/>
          <p:nvPr/>
        </p:nvSpPr>
        <p:spPr>
          <a:xfrm>
            <a:off x="2286000" y="3246120"/>
            <a:ext cx="8686800" cy="27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>
                <a:solidFill>
                  <a:srgbClr val="1B1B1B"/>
                </a:solidFill>
              </a:defRPr>
            </a:lvl1pPr>
          </a:lstStyle>
          <a:p>
            <a:pPr/>
            <a:r>
              <a:t>seu modelo contra o modelo de referência</a:t>
            </a:r>
          </a:p>
        </p:txBody>
      </p:sp>
      <p:sp>
        <p:nvSpPr>
          <p:cNvPr id="799" name="Text 9"/>
          <p:cNvSpPr txBox="1"/>
          <p:nvPr/>
        </p:nvSpPr>
        <p:spPr>
          <a:xfrm>
            <a:off x="640079" y="4023359"/>
            <a:ext cx="14630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F5F5F"/>
                </a:solidFill>
              </a:defRPr>
            </a:lvl1pPr>
          </a:lstStyle>
          <a:p>
            <a:pPr/>
            <a:r>
              <a:t>seção 3.5</a:t>
            </a:r>
          </a:p>
        </p:txBody>
      </p:sp>
      <p:sp>
        <p:nvSpPr>
          <p:cNvPr id="800" name="Text 10"/>
          <p:cNvSpPr txBox="1"/>
          <p:nvPr/>
        </p:nvSpPr>
        <p:spPr>
          <a:xfrm>
            <a:off x="2286000" y="4023359"/>
            <a:ext cx="8686800" cy="271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1B1B1B"/>
                </a:solidFill>
              </a:defRPr>
            </a:lvl1pPr>
          </a:lstStyle>
          <a:p>
            <a:pPr/>
            <a:r>
              <a:t>jogar uma partida contra o modelo</a:t>
            </a:r>
          </a:p>
        </p:txBody>
      </p:sp>
      <p:sp>
        <p:nvSpPr>
          <p:cNvPr id="801" name="Shape 11"/>
          <p:cNvSpPr/>
          <p:nvPr/>
        </p:nvSpPr>
        <p:spPr>
          <a:xfrm>
            <a:off x="640079" y="5120640"/>
            <a:ext cx="10911537" cy="914401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02" name="Text 12"/>
          <p:cNvSpPr txBox="1"/>
          <p:nvPr/>
        </p:nvSpPr>
        <p:spPr>
          <a:xfrm>
            <a:off x="914399" y="5457016"/>
            <a:ext cx="10362897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Não precisa saber xadrez: clique numa peça e os pontos mostram para onde ela pode ir.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ENCERRAMENTO</a:t>
            </a:r>
          </a:p>
        </p:txBody>
      </p:sp>
      <p:sp>
        <p:nvSpPr>
          <p:cNvPr id="807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Por que a atenção mudou tudo</a:t>
            </a:r>
          </a:p>
        </p:txBody>
      </p:sp>
      <p:sp>
        <p:nvSpPr>
          <p:cNvPr id="808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24</a:t>
            </a:r>
          </a:p>
        </p:txBody>
      </p:sp>
      <p:sp>
        <p:nvSpPr>
          <p:cNvPr id="809" name="Text 3"/>
          <p:cNvSpPr txBox="1"/>
          <p:nvPr/>
        </p:nvSpPr>
        <p:spPr>
          <a:xfrm>
            <a:off x="640080" y="1645920"/>
            <a:ext cx="54864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10" name="Text 4"/>
          <p:cNvSpPr txBox="1"/>
          <p:nvPr/>
        </p:nvSpPr>
        <p:spPr>
          <a:xfrm>
            <a:off x="1234439" y="1783079"/>
            <a:ext cx="2926081" cy="301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B1B1B"/>
                </a:solidFill>
              </a:defRPr>
            </a:lvl1pPr>
          </a:lstStyle>
          <a:p>
            <a:pPr/>
            <a:r>
              <a:t>Rápido</a:t>
            </a:r>
          </a:p>
        </p:txBody>
      </p:sp>
      <p:sp>
        <p:nvSpPr>
          <p:cNvPr id="811" name="Text 5"/>
          <p:cNvSpPr txBox="1"/>
          <p:nvPr/>
        </p:nvSpPr>
        <p:spPr>
          <a:xfrm>
            <a:off x="640080" y="2606039"/>
            <a:ext cx="3429001" cy="825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Todas as palavras fazem a conta ao mesmo tempo. Encaixa perfeitamente nas GPUs.</a:t>
            </a:r>
          </a:p>
        </p:txBody>
      </p:sp>
      <p:sp>
        <p:nvSpPr>
          <p:cNvPr id="812" name="Text 6"/>
          <p:cNvSpPr txBox="1"/>
          <p:nvPr/>
        </p:nvSpPr>
        <p:spPr>
          <a:xfrm>
            <a:off x="4343400" y="1645920"/>
            <a:ext cx="54864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13" name="Text 7"/>
          <p:cNvSpPr txBox="1"/>
          <p:nvPr/>
        </p:nvSpPr>
        <p:spPr>
          <a:xfrm>
            <a:off x="4937759" y="1783079"/>
            <a:ext cx="2926081" cy="301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B1B1B"/>
                </a:solidFill>
              </a:defRPr>
            </a:lvl1pPr>
          </a:lstStyle>
          <a:p>
            <a:pPr/>
            <a:r>
              <a:t>Escala</a:t>
            </a:r>
          </a:p>
        </p:txBody>
      </p:sp>
      <p:sp>
        <p:nvSpPr>
          <p:cNvPr id="814" name="Text 8"/>
          <p:cNvSpPr txBox="1"/>
          <p:nvPr/>
        </p:nvSpPr>
        <p:spPr>
          <a:xfrm>
            <a:off x="4343400" y="2606039"/>
            <a:ext cx="3429000" cy="825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Rápido de treinar, deu para fazer modelos enormes. E quanto maior, melhor ele fica.</a:t>
            </a:r>
          </a:p>
        </p:txBody>
      </p:sp>
      <p:sp>
        <p:nvSpPr>
          <p:cNvPr id="815" name="Text 9"/>
          <p:cNvSpPr txBox="1"/>
          <p:nvPr/>
        </p:nvSpPr>
        <p:spPr>
          <a:xfrm>
            <a:off x="8046719" y="1645920"/>
            <a:ext cx="54864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000">
                <a:solidFill>
                  <a:srgbClr val="9E2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16" name="Text 10"/>
          <p:cNvSpPr txBox="1"/>
          <p:nvPr/>
        </p:nvSpPr>
        <p:spPr>
          <a:xfrm>
            <a:off x="8641080" y="1783079"/>
            <a:ext cx="2926081" cy="301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B1B1B"/>
                </a:solidFill>
              </a:defRPr>
            </a:lvl1pPr>
          </a:lstStyle>
          <a:p>
            <a:pPr/>
            <a:r>
              <a:t>Serve para tudo</a:t>
            </a:r>
          </a:p>
        </p:txBody>
      </p:sp>
      <p:sp>
        <p:nvSpPr>
          <p:cNvPr id="817" name="Text 11"/>
          <p:cNvSpPr txBox="1"/>
          <p:nvPr/>
        </p:nvSpPr>
        <p:spPr>
          <a:xfrm>
            <a:off x="8046719" y="2606039"/>
            <a:ext cx="3429001" cy="825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pPr/>
            <a:r>
              <a:t>Texto, código, imagens, som, proteínas. Tudo que vira uma sequência. Hoje, xadrez.</a:t>
            </a:r>
          </a:p>
        </p:txBody>
      </p:sp>
      <p:sp>
        <p:nvSpPr>
          <p:cNvPr id="818" name="Shape 12"/>
          <p:cNvSpPr/>
          <p:nvPr/>
        </p:nvSpPr>
        <p:spPr>
          <a:xfrm>
            <a:off x="640079" y="4800600"/>
            <a:ext cx="10911537" cy="100583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19" name="Text 13"/>
          <p:cNvSpPr txBox="1"/>
          <p:nvPr/>
        </p:nvSpPr>
        <p:spPr>
          <a:xfrm>
            <a:off x="914399" y="5011419"/>
            <a:ext cx="1036289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arquitetura dos grandes modelos é a mesma que vocês montaram hoje. A diferença é o tamanho.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/>
          <p:cNvSpPr txBox="1"/>
          <p:nvPr/>
        </p:nvSpPr>
        <p:spPr>
          <a:xfrm>
            <a:off x="640080" y="320040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pc="200" sz="1100">
                <a:solidFill>
                  <a:srgbClr val="9E2A2B"/>
                </a:solidFill>
              </a:defRPr>
            </a:lvl1pPr>
          </a:lstStyle>
          <a:p>
            <a:pPr/>
            <a:r>
              <a:t>ENCERRAMENTO</a:t>
            </a:r>
          </a:p>
        </p:txBody>
      </p:sp>
      <p:sp>
        <p:nvSpPr>
          <p:cNvPr id="824" name="Text 1"/>
          <p:cNvSpPr txBox="1"/>
          <p:nvPr/>
        </p:nvSpPr>
        <p:spPr>
          <a:xfrm>
            <a:off x="640079" y="566927"/>
            <a:ext cx="10911537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Daqui até o ChatGPT</a:t>
            </a:r>
          </a:p>
        </p:txBody>
      </p:sp>
      <p:sp>
        <p:nvSpPr>
          <p:cNvPr id="825" name="Text 2"/>
          <p:cNvSpPr txBox="1"/>
          <p:nvPr/>
        </p:nvSpPr>
        <p:spPr>
          <a:xfrm>
            <a:off x="11002974" y="6446520"/>
            <a:ext cx="54864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000">
                <a:solidFill>
                  <a:srgbClr val="9A9A9A"/>
                </a:solidFill>
              </a:defRPr>
            </a:lvl1pPr>
          </a:lstStyle>
          <a:p>
            <a:pPr/>
            <a:r>
              <a:t>25</a:t>
            </a:r>
          </a:p>
        </p:txBody>
      </p:sp>
      <p:graphicFrame>
        <p:nvGraphicFramePr>
          <p:cNvPr id="826" name="Table 0"/>
          <p:cNvGraphicFramePr/>
          <p:nvPr/>
        </p:nvGraphicFramePr>
        <p:xfrm>
          <a:off x="640080" y="1600200"/>
          <a:ext cx="6949440" cy="265176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63040"/>
                <a:gridCol w="2560320"/>
                <a:gridCol w="2926080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1B1B1B"/>
                          </a:solidFill>
                        </a:rPr>
                        <a:t>Hoje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1B1B1B"/>
                          </a:solidFill>
                        </a:rPr>
                        <a:t>ChatGPT, Claude, Gemini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solidFill>
                      <a:srgbClr val="F3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1B1B1B"/>
                          </a:solidFill>
                        </a:rPr>
                        <a:t>Lê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caracteres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pedaços de palavras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1B1B1B"/>
                          </a:solidFill>
                        </a:rPr>
                        <a:t>Tamanho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1 a 5 milhões de parâmetros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bilhões de parâmetros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1B1B1B"/>
                          </a:solidFill>
                        </a:rPr>
                        <a:t>Treino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minutos, 1 GPU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meses, milhares de GPUs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1B1B1B"/>
                          </a:solidFill>
                        </a:rPr>
                        <a:t>Depois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nada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1B1B1B"/>
                          </a:solidFill>
                        </a:rPr>
                        <a:t>ajuste para seguir instruções</a:t>
                      </a:r>
                    </a:p>
                  </a:txBody>
                  <a:tcPr marL="91440" marR="91440" marT="91440" marB="91440" anchor="ctr" anchorCtr="0" horzOverflow="overflow">
                    <a:lnL>
                      <a:solidFill>
                        <a:srgbClr val="C9C9C9"/>
                      </a:solidFill>
                    </a:lnL>
                    <a:lnR>
                      <a:solidFill>
                        <a:srgbClr val="C9C9C9"/>
                      </a:solidFill>
                    </a:lnR>
                    <a:lnT>
                      <a:solidFill>
                        <a:srgbClr val="C9C9C9"/>
                      </a:solidFill>
                    </a:lnT>
                    <a:lnB>
                      <a:solidFill>
                        <a:srgbClr val="C9C9C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7" name="Text 3"/>
          <p:cNvSpPr txBox="1"/>
          <p:nvPr/>
        </p:nvSpPr>
        <p:spPr>
          <a:xfrm>
            <a:off x="640079" y="4526279"/>
            <a:ext cx="694944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arquitetura é a que vocês escreveram hoje.</a:t>
            </a:r>
          </a:p>
        </p:txBody>
      </p:sp>
      <p:sp>
        <p:nvSpPr>
          <p:cNvPr id="828" name="Text 4"/>
          <p:cNvSpPr txBox="1"/>
          <p:nvPr/>
        </p:nvSpPr>
        <p:spPr>
          <a:xfrm>
            <a:off x="640079" y="5166359"/>
            <a:ext cx="6949442" cy="417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F5F5F"/>
                </a:solidFill>
              </a:defRPr>
            </a:lvl1pPr>
          </a:lstStyle>
          <a:p>
            <a:pPr/>
            <a:r>
              <a:t>Para continuar: o vídeo "Let's build GPT", de Andrej Karpathy, e a série sobre Transformers do 3Blue1Brown.</a:t>
            </a:r>
          </a:p>
        </p:txBody>
      </p:sp>
      <p:sp>
        <p:nvSpPr>
          <p:cNvPr id="829" name="Text 5"/>
          <p:cNvSpPr txBox="1"/>
          <p:nvPr/>
        </p:nvSpPr>
        <p:spPr>
          <a:xfrm>
            <a:off x="8229600" y="1043465"/>
            <a:ext cx="338328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400">
                <a:solidFill>
                  <a:srgbClr val="1B1B1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Obrigado.</a:t>
            </a:r>
          </a:p>
        </p:txBody>
      </p:sp>
      <p:sp>
        <p:nvSpPr>
          <p:cNvPr id="830" name="Text 6"/>
          <p:cNvSpPr txBox="1"/>
          <p:nvPr/>
        </p:nvSpPr>
        <p:spPr>
          <a:xfrm>
            <a:off x="8229600" y="2743200"/>
            <a:ext cx="338328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>
                <a:solidFill>
                  <a:srgbClr val="5F5F5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Perguntas?</a:t>
            </a:r>
          </a:p>
        </p:txBody>
      </p:sp>
      <p:sp>
        <p:nvSpPr>
          <p:cNvPr id="831" name="Text 8"/>
          <p:cNvSpPr txBox="1"/>
          <p:nvPr/>
        </p:nvSpPr>
        <p:spPr>
          <a:xfrm>
            <a:off x="620865" y="5932298"/>
            <a:ext cx="35661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5F5F5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github.com/giovannibragasv/</a:t>
            </a:r>
          </a:p>
          <a:p>
            <a:pPr>
              <a:defRPr sz="1200">
                <a:solidFill>
                  <a:srgbClr val="5F5F5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transformer-do-zero</a:t>
            </a:r>
          </a:p>
        </p:txBody>
      </p:sp>
      <p:pic>
        <p:nvPicPr>
          <p:cNvPr id="832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016837" y="1787223"/>
            <a:ext cx="3151548" cy="47476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
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(00:00). Apresente-se em uma frase e diga o combinado: o workshop é prático, cerca de metade do tempo é no notebook, e ninguém precisa ter visto Transformers antes. Quem estiver nos primeiros semestres vai acompanhar a intuição e usar as células de recuperação sem constrangimento; quem já conhece redes neurais vai escrever as partes centrais.
Mensagem central do dia: a mesma equação de uma linha que aparece no artigo de 2017 é o núcleo do GPT, do Claude e do Gemini. Ao final, a turma terá escrito essa equação e treinado um modelo que joga xadrez.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roteiro rapidamente (1 minuto). Destaque que as faixas escuras são tempo de notebook e que a parte teórica vem sempre imediatamente antes da prática correspondente.
Combine o sinal para pedir ajuda (por exemplo, mão levantada ou um post-it no monitor) e apresente os monitores, que vão circular pela sala durante os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gancho. Se o modelo de referência já estiver treinado, faça uma demonstração ao vivo de 1 a 2 minutos: abra o notebook de gabarito, rode a seção 3.5 e jogue três ou quatro lances contra o modelo.
Ponto a enfatizar: o modelo nunca recebe o tabuleiro. Ele vê somente a sequência de caracteres à esquerda e aprende a prever o caractere seguinte. Qualquer noção de "onde estão as peças" precisa emergir dentro da rede. Essa observação volta no slide sobre modelos de mundo.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até 10 minutos. Este é o ponto em que a turma mais trava, então espere todos concluírem antes de seguir. Os monitores devem circular pela sala.
Passo 2 é essencial: sem "Salvar uma cópia no Drive", as alterações se perdem ao fechar a aba. Passo 3: sem GPU, a Parte 3 fica inviável. Se o Colab recusar GPU por cota, a pessoa pode seguir em CPU até a Parte 2 e fazer a Parte 3 em dupla com um colega.
Peça que executem as duas primeiras células agora. A primeira baixa o repositório e o conjunto de dados (cerca de 10 MB); a segunda deve imprimir "Dispositivo: cuda".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o objeto de estudo antes da arquitetura. Um modelo de linguagem atribui uma distribuição de probabilidade ao próximo token, dado o contexto. Gerar texto é repetir essa previsão: sorteia-se um token, ele é anexado ao contexto, e o processo recomeça.
Os valores do gráfico são ilustrativos. A pergunta de fundo para o resto do workshop é como a previsão em uma posição consegue usar a informação espalhada pelas posições anteriores. A resposta do artigo é a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histórico. Em 2017, o estado da arte em tradução eram RNNs (LSTM, GRU) em arquiteturas encoder-decoder, frequentemente já com um mecanismo de atenção (Bahdanau et al., 2015) acoplado.
Dois problemas motivam o artigo. Primeiro, o cálculo é sequencial: h_t depende de h_{t-1}, então não é possível paralelizar ao longo da sequência durante o treino, o que desperdiça GPUs. Segundo, a informação do primeiro token precisa atravessar n passos para chegar ao último, e o sinal (e o gradiente) se degrada no caminho.
A proposta do artigo, já no título, é abandonar a recorrência e usar apenas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Tabela 1 do artigo, que resume o argumento. n é o comprimento da sequência, d a dimensão da representação e k o tamanho do kernel da convolução.
Leitura: a self-attention conecta quaisquer duas posições em um número constante de operações sequenciais, e o caminho máximo entre elas tem comprimento 1. O custo é quadrático em n por camada, o que é aceitável quando n é menor que d, como era o caso em tradução de frases.
Vale antecipar que esse custo O(n²) é exatamente o que limita o tamanho do contexto dos LLMs atuais e motiva variantes como FlashAttention e atenção esparsa.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analogia que sustenta o resto do workshop. Em um dicionário convencional, a consulta precisa coincidir exatamente com uma chave. Na atenção, a consulta é comparada com todas as chaves, cada comparação vira um peso, e o resultado é a média dos valores ponderada por esses pesos.
No exemplo (o mesmo do notebook), a consulta mistura "cavalo" e "bispo". Os pesos se dividem entre essas duas chaves e o resultado é aproximadamente 3, o valor material de ambas. Pergunte à turma o que aconteceria com a consulta "peão + dama" (resposta: cerca de 5, a média de 1 e 9).
Vocabulário para fixar: query é o que se procura, key é o que cada item anuncia, value é o conteúdo que cada item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self-attention, as três matrizes são projeções lineares da mesma entrada X, que tem uma linha por token. W_Q, W_K e W_V são os parâmetros aprendidos da camada; o resto é álgebra sem parâmetros.
Ênfase nos shapes: X é T × d_model, as projeções levam para T × d_k. No notebook, d_model = 16 e d_k = 8 no exemplo em NumPy.
Observação útil para a turma mais avançada: as mesmas posições desempenham os três papéis. Cada token pergunta (query), é consultado (key) e entrega conteúdo (value).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central do artigo. Leia da direita para a esquerda, em três etapas, que são exatamente os passos do Exercício 2.
1. QKᵀ produz uma matriz T × T. A entrada (i, j) é o produto escalar entre a query da posição i e a key da posição j, isto é, a compatibilidade entre elas.
2. Divide-se por √d_k (próximo slide) e aplica-se a softmax em cada linha. Cada linha passa a ser uma distribuição de probabilidade sobre as posições.
3. Multiplica-se por V. A saída da posição i é a média dos values ponderada pela linha i.
Custo: a matriz T × T é a origem do custo quadrático mencionado na tabela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do artigo (nota de rodapé 4): se as componentes de q e k são independentes, com média 0 e variância 1, o produto escalar tem variância d_k. Com d_k grande, os scores ficam grandes em módulo, a softmax satura e seus gradientes ficam muito pequenos.
O gráfico reproduz o experimento da seção 1.3 do notebook: 10 keys aleatórias; a barra mede o maior peso médio da softmax. Sem escala, com d_k = 512, o maior peso já é 0.95, ou seja, quase one-hot. Com a escala, fica em torno de 0.3 para qualquer d_k.
Pergunta para a turma: o que aconteceria se dividíssemos por d_k em vez de √d_k? (A variância ficaria 1/d_k e a softmax tenderia à distribuição uniforme.)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gerar texto, a previsão na posição t só pode depender das posições 1 a t. Caso contrário, durante o treino o modelo "colaria" olhando o próximo token.
A implementação é simples: antes da softmax, os scores acima da diagonal recebem menos infinito. Como e^(-∞) = 0, esses pesos saem exatamente zero, e cada linha continua somando 1 sobre as posições permitidas.
Consequência prática importante: com a máscara, uma única passada pela sequência treina T previsões ao mesmo tempo, uma por posição. É isso que torna o treino de Transformers tão eficiente em comparação com RNNs.
Este é o Exercício 3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(00:25 a 00:45).
Instruções para a turma: cada exercício termina com uma célula de verificação que imprime "Correto" ou uma dica do erro. Quem travar por mais de 3 minutos em um exercício deve usar a célula de recuperação logo abaixo e seguir em frente.
Pontos para circular pela sala:
- Exercício 1: o erro mais comum é esquecer keepdims=True, o que quebra o broadcasting.
- Exercício 2: esquecer de transpor K (o erro de shape denuncia) ou esquecer a divisão por √d_k (a verificação detecta e avisa).
- Exercício 3: np.tril(np.ones((T, T))) resolve em uma linha.
Aos 40 minutos, avise que faltam 5 minutos e peça que todos rodem as células 1.3 e 1.4 para ver os mapas de atenção. Feche comentando que os padrões ainda são aleatórios, pois as matrizes W não foram treinadas.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vez de uma atenção com dimensão d_model, o artigo usa h cabeças menores, cada uma com dimensão d_model / h, em paralelo. No modelo base do artigo, h = 8 e d_k = 64.
Motivação: uma única softmax produz uma única média ponderada por posição. Várias cabeças permitem que a mesma posição combine informação de lugares diferentes por critérios diferentes (por exemplo, uma cabeça pode seguir a sintaxe, outra a correferência). O custo total é similar ao de uma cabeça de dimensão completa.
No notebook (Exercício 5), a implementação é uma linha: concatenar as saídas das cabeças no último eixo e aplicar a projeção W_O.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atenção, como definida, é invariante a permutações: embaralhar os tokens da entrada apenas embaralha as linhas da saída. Portanto, a ordem precisa ser informada explicitamente.
O artigo soma a cada embedding um vetor de senos e cossenos com frequências em progressão geométrica. Cada dimensão oscila com um período diferente, e posições relativas correspondem a transformações lineares desses vetores.
O artigo relata que embeddings de posição aprendidos dão resultados praticamente idênticos (Tabela 3, linha E). No notebook usamos a versão aprendida, como no GPT, e deixamos a senoidal como exercício para casa. Modelos atuais costumam usar RoPE, que aplica rotações às queries e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alterna comunicação (atenção, que mistura informação entre posições) e computação (FFN, uma MLP aplicada a cada posição de forma independente, com camada oculta 4 vezes maior).
As conexões residuais fazem com que cada subcamada aprenda apenas uma correção sobre x, e criam um caminho direto para o gradiente, o que permite empilhar muitos blocos. A LayerNorm mantém a escala das ativações.
Diferença em relação ao artigo: o original aplica a normalização depois da soma (post-LN). GPT-2 e praticamente todos os modelos atuais usam pre-LN, como no diagrama, porque treina de forma mais estável sem warm-up cuidadoso. Vale mencionar para quem for ler o artigo e estranhar.
Exercício 6: exatamente as duas linhas da equação.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artigo resolve tradução, então usa duas pilhas. O encoder lê a frase de origem inteira com self-attention sem máscara (cada palavra vê todas). O decoder gera a tradução token a token com self-attention causal e, em cada bloco, uma camada de cross-attention em que as queries vêm do decoder e as keys e values vêm da saída do encoder. É por ela que a tradução "consulta" a frase original.
Números do modelo base: N = 6 blocos em cada pilha, d_model = 512, h = 8 cabeças, d_ff = 2048, cerca de 65 milhões de parâmetros, treinado por 12 horas em 8 GPUs P100 (o modelo grande levou 3,5 dias).
Transição: no workshop vamos construir apenas a pilha da direita, sem a cross-attention. É isso que o GPT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de 2018 a arquitetura se dividiu em três famílias, conforme a parte do Transformer original que se mantém.
Encoder-only (BERT): atenção bidirecional, treinado para preencher lacunas. Bom para classificação e para gerar embeddings de busca.
Decoder-only (GPT, Llama, Claude): atenção causal, treinado para prever o próximo token. Tornou-se dominante porque o mesmo objetivo simples escala para praticamente qualquer tarefa formulada como texto.
Encoder-decoder (o original, T5, Whisper): natural quando entrada e saída são sequências distintas, como tradução e transcrição.
O workshop fica na linha do meio.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fluxo da esquerda para a direita, sempre falando dos shapes, que é onde a turma mais se perde.
A entrada são índices inteiros com shape (B, T). O embedding de token e o de posição produzem (B, T, C), com C = n_embd. Os N blocos preservam esse shape. A LayerNorm final e a camada linear levam a (B, T, V), um logit por item do vocabulário em cada posição.
A perda é a entropia cruzada entre os logits da posição t e o token da posição t+1. Graças à máscara causal, uma passada gera T exemplos de treino.
No notebook, a classe GPT é fornecida pronta: ela apenas junta as peças escritas nos exercícios 4 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(00:55 a 01:15).
O Exercício 4 é o mais importante do dia: é a mesma função do Exercício 2, agora com a dimensão de lote. Os erros esperados são usar k.T (que em tensores 3D inverte todas as dimensões, não só as duas últimas) e esquecer de recortar a máscara com [:T, :T]. A verificação compara o resultado com a versão em NumPy, o que costuma ser um bom momento de "fechamento" para a turma.
Os Exercícios 5 e 6 são curtos. Depois deles, a turma executa a seção 2.6: o modelo de ordenação treina em cerca de 30 segundos e deve chegar perto de 100% de acerto.
Aos 01:12, peça que todos executem as células 3.1 e 3.2 antes do intervalo.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real do modelo da seção 2.6 (2 camadas, 2 cabeças, cerca de 100 mil parâmetros, 2000 passos), para a entrada 3 1 4 1 5 9 2 6.
Cada linha é um passo da geração da parte ordenada; cada coluna é uma posição observada. A cabeça mostrada (camada 2, cabeça 0) concentra o peso, em cada passo, na posição da entrada que contém o dígito a ser escrito em seguida. Para escrever o 9, por exemplo, ela olha para o 9 da entrada.
Ninguém programou essa regra. O modelo recebeu apenas pares entrada/saída e a atenção emergiu como mecanismo de busca. Na turma, os padrões podem variar de cabeça para cabeça e de execução para execução; em geral, pelo menos uma das cabeças apresenta esse comportamento.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 de 5 minutos (01:15 a 01:20). Antes de liberar a turma, confirme que a maioria executou as células 3.1 e 3.2: a de treino deve estar imprimindo linhas "passo ... | perda ...". O treino dura 6 minutos e termina durante a pausa.
Se alguém estiver sem GPU, o treino em CPU será lento demais. Oriente essa pessoa a interromper a célula e usar o modelo de referência na seção 3.4.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conjunto de dados tem cerca de 60 mil partidas do banco público do Lichess (janeiro a março de 2013), filtradas por término normal e rating médio a partir de 1500, e revalidadas com python-chess. Cada partida é uma linha começando com ponto e vírgula, no formato usado por Adam Karvonen.
Tokenização: cada caractere é um token. O vocabulário inteiro tem 33 símbolos, mostrados embaixo. Isso simplifica muito o workshop, com o custo de sequências mais longas. LLMs de verdade usam BPE, com vocabulários de dezenas a centenas de milhares de subpalavras.
Um lance como "Nxe5" são quatro tokens. O modelo precisa aprender a soletrar lances, as regras de movimento e o estado do tabuleiro, tudo a partir do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treino é idêntico ao da ordenação e ao de qualquer LLM: o alvo é a própria entrada deslocada em uma posição. Não há rótulos manuais.
Mostre o alinhamento: em cada coluna, o modelo vê tudo o que está em x até aquela coluna e precisa prever o caractere de y na mesma coluna.
Números do modelo da turma: 4 blocos, 4 cabeças, n_embd = 128, contexto de 256 caracteres, cerca de 0,8 milhão de parâmetros. A perda inicial fica perto de ln(33) ≈ 3,5, que corresponde a chutar uniformemente entre 33 caracteres, e cai para algo em torno de 1,0 em poucos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científica interessante do exercício. O modelo só vê texto. Para prever um lance legal de forma consistente, ele precisa, de algum modo, acompanhar a posição das peças.
A métrica usada no notebook é a taxa de legalidade: o modelo joga de brancas contra um adversário que sorteia lances, e medimos a fração de lances do modelo que são legais na primeira tentativa. Modelos pequenos treinados por minutos acertam bem a abertura e se perdem no meio-jogo. O modelo de referência deve ir melhor; comparem os números na seção 3.4.
Karvonen (2024) treinou modelos maiores com o mesmo formato de dados e mostrou, com sondas lineares, que é possível ler o estado do tabuleiro a partir das ativações internas. Ou seja, uma representação do tabuleiro emerge do objetivo de prever o próximo caractere. Esse resultado conversa com o trabalho de Li et al. (2023) sobre Othello.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geração, os logits são divididos por uma temperatura τ antes da softmax. τ menor que 1 acentua as diferenças e aproxima a escolha gulosa; τ maior que 1 achata a distribuição.
O gráfico usa logits ilustrativos para o lance das pretas depois de 1.e4. Com τ = 0,3, quase toda a massa vai para e5; com τ = 1,5, lances menos prováveis ganham espaço.
No xadrez isso tem um efeito visível: temperatura alta gera partidas mais variadas e mais lances ilegais. É o mesmo parâmetro "temperature" das APIs de LLMs. Na seção 3.3 a turma varia o valor e observa o efeito.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(01:30 a 01:50). O treino da seção 3.2 já deve ter terminado durante o intervalo.
Roteiro sugerido: gerar três partidas e observar em que lance cada uma se torna ilegal (3.3); variar a temperatura; medir a taxa de legalidade do próprio modelo e comparar com a do modelo de referência (3.4); jogar contra o modelo (3.5).
O tabuleiro da seção 3.5 é interativo: basta arrastar as peças (ou clicar na peça e depois na casa), e os lances legais ficam marcados. Quem preferir pode digitar em notação algébrica. Os lances do modelo aparecem em vermelho no histórico, e o painel mostra quantos deles foram legais na primeira tentativa. Vale sugerir que a turma jogue também contra o próprio modelo (trocando ref por modelo na célula) para comparar. A seção 3.6 é um complemento para quem terminar antes.
Se o modelo de referência não estiver disponível, a seção 3.4 usa automaticamente o modelo treinado pela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o conteúdo técnico mostrando que a distância entre o notebook e um LLM é, em grande parte, de escala e de pós-treino. A arquitetura é reconhecível: embeddings, blocos com atenção e FFN, residuais, LayerNorm, cabeça linear.
Diferenças que valem citar, se houver tempo: tokenização por BPE; posição via RoPE; atenção com KV cache na inferência e variantes como grouped-query attention; normalização RMSNorm; ativação SwiGLU. Depois do pré-treino vêm o ajuste por instruções e o aprendizado por reforço com feedback humano ou com recompensas verificáveis, que transformam um completador de texto em um assistente.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Indique a ordem de leitura sugerida: começar pelo vídeo do Karpathy (reforça tudo o que foi feito hoje, com o mesmo estilo de código), depois o texto ilustrado do Alammar, e então o artigo original, que fica muito mais legível depois do workshop. Karvonen e Li et al. são para quem se interessou pela pergunta dos modelos de mundo.
O repositório do workshop fica público; os notebooks, o gabarito e o script de pré-treino continuam disponíveis.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Agradeça, abra para perguntas (cerca de 5 minutos) e lembre que o link do notebook continua válido depois do evento.
Perguntas frequentes para as quais vale ter resposta pronta (ver o guia de estudos, seção de perguntas difíceis): por que o custo é quadrático; o que é KV cache; como o GPT passou de prever texto a seguir instruções; se o modelo de xadrez "entende" xadrez; qual a diferença entre este modelo e o AlphaZero.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CESUPA TECH SUMMIT 2026  ·  WORKSHOP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is All You Need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14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Construindo um Transformer do zero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30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outubro de 2026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818120" y="137160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9360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909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44584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720072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195560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7104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14653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18120" y="184708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93608" y="184708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6909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244584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720072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5560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71048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4653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18120" y="232257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93608" y="232257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69096" y="232257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244584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720072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5560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71048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146536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18120" y="2798064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93608" y="2798064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69096" y="2798064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244584" y="2798064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720072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195560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71048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146536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18120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293608" y="3273552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69096" y="3273552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44584" y="3273552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720072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195560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71048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146536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818120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93608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769096" y="3749040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44584" y="3749040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720072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195560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71048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46536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818120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293608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769096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244584" y="4224528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720072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195560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71048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146536" y="422452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818120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293608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769096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244584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720072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195560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71048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146536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7818120" y="5257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softmax(QKᵀ/√dₖ), com máscara causal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das duas horas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0020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645920" y="165506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8840" y="160020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acesso ao Colab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756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00:15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645920" y="213055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48840" y="207568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teoria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55117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00:25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645920" y="260604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48840" y="255117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no notebook (NumPy)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026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00:45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645920" y="308152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148840" y="302666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Transformer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5021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00:55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45920" y="3557016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148840" y="350215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no notebook (PyTorch)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3977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01:15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45920" y="403250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48840" y="397764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445312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645920" y="450799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48840" y="445312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 como linguagem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492861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01:30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645920" y="498348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148840" y="492861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no notebook (xadrez)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40410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01:50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645920" y="545896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148840" y="540410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 e perguntas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8229600" y="1737360"/>
            <a:ext cx="3291840" cy="2011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192024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cheio: trabalho no notebook.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vazado: exposição com slides.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vamos chegar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8521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8745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7.Bb3 d6 8.c3 O-O 9.h3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Nb8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37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recebe apenas o texto e prevê o próximo caractere.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720840" y="3200400"/>
            <a:ext cx="6400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589520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91856" y="1600200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94192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96528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98864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601200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03536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405872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89520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91856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94192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96528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98864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01200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03536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405872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89520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991856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94192" y="2404872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96528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98864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601200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003536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405872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89520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991856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94192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796528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98864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01200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003536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405872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89520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91856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394192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796528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98864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601200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003536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405872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89520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91856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394192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796528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198864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01200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003536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05872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589520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91856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94192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796528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198864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601200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003536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405872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589520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991856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8394192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96528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198864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601200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003536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405872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89520" y="160020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58952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tabuleiro nunca é mostrado ao modelo.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64008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Transformer de ~1M de parâmetros, escrito pela turma, treinado em 6 minutos.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Abrindo o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691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link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0756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7004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2715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uma cópia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309981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&gt; Salvar uma cópia no Drive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9417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73989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Ative a GPU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41239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 &gt; Alterar o tipo de ambiente &gt; T4 GPU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71830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7640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as células da seção 0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148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segunda célula deve imprimir: Dispositivo: cuda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navegador e conta Google. Nada é instalado no computador.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de linguagem prevê o próximo token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rei protege a </a:t>
            </a:r>
            <a:pPr indent="0" marL="0">
              <a:buNone/>
            </a:pPr>
            <a:r>
              <a:rPr lang="en-US" sz="3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</a:t>
            </a:r>
            <a:endParaRPr lang="en-US" sz="3000" dirty="0"/>
          </a:p>
        </p:txBody>
      </p:sp>
      <p:pic>
        <p:nvPicPr>
          <p:cNvPr id="7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808637" cy="1143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3931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é minimizar a entropia cruzada da previsão do token seguinte, em cada posição.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754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é amostrar dessa distribuição, anexar o token e repetir.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nextto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7260"/>
            <a:ext cx="5120640" cy="37406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2017: redes recorrentes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flipV="1">
            <a:off x="16916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2860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h₂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 flipV="1">
            <a:off x="37490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3434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h₃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120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 flipV="1">
            <a:off x="58064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4008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h₄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 flipV="1">
            <a:off x="78638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84582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h₅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3268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 flipV="1">
            <a:off x="99212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10972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hₜ = f(hₜ₋₁, xₜ)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sequencial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estado depende do anterior. O treino não pode ser paralelizado ao longo da sequência.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longo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informação de “o” percorre n passos até “rainha”. Dependências distantes se degradam.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proposta: apenas atenção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743200"/>
                <a:gridCol w="25904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sequenciais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máximo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Self-attention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 · d)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Convolucional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O(k · 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O(logₖ 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Vaswani et al. (2017), Tabela 1. n = comprimento da sequência; d = dimensão; k = tamanho do kernel.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46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Qualquer posição acessa qualquer outra em um único passo, e todas as posições são processadas em paralelo.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Atenção como consulta a um dicionário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 + bispo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bispo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2880360" y="310896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366760" y="3108960"/>
            <a:ext cx="5486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4" name="Text 41"/>
          <p:cNvSpPr txBox="1"/>
          <p:nvPr/>
        </p:nvSpPr>
        <p:spPr>
          <a:xfrm>
            <a:off x="83210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peso · value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3.05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90525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4008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pesos vêm da similaridade entre a query e cada key (produto escalar seguido de softmax). A saída é uma média ponderada dos values.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Queries, keys e values vêm da própria sequência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qk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555921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24128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408176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792224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176272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6032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24128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408176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792224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76272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6032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24128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408176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792224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176272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56032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24128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408176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792224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176272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56032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024128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408176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792224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176272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256032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40080" y="47548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5120640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d_model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 flipV="1">
            <a:off x="3108960" y="2743200"/>
            <a:ext cx="1463040" cy="9601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470916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89204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07492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25780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470916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9204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07492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25780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70916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9204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07492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25780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70916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489204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07492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525780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470916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9204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07492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25780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5778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200" dirty="0"/>
          </a:p>
        </p:txBody>
      </p:sp>
      <p:sp>
        <p:nvSpPr>
          <p:cNvPr id="61" name="Text 57"/>
          <p:cNvSpPr txBox="1"/>
          <p:nvPr/>
        </p:nvSpPr>
        <p:spPr>
          <a:xfrm>
            <a:off x="603504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W_Q  ·  T × d_k  ·  consultas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3108960" y="3703320"/>
            <a:ext cx="1463040" cy="2743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470916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489204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507492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25780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70916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89204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507492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525780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470916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489204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507492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525780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470916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89204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507492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25780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470916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489204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07492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5780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577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200" dirty="0"/>
          </a:p>
        </p:txBody>
      </p:sp>
      <p:sp>
        <p:nvSpPr>
          <p:cNvPr id="84" name="Text 80"/>
          <p:cNvSpPr txBox="1"/>
          <p:nvPr/>
        </p:nvSpPr>
        <p:spPr>
          <a:xfrm>
            <a:off x="60350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W_K  ·  T × d_k  ·  chaves</a:t>
            </a:r>
            <a:endParaRPr lang="en-US" sz="1400" dirty="0"/>
          </a:p>
        </p:txBody>
      </p:sp>
      <p:sp>
        <p:nvSpPr>
          <p:cNvPr id="85" name="Shape 81"/>
          <p:cNvSpPr/>
          <p:nvPr/>
        </p:nvSpPr>
        <p:spPr>
          <a:xfrm>
            <a:off x="3108960" y="3703320"/>
            <a:ext cx="1463040" cy="1508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6" name="Shape 82"/>
          <p:cNvSpPr/>
          <p:nvPr/>
        </p:nvSpPr>
        <p:spPr>
          <a:xfrm>
            <a:off x="470916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489204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07492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525780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70916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489204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507492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525780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470916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89204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507492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25780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70916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489204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507492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525780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70916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489204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507492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25780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2"/>
          <p:cNvSpPr txBox="1"/>
          <p:nvPr/>
        </p:nvSpPr>
        <p:spPr>
          <a:xfrm>
            <a:off x="55778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107" name="Text 103"/>
          <p:cNvSpPr txBox="1"/>
          <p:nvPr/>
        </p:nvSpPr>
        <p:spPr>
          <a:xfrm>
            <a:off x="6035040" y="4937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W_V  ·  T × d_k  ·  conteúdos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8778240" y="2377440"/>
            <a:ext cx="274320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9" name="Text 105"/>
          <p:cNvSpPr txBox="1"/>
          <p:nvPr/>
        </p:nvSpPr>
        <p:spPr>
          <a:xfrm>
            <a:off x="9006840" y="25603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aprendidos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W_Q, W_K e W_V. Treinar a camada é ajustar essas três matrizes.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token desempenha os três papéis ao mesmo tempo.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Scaled dot-product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08760"/>
            <a:ext cx="8138160" cy="1386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118872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QKᵀ gera uma matriz T × T. A entrada (i, j) mede o quanto a posição i se relaciona com a posição j.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8920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Divide-se por √dₖ e aplica-se a softmax em cada linha, que passa a somar 1.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4672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Multiplica-se por V: cada posição recebe uma média ponderada dos values.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dividir por √dₖ?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v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399948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variância dₖ, os scores crescem com a dimensão, a softmax satura e o gradiente se anula. Dividir por √dₖ restaura a variância 1.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10 keys, pesos uniformes valeriam 0.10.</a:t>
            </a:r>
            <a:endParaRPr lang="en-US" sz="1400" dirty="0"/>
          </a:p>
        </p:txBody>
      </p:sp>
      <p:pic>
        <p:nvPicPr>
          <p:cNvPr id="9" name="Image 1" descr="/Users/giovannivasconcelos/Documents/University/tech_summit/attention/slides/assets/ch_sqrtd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963" y="1463040"/>
            <a:ext cx="524911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Máscara causal: ninguém olha para o futuro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8229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8229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8229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Text 57"/>
          <p:cNvSpPr txBox="1"/>
          <p:nvPr/>
        </p:nvSpPr>
        <p:spPr>
          <a:xfrm>
            <a:off x="8229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16459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62" name="Text 59"/>
          <p:cNvSpPr txBox="1"/>
          <p:nvPr/>
        </p:nvSpPr>
        <p:spPr>
          <a:xfrm>
            <a:off x="22128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27797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64" name="Text 61"/>
          <p:cNvSpPr txBox="1"/>
          <p:nvPr/>
        </p:nvSpPr>
        <p:spPr>
          <a:xfrm>
            <a:off x="33467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5" name="Text 62"/>
          <p:cNvSpPr txBox="1"/>
          <p:nvPr/>
        </p:nvSpPr>
        <p:spPr>
          <a:xfrm>
            <a:off x="39136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6" name="Text 63"/>
          <p:cNvSpPr txBox="1"/>
          <p:nvPr/>
        </p:nvSpPr>
        <p:spPr>
          <a:xfrm>
            <a:off x="19202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com máscara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5029200" y="3429000"/>
            <a:ext cx="10058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8" name="Text 65"/>
          <p:cNvSpPr txBox="1"/>
          <p:nvPr/>
        </p:nvSpPr>
        <p:spPr>
          <a:xfrm>
            <a:off x="4983480" y="3017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69" name="Shape 66"/>
          <p:cNvSpPr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5" name="Shape 72"/>
          <p:cNvSpPr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7" name="Shape 74"/>
          <p:cNvSpPr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9" name="Shape 76"/>
          <p:cNvSpPr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</a:t>
            </a:r>
            <a:endParaRPr lang="en-US" sz="1200" dirty="0"/>
          </a:p>
        </p:txBody>
      </p:sp>
      <p:sp>
        <p:nvSpPr>
          <p:cNvPr id="81" name="Shape 78"/>
          <p:cNvSpPr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5" name="Shape 82"/>
          <p:cNvSpPr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7" name="Shape 84"/>
          <p:cNvSpPr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9" name="Shape 86"/>
          <p:cNvSpPr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200" dirty="0"/>
          </a:p>
        </p:txBody>
      </p:sp>
      <p:sp>
        <p:nvSpPr>
          <p:cNvPr id="95" name="Shape 92"/>
          <p:cNvSpPr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7" name="Shape 94"/>
          <p:cNvSpPr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9" name="Shape 96"/>
          <p:cNvSpPr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01" name="Shape 98"/>
          <p:cNvSpPr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</a:t>
            </a:r>
            <a:endParaRPr lang="en-US" sz="1200" dirty="0"/>
          </a:p>
        </p:txBody>
      </p:sp>
      <p:sp>
        <p:nvSpPr>
          <p:cNvPr id="105" name="Shape 102"/>
          <p:cNvSpPr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1200" dirty="0"/>
          </a:p>
        </p:txBody>
      </p:sp>
      <p:sp>
        <p:nvSpPr>
          <p:cNvPr id="107" name="Shape 104"/>
          <p:cNvSpPr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200" dirty="0"/>
          </a:p>
        </p:txBody>
      </p:sp>
      <p:sp>
        <p:nvSpPr>
          <p:cNvPr id="111" name="Shape 108"/>
          <p:cNvSpPr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1200" dirty="0"/>
          </a:p>
        </p:txBody>
      </p:sp>
      <p:sp>
        <p:nvSpPr>
          <p:cNvPr id="113" name="Shape 110"/>
          <p:cNvSpPr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115" name="Shape 112"/>
          <p:cNvSpPr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</a:t>
            </a:r>
            <a:endParaRPr lang="en-US" sz="1200" dirty="0"/>
          </a:p>
        </p:txBody>
      </p:sp>
      <p:sp>
        <p:nvSpPr>
          <p:cNvPr id="117" name="Shape 114"/>
          <p:cNvSpPr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19" name="Text 116"/>
          <p:cNvSpPr txBox="1"/>
          <p:nvPr/>
        </p:nvSpPr>
        <p:spPr>
          <a:xfrm>
            <a:off x="63093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0" name="Text 117"/>
          <p:cNvSpPr txBox="1"/>
          <p:nvPr/>
        </p:nvSpPr>
        <p:spPr>
          <a:xfrm>
            <a:off x="63093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1" name="Text 118"/>
          <p:cNvSpPr txBox="1"/>
          <p:nvPr/>
        </p:nvSpPr>
        <p:spPr>
          <a:xfrm>
            <a:off x="63093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2" name="Text 119"/>
          <p:cNvSpPr txBox="1"/>
          <p:nvPr/>
        </p:nvSpPr>
        <p:spPr>
          <a:xfrm>
            <a:off x="63093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3" name="Text 120"/>
          <p:cNvSpPr txBox="1"/>
          <p:nvPr/>
        </p:nvSpPr>
        <p:spPr>
          <a:xfrm>
            <a:off x="63093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4" name="Text 121"/>
          <p:cNvSpPr txBox="1"/>
          <p:nvPr/>
        </p:nvSpPr>
        <p:spPr>
          <a:xfrm>
            <a:off x="71323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5" name="Text 122"/>
          <p:cNvSpPr txBox="1"/>
          <p:nvPr/>
        </p:nvSpPr>
        <p:spPr>
          <a:xfrm>
            <a:off x="76992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6" name="Text 123"/>
          <p:cNvSpPr txBox="1"/>
          <p:nvPr/>
        </p:nvSpPr>
        <p:spPr>
          <a:xfrm>
            <a:off x="82661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7" name="Text 124"/>
          <p:cNvSpPr txBox="1"/>
          <p:nvPr/>
        </p:nvSpPr>
        <p:spPr>
          <a:xfrm>
            <a:off x="88331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8" name="Text 125"/>
          <p:cNvSpPr txBox="1"/>
          <p:nvPr/>
        </p:nvSpPr>
        <p:spPr>
          <a:xfrm>
            <a:off x="94000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9" name="Text 126"/>
          <p:cNvSpPr txBox="1"/>
          <p:nvPr/>
        </p:nvSpPr>
        <p:spPr>
          <a:xfrm>
            <a:off x="74066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(cada linha soma 1)</a:t>
            </a:r>
            <a:endParaRPr lang="en-US" sz="1400" dirty="0"/>
          </a:p>
        </p:txBody>
      </p:sp>
      <p:sp>
        <p:nvSpPr>
          <p:cNvPr id="130" name="Text 127"/>
          <p:cNvSpPr txBox="1"/>
          <p:nvPr/>
        </p:nvSpPr>
        <p:spPr>
          <a:xfrm>
            <a:off x="64008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máscara vale 0, o score recebe −∞ antes da softmax, e o peso resultante é exatamente zero.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no notebook: atenção em NumPy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00:25 até 00:45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numericamente estável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atencao(Q, K, V): scores, softmax e média ponderada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mascara_causal(T) com np.tril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com √dₖ e mapas de self-attention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1.3, 1.4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Travou por mais de 3 minutos? Use a célula [Recuperação] logo abaixo do exercício e siga adiante.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Multi-head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m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8014422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 flipV="1">
            <a:off x="1965960" y="265176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1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265176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1965960" y="338328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983480" y="338328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1965960" y="374904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3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 flipV="1">
            <a:off x="4983480" y="374904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1965960" y="374904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h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 flipV="1">
            <a:off x="4983480" y="374904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283464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⋮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7266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W_O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95554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64008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cabeça tem suas próprias W_Q, W_K, W_V, com dimensão d_model / h.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Codificação de posição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498080" cy="6426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5146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atenção é invariante a permutações da entrada: sem essa informação, “o rei protege a rainha” e “a rainha protege o rei” seriam indistinguíveis.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1605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artigo soma essa codificação ao embedding de cada token. No notebook, como no GPT, os vetores de posição são aprendidos.</a:t>
            </a:r>
            <a:endParaRPr lang="en-US" sz="1500" dirty="0"/>
          </a:p>
        </p:txBody>
      </p:sp>
      <p:pic>
        <p:nvPicPr>
          <p:cNvPr id="9" name="Image 1" descr="/Users/giovannivasconcelos/Documents/University/tech_summit/attention/slides/assets/ch_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861" y="2377440"/>
            <a:ext cx="482931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bloco do Transformer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96231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291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960120" y="3703320"/>
            <a:ext cx="2743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5"/>
          <p:cNvSpPr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679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994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93776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9377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5138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251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8897112" y="3703320"/>
            <a:ext cx="26517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918972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8972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9784080" y="3703320"/>
            <a:ext cx="7315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10561320" y="32918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flipV="1">
            <a:off x="1005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005840" y="2788920"/>
            <a:ext cx="416052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6636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V="1">
            <a:off x="5577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577840" y="2788920"/>
            <a:ext cx="388620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46404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256032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residual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700" dirty="0"/>
          </a:p>
        </p:txBody>
      </p:sp>
      <p:sp>
        <p:nvSpPr>
          <p:cNvPr id="36" name="Text 32"/>
          <p:cNvSpPr txBox="1"/>
          <p:nvPr/>
        </p:nvSpPr>
        <p:spPr>
          <a:xfrm>
            <a:off x="64008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entre posições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434340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434340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 em cada posição, isoladamente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0467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+ LayerNorm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804672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permitem empilhar dezenas de blocos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original: encoder-decoder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97280" y="1965960"/>
            <a:ext cx="3291840" cy="1728216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217920" y="1965960"/>
            <a:ext cx="3291840" cy="2386584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causal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solidFill>
            <a:srgbClr val="BFD0E3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434840" y="2971800"/>
            <a:ext cx="2011680" cy="137160"/>
          </a:xfrm>
          <a:prstGeom prst="line">
            <a:avLst/>
          </a:prstGeom>
          <a:noFill/>
          <a:ln w="2222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4206240" y="3246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e values do encoder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protects the queen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4206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 de origem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217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‹início› O rei protege a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gerada até agora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966960" y="1508760"/>
            <a:ext cx="1645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04120" y="1645920"/>
            <a:ext cx="1463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d_model = 512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d_ff = 2048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65M parâmetros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 construímos apenas a pilha do decoder, sem a cross-attention. Essa é a arquitetura do GPT.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famílias a partir do mesmo bloco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3017520"/>
                <a:gridCol w="27733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preencher tokens mascarados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BERT, RoBERTa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prever o próximo token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GPT, Llama, Claude, este workshop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 + causal +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a saída condicionada à entrada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original, T5, Whisper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8006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“prever o próximo token” é simples o bastante para usar qualquer texto como dado de treino, sem rotulação manual. Esse é o principal motivo de a família decoder-only ter se tornado dominante.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completo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130552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posição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496312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986784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× 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52544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843016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208776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699248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65008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V)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55480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p(próximo)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lote  ·  T = posições  ·  C = n_embd  ·  V = tamanho do vocabulário</a:t>
            </a:r>
            <a:endParaRPr lang="en-US" sz="1400" dirty="0"/>
          </a:p>
        </p:txBody>
      </p:sp>
      <p:pic>
        <p:nvPicPr>
          <p:cNvPr id="30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0"/>
            <a:ext cx="4616291" cy="109728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48006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pela sequência produz T previsões, todas treinadas em paralelo.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no notebook: o Transformer em PyTorch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00:55 até 01:15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Head.forward: a atenção com lote e máscara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5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MultiHeadAttention: concatenar as cabeças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6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Block: as duas conexões residuais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 modelo de ordenação e ver a atenção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2.6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ao shape: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tensores (B, T, C), use k.transpose(-2, -1), e não k.T.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modelo de ordenação aprendeu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sort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139823" cy="4206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45663" y="1645920"/>
            <a:ext cx="3405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3 1 4 1 5 9 2 6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145663" y="2240280"/>
            <a:ext cx="3405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um passo da geração; cada coluna, uma posição observada.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45663" y="3200400"/>
            <a:ext cx="3405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passo, a cabeça se concentra no dígito da entrada que será escrito a seguir.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145663" y="4343400"/>
            <a:ext cx="3405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não foi programada: ela emergiu do treino.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2, cabeça 0. A linha tracejada separa entrada e saída.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minutos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40080" y="3840480"/>
            <a:ext cx="676656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40233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sair, execute as seções 3.1 e 3.2.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xadrez treina por 6 minutos enquanto isso.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8229600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1936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34272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436608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38944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0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43616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045952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31936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34272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36608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838944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241280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43616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045952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0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631936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034272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436608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8944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241280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43616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045952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29600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1936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34272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436608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838944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241280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43616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045952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29600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31936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034272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436608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838944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241280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43616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045952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631936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034272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436608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838944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241280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43616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045952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229600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631936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034272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436608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838944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241280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43616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045952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229600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631936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034272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436608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838944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241280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43616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045952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229600" y="173736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Xadrez como linguagem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58368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 ...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39593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96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Símbolo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 B  R  Q  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cavalo, bispo, torre, dama, rei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e4, Nf3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de destino (peão quando não há letra)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 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xeque, xeque-mate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O-O  O-O-O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roque pequeno, roque grande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completo: 33 caracteres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⏎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62" name="Shape 58"/>
          <p:cNvSpPr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68" name="Shape 64"/>
          <p:cNvSpPr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300" dirty="0"/>
          </a:p>
        </p:txBody>
      </p:sp>
      <p:sp>
        <p:nvSpPr>
          <p:cNvPr id="76" name="Text 72"/>
          <p:cNvSpPr txBox="1"/>
          <p:nvPr/>
        </p:nvSpPr>
        <p:spPr>
          <a:xfrm>
            <a:off x="640080" y="466344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mil partidas do Lichess (2013), rating médio ≥ 1500, 24 milhões de caracteres. Cada caractere é um token.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objetivo, outro 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4414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4" name="Shape 51"/>
          <p:cNvSpPr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4" name="Shape 61"/>
          <p:cNvSpPr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70" name="Shape 67"/>
          <p:cNvSpPr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4" name="Shape 71"/>
          <p:cNvSpPr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6" name="Shape 73"/>
          <p:cNvSpPr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8" name="Shape 75"/>
          <p:cNvSpPr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80" name="Text 77"/>
          <p:cNvSpPr txBox="1"/>
          <p:nvPr/>
        </p:nvSpPr>
        <p:spPr>
          <a:xfrm>
            <a:off x="640080" y="3337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alvo y é a própria entrada deslocada em uma posição. Não há rotulação manual.</a:t>
            </a:r>
            <a:endParaRPr lang="en-US" sz="1800" dirty="0"/>
          </a:p>
        </p:txBody>
      </p:sp>
      <p:sp>
        <p:nvSpPr>
          <p:cNvPr id="81" name="Text 78"/>
          <p:cNvSpPr txBox="1"/>
          <p:nvPr/>
        </p:nvSpPr>
        <p:spPr>
          <a:xfrm>
            <a:off x="6400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0,8M</a:t>
            </a:r>
            <a:endParaRPr lang="en-US" sz="4000" dirty="0"/>
          </a:p>
        </p:txBody>
      </p:sp>
      <p:sp>
        <p:nvSpPr>
          <p:cNvPr id="82" name="Text 79"/>
          <p:cNvSpPr txBox="1"/>
          <p:nvPr/>
        </p:nvSpPr>
        <p:spPr>
          <a:xfrm>
            <a:off x="6400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500" dirty="0"/>
          </a:p>
        </p:txBody>
      </p:sp>
      <p:sp>
        <p:nvSpPr>
          <p:cNvPr id="83" name="Text 80"/>
          <p:cNvSpPr txBox="1"/>
          <p:nvPr/>
        </p:nvSpPr>
        <p:spPr>
          <a:xfrm>
            <a:off x="33832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4</a:t>
            </a:r>
            <a:endParaRPr lang="en-US" sz="4000" dirty="0"/>
          </a:p>
        </p:txBody>
      </p:sp>
      <p:sp>
        <p:nvSpPr>
          <p:cNvPr id="84" name="Text 81"/>
          <p:cNvSpPr txBox="1"/>
          <p:nvPr/>
        </p:nvSpPr>
        <p:spPr>
          <a:xfrm>
            <a:off x="33832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× cabeças</a:t>
            </a:r>
            <a:endParaRPr lang="en-US" sz="1500" dirty="0"/>
          </a:p>
        </p:txBody>
      </p:sp>
      <p:sp>
        <p:nvSpPr>
          <p:cNvPr id="85" name="Text 82"/>
          <p:cNvSpPr txBox="1"/>
          <p:nvPr/>
        </p:nvSpPr>
        <p:spPr>
          <a:xfrm>
            <a:off x="61264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4000" dirty="0"/>
          </a:p>
        </p:txBody>
      </p:sp>
      <p:sp>
        <p:nvSpPr>
          <p:cNvPr id="86" name="Text 83"/>
          <p:cNvSpPr txBox="1"/>
          <p:nvPr/>
        </p:nvSpPr>
        <p:spPr>
          <a:xfrm>
            <a:off x="61264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 de contexto</a:t>
            </a:r>
            <a:endParaRPr lang="en-US" sz="1500" dirty="0"/>
          </a:p>
        </p:txBody>
      </p:sp>
      <p:sp>
        <p:nvSpPr>
          <p:cNvPr id="87" name="Text 84"/>
          <p:cNvSpPr txBox="1"/>
          <p:nvPr/>
        </p:nvSpPr>
        <p:spPr>
          <a:xfrm>
            <a:off x="88696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min</a:t>
            </a:r>
            <a:endParaRPr lang="en-US" sz="4000" dirty="0"/>
          </a:p>
        </p:txBody>
      </p:sp>
      <p:sp>
        <p:nvSpPr>
          <p:cNvPr id="88" name="Text 85"/>
          <p:cNvSpPr txBox="1"/>
          <p:nvPr/>
        </p:nvSpPr>
        <p:spPr>
          <a:xfrm>
            <a:off x="88696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treino em uma T4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sabe onde estão as peças?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544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116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88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260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32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404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544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116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688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260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3832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404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5544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116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60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3832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404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972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5544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116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468880" y="30175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3832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8404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72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5544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116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468880" y="34747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9260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3832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8404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972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5544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20116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24688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926080" y="39319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3832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8404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00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972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5544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0116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4688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29260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33832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8404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00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5544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20116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4688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260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3832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8404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40080" y="1645920"/>
            <a:ext cx="3657600" cy="3657600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937760" y="16459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Hipótese: para prever lances legais, a rede precisa manter internamente uma representação do tabuleiro.</a:t>
            </a:r>
            <a:endParaRPr lang="en-US" sz="1900" dirty="0"/>
          </a:p>
        </p:txBody>
      </p:sp>
      <p:sp>
        <p:nvSpPr>
          <p:cNvPr id="72" name="Text 69"/>
          <p:cNvSpPr txBox="1"/>
          <p:nvPr/>
        </p:nvSpPr>
        <p:spPr>
          <a:xfrm>
            <a:off x="4937760" y="2788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do notebook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4937760" y="31546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legalidade: fração dos lances do modelo que são legais na primeira tentativa, jogando contra um adversário aleatório.</a:t>
            </a:r>
            <a:endParaRPr lang="en-US" sz="1600" dirty="0"/>
          </a:p>
        </p:txBody>
      </p:sp>
      <p:sp>
        <p:nvSpPr>
          <p:cNvPr id="74" name="Text 71"/>
          <p:cNvSpPr txBox="1"/>
          <p:nvPr/>
        </p:nvSpPr>
        <p:spPr>
          <a:xfrm>
            <a:off x="493776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na literatura</a:t>
            </a:r>
            <a:endParaRPr lang="en-US" sz="1700" dirty="0"/>
          </a:p>
        </p:txBody>
      </p:sp>
      <p:sp>
        <p:nvSpPr>
          <p:cNvPr id="75" name="Text 72"/>
          <p:cNvSpPr txBox="1"/>
          <p:nvPr/>
        </p:nvSpPr>
        <p:spPr>
          <a:xfrm>
            <a:off x="4937760" y="44805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 (2024) mostra que sondas lineares recuperam o estado do tabuleiro a partir das ativações de modelos treinados apenas com texto PGN.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Temperatura de amostragem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te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1752380" cy="1280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26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&lt; 1 concentra a probabilidade no token mais provável.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&gt; 1 aproxima a distribuição da uniforme.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297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parâmetro “temperature” das APIs de modelos de linguagem.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682" y="1463040"/>
            <a:ext cx="571423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no notebook: xadrez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01:30 até 01:50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partidas e encontrar o primeiro lance ilegal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331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variar a temperatura e comparar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3.4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3063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a taxa de legalidade com o modelo de referência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794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3.5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3794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uma partida contra o modelo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3.6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complemento: visualizar a atenção no xadrez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10911535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as peças ou clique na peça e depois na casa. Também é possível digitar o lance (e4, Nf3, O-O).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Daqui até um LLM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785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 workshop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LLM de grande porte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caracteres (33)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subpalavras via BPE (~10⁵)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0,8M a 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10⁹ a 10¹²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MB de partidas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trilhões de 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em uma T4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em milhares de GPUs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pré-treino, ajuste por instruções, RLHF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53035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é, em essência, a que foi escrita hoje.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Vaswani, A. et al. (2017).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Attention Is All You Need. NeurIPS. arXiv:1706.03762.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Karpathy, A.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Let's build GPT: from scratch, in code, spelled out. Vídeo; repositório nanoGPT.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Alammar, J. (2018).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Illustrated Transformer. jalammar.github.io.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Karvonen, A. (2024).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Models and Latent Variable Estimation in Chess-Playing Language Models. arXiv:2403.15498.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K. et al.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Representations: Exploring a Sequence Model Trained on a Synthetic Task. ICLR.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Prince, S.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Understanding Deep Learning, cap. 12 (Transformers). MIT Press.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para casa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578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embedding de posição pelo senoidal · aumentar n_layer e n_embd · treinar em outro corpus.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778240" y="1737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354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926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1498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778240" y="21945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0" y="21945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6926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1498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0642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7782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235440" y="26517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6926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1498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6070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0642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7782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354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6926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498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0642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7782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2354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6926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8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6070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064240" y="35661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7782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2354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6926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498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6070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642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Need: construindo um Transformer do zero</dc:title>
  <dc:subject>PptxGenJS Presentation</dc:subject>
  <dc:creator>Giovanni Vasconcelos</dc:creator>
  <cp:lastModifiedBy>Giovanni Vasconcelos</cp:lastModifiedBy>
  <cp:revision>1</cp:revision>
  <dcterms:created xsi:type="dcterms:W3CDTF">2026-09-23T21:10:56Z</dcterms:created>
  <dcterms:modified xsi:type="dcterms:W3CDTF">2026-09-23T21:10:56Z</dcterms:modified>
</cp:coreProperties>
</file>
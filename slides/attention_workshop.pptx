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CESUPA TECH SUMMIT 2026  ·  WORKSHOP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 is All You Need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1460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rgbClr val="5F5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Construindo um Transformer do zero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Vasconcelos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2303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de outubro de 2026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818120" y="1371600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93608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69096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44584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20072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95560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671048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146536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18120" y="1847088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93608" y="1847088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769096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44584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720072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195560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671048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146536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18120" y="2322576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3608" y="2322576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69096" y="2322576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44584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20072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195560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671048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146536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18120" y="2798064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93608" y="2798064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69096" y="2798064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244584" y="2798064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720072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195560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671048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146536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818120" y="3273552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293608" y="3273552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769096" y="3273552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244584" y="3273552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720072" y="3273552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195560" y="3273552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671048" y="3273552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146536" y="3273552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818120" y="3749040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293608" y="3749040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769096" y="3749040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244584" y="3749040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720072" y="3749040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195560" y="3749040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671048" y="374904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1146536" y="374904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818120" y="4224528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293608" y="4224528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769096" y="4224528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244584" y="4224528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720072" y="4224528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195560" y="4224528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671048" y="4224528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1146536" y="422452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818120" y="4700016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293608" y="4700016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769096" y="4700016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44584" y="4700016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720072" y="4700016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195560" y="4700016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671048" y="4700016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1146536" y="4700016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fazer hoje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164592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16459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onde veio a ideia de atenção, e por que ela mudou a computação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2340864"/>
            <a:ext cx="292608" cy="292608"/>
          </a:xfrm>
          <a:prstGeom prst="rect">
            <a:avLst/>
          </a:prstGeom>
          <a:solidFill>
            <a:srgbClr val="2F5D8A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267712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5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2267712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Fazer a atenção passo a passo, num exemplo de três palavras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40080" y="2962656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43000" y="2889504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2889504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atenção vira um Transformer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40080" y="3584448"/>
            <a:ext cx="292608" cy="292608"/>
          </a:xfrm>
          <a:prstGeom prst="rect">
            <a:avLst/>
          </a:prstGeom>
          <a:solidFill>
            <a:srgbClr val="2F5D8A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3511296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5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377440" y="3511296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o Transformer e ensiná-lo a ordenar números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640080" y="4206240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43000" y="413308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2377440" y="413308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640080" y="4828032"/>
            <a:ext cx="292608" cy="292608"/>
          </a:xfrm>
          <a:prstGeom prst="rect">
            <a:avLst/>
          </a:prstGeom>
          <a:solidFill>
            <a:srgbClr val="2F5D8A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143000" y="475488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5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2377440" y="475488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Treinar um modelo de xadrez e jogar contra ele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precisa saber nada de inteligência artificial, nem de xadrez.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vamos chegar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852160" cy="23774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87452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;1.e4 e5 2.Nf3 Nc6 3.Bb5 a6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4.Ba4 Nf6 5.O-O Be7 6.Re1 b5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7.Bb3 d6 8.c3 O-O 9.h3 </a:t>
            </a:r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Nb8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3375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lê apenas o texto e prevê o próximo caractere.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720840" y="3200400"/>
            <a:ext cx="6400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589520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91856" y="1600200"/>
            <a:ext cx="402336" cy="402336"/>
          </a:xfrm>
          <a:prstGeom prst="rect">
            <a:avLst/>
          </a:prstGeom>
          <a:solidFill>
            <a:srgbClr val="E8C4C4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94192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96528" y="160020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98864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0" y="160020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03536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405872" y="160020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89520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91856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94192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796528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98864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601200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03536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405872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589520" y="240487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91856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4192" y="2404872"/>
            <a:ext cx="402336" cy="402336"/>
          </a:xfrm>
          <a:prstGeom prst="rect">
            <a:avLst/>
          </a:prstGeom>
          <a:solidFill>
            <a:srgbClr val="E8C4C4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96528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98864" y="240487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601200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03536" y="240487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405872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89520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91856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94192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796528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198864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601200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003536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405872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89520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991856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394192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796528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98864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601200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003536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405872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589520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991856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394192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796528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198864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601200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003536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405872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589520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991856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394192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796528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198864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601200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003536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405872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589520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991856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394192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796528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98864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601200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003536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405872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589520" y="1600200"/>
            <a:ext cx="3218688" cy="3218688"/>
          </a:xfrm>
          <a:prstGeom prst="rect">
            <a:avLst/>
          </a:prstGeom>
          <a:ln w="12700">
            <a:solidFill>
              <a:srgbClr val="1B1B1B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7589520" y="4937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tabuleiro nunca é mostrado ao modelo.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640080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Transformer montado por vocês, que aprende xadrez só lendo partidas.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Abrindo o notebook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91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link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7568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colab.research.google.com/github/giovannibragasv/transformer-do-zero/blob/main/workshop_aluno.ipynb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670048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71576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 uma cópia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099816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 &gt; Salvar uma cópia no Drive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694176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73989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Ative a GPU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412394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 de execução &gt; Alterar o tipo de ambiente &gt; T4 GPU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718304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764024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as células da seção 0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514807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na célula e aperte Shift + Enter. A segunda deve imprimir: Dispositivo: cuda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897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só precisa de um navegador e de uma conta Google.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ideia de 2017 que mudou a computação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914400" y="2377440"/>
            <a:ext cx="9144000" cy="0"/>
          </a:xfrm>
          <a:prstGeom prst="line">
            <a:avLst/>
          </a:prstGeom>
          <a:noFill/>
          <a:ln w="25400">
            <a:solidFill>
              <a:srgbClr val="C9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249424"/>
            <a:ext cx="256032" cy="256032"/>
          </a:xfrm>
          <a:prstGeom prst="ellipse">
            <a:avLst/>
          </a:prstGeom>
          <a:solidFill>
            <a:srgbClr val="9E2A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16916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2017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Google publica Attention Is All You Need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026664" y="2249424"/>
            <a:ext cx="256032" cy="256032"/>
          </a:xfrm>
          <a:prstGeom prst="ellipse">
            <a:avLst/>
          </a:prstGeom>
          <a:solidFill>
            <a:srgbClr val="2F5D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06040" y="16916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063240" y="269748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Surgem os primeiros GPT e BERT, ambos Transformers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66944" y="2249424"/>
            <a:ext cx="256032" cy="256032"/>
          </a:xfrm>
          <a:prstGeom prst="ellipse">
            <a:avLst/>
          </a:prstGeom>
          <a:solidFill>
            <a:srgbClr val="2F5D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6916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2020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303520" y="269748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 A atenção chega às imagens e às proteínas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507224" y="2249424"/>
            <a:ext cx="256032" cy="256032"/>
          </a:xfrm>
          <a:prstGeom prst="ellipse">
            <a:avLst/>
          </a:prstGeom>
          <a:solidFill>
            <a:srgbClr val="2F5D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16916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2022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7543800" y="269748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ChatGPT: 100 milhões de usuários em dois meses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747504" y="2249424"/>
            <a:ext cx="256032" cy="256032"/>
          </a:xfrm>
          <a:prstGeom prst="ellipse">
            <a:avLst/>
          </a:prstGeom>
          <a:solidFill>
            <a:srgbClr val="2F5D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326880" y="16916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Hoje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9784080" y="269748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ChatGPT, Claude, Gemini, Copilot. Nobel de 2024 para o AlphaFold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" y="4572000"/>
            <a:ext cx="10911535" cy="10972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4572000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"T" de ChatGPT significa </a:t>
            </a:r>
            <a:pPr indent="0" marL="0">
              <a:buNone/>
            </a:pPr>
            <a:r>
              <a:rPr lang="en-US" sz="24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Transformer</a:t>
            </a:r>
            <a:pPr indent="0" marL="0">
              <a:buNone/>
            </a:pPr>
            <a:r>
              <a:rPr lang="en-US" sz="24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É ele que vamos construir hoje.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2017: ler uma palavra de cada vez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99239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737360"/>
            <a:ext cx="9923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742206" y="1737360"/>
            <a:ext cx="992398" cy="64008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42206" y="1737360"/>
            <a:ext cx="9923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844333" y="1737360"/>
            <a:ext cx="99239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44333" y="1737360"/>
            <a:ext cx="9923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subiu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946459" y="1737360"/>
            <a:ext cx="99239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946459" y="1737360"/>
            <a:ext cx="9923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48585" y="1737360"/>
            <a:ext cx="99239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48585" y="1737360"/>
            <a:ext cx="9923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telhado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150712" y="1737360"/>
            <a:ext cx="99239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50712" y="1737360"/>
            <a:ext cx="9923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252838" y="1737360"/>
            <a:ext cx="99239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9E2A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52838" y="1737360"/>
            <a:ext cx="9923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354964" y="1737360"/>
            <a:ext cx="99239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54964" y="1737360"/>
            <a:ext cx="9923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estava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457091" y="1737360"/>
            <a:ext cx="99239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57091" y="1737360"/>
            <a:ext cx="9923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0559217" y="1737360"/>
            <a:ext cx="99239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559217" y="1737360"/>
            <a:ext cx="9923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medo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1136279" y="2606040"/>
            <a:ext cx="9919137" cy="0"/>
          </a:xfrm>
          <a:prstGeom prst="line">
            <a:avLst/>
          </a:prstGeom>
          <a:noFill/>
          <a:ln w="25400">
            <a:solidFill>
              <a:srgbClr val="5F5F5F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40080" y="2743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palavra por vez, passando um resumo adiante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37033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Esquece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420624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chega em "ele", o "gato" já ficou lá atrás. É como um telefone sem fio: a mensagem se perde no caminho.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217920" y="37033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lento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217920" y="420624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palavra espera a anterior. Não dá para aproveitar a GPU, que faz milhares de contas ao mesmo tempo.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modelo de linguagem adivinha o que vem depois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rei protege a </a:t>
            </a:r>
            <a:pPr indent="0" marL="0">
              <a:buNone/>
            </a:pPr>
            <a:r>
              <a:rPr lang="en-US" sz="32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Treinar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15468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mostrar muito texto e ajustar o modelo até ele dar a maior chance à palavra certa.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9319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34340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sortear uma palavra, acrescentar ao texto e prever de novo. É assim que o ChatGPT escreve.</a:t>
            </a:r>
            <a:endParaRPr lang="en-US" sz="1700" dirty="0"/>
          </a:p>
        </p:txBody>
      </p:sp>
      <p:pic>
        <p:nvPicPr>
          <p:cNvPr id="10" name="Image 0" descr="/Users/giovannivasconcelos/Documents/University/tech_summit/attention/slides/assets/ch_nextto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789725"/>
            <a:ext cx="5120640" cy="373575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atenção: cada palavra olha para todas as outras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0" y="4069080"/>
            <a:ext cx="125573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71600" y="4069080"/>
            <a:ext cx="12557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737060" y="4069080"/>
            <a:ext cx="1255732" cy="64008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37060" y="4069080"/>
            <a:ext cx="12557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gato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02521" y="4069080"/>
            <a:ext cx="125573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02521" y="4069080"/>
            <a:ext cx="12557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subiu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67981" y="4069080"/>
            <a:ext cx="125573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67981" y="4069080"/>
            <a:ext cx="12557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833442" y="4069080"/>
            <a:ext cx="125573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33442" y="4069080"/>
            <a:ext cx="12557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telhado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198902" y="4069080"/>
            <a:ext cx="125573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198902" y="4069080"/>
            <a:ext cx="12557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564363" y="4069080"/>
            <a:ext cx="125573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9E2A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64363" y="4069080"/>
            <a:ext cx="12557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600200" y="3843430"/>
            <a:ext cx="798532" cy="88490"/>
          </a:xfrm>
          <a:prstGeom prst="rect">
            <a:avLst/>
          </a:prstGeom>
          <a:solidFill>
            <a:srgbClr val="E8EEF5"/>
          </a:solidFill>
          <a:ln w="9525">
            <a:solidFill>
              <a:srgbClr val="2F5D8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71600" y="3477670"/>
            <a:ext cx="125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965660" y="2103120"/>
            <a:ext cx="798532" cy="1828800"/>
          </a:xfrm>
          <a:prstGeom prst="rect">
            <a:avLst/>
          </a:prstGeom>
          <a:solidFill>
            <a:srgbClr val="2F5D8A"/>
          </a:solidFill>
          <a:ln w="9525">
            <a:solidFill>
              <a:srgbClr val="2F5D8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737060" y="1737360"/>
            <a:ext cx="125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331121" y="3754939"/>
            <a:ext cx="798532" cy="176981"/>
          </a:xfrm>
          <a:prstGeom prst="rect">
            <a:avLst/>
          </a:prstGeom>
          <a:solidFill>
            <a:srgbClr val="E8EEF5"/>
          </a:solidFill>
          <a:ln w="9525">
            <a:solidFill>
              <a:srgbClr val="2F5D8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102521" y="3389179"/>
            <a:ext cx="125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696581" y="3872926"/>
            <a:ext cx="798532" cy="58994"/>
          </a:xfrm>
          <a:prstGeom prst="rect">
            <a:avLst/>
          </a:prstGeom>
          <a:solidFill>
            <a:srgbClr val="E8EEF5"/>
          </a:solidFill>
          <a:ln w="9525">
            <a:solidFill>
              <a:srgbClr val="2F5D8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67981" y="3507166"/>
            <a:ext cx="125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062042" y="3548462"/>
            <a:ext cx="798532" cy="383458"/>
          </a:xfrm>
          <a:prstGeom prst="rect">
            <a:avLst/>
          </a:prstGeom>
          <a:solidFill>
            <a:srgbClr val="E8EEF5"/>
          </a:solidFill>
          <a:ln w="9525">
            <a:solidFill>
              <a:srgbClr val="2F5D8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33442" y="3182702"/>
            <a:ext cx="125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427502" y="3813933"/>
            <a:ext cx="798532" cy="117987"/>
          </a:xfrm>
          <a:prstGeom prst="rect">
            <a:avLst/>
          </a:prstGeom>
          <a:solidFill>
            <a:srgbClr val="E8EEF5"/>
          </a:solidFill>
          <a:ln w="9525">
            <a:solidFill>
              <a:srgbClr val="2F5D8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98902" y="3448173"/>
            <a:ext cx="125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792963" y="3636952"/>
            <a:ext cx="798532" cy="294968"/>
          </a:xfrm>
          <a:prstGeom prst="rect">
            <a:avLst/>
          </a:prstGeom>
          <a:solidFill>
            <a:srgbClr val="E8EEF5"/>
          </a:solidFill>
          <a:ln w="9525">
            <a:solidFill>
              <a:srgbClr val="2F5D8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564363" y="3271192"/>
            <a:ext cx="125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371600" y="146304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"ele" presta atenção em cada palavra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16636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Nada se perde no caminho, e todas as palavras fazem isso ao mesmo tempo.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o computador, palavras viram listas de números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6459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8288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377440" y="2148840"/>
            <a:ext cx="82296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291840" y="1828800"/>
            <a:ext cx="2743200" cy="64008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91840" y="1828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[ 0.9   0.8   0.1 ]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0080" y="2697480"/>
            <a:ext cx="16459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6974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377440" y="3017520"/>
            <a:ext cx="82296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91840" y="2697480"/>
            <a:ext cx="2743200" cy="64008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91840" y="26974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[ 0.9   0.7   0.9 ]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3566160"/>
            <a:ext cx="16459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peão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377440" y="3886200"/>
            <a:ext cx="82296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291840" y="3566160"/>
            <a:ext cx="2743200" cy="64008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91840" y="35661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[ 0.1   0.2   0.3 ]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14173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291840" y="1417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vetor (lista de números)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17373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aprende esses números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21031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treino. Ninguém escolhe à mão.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2834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Palavras parecidas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32004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ficam com números parecidos: veja rei e rainha.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0" y="3931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frase vira uma tabela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429768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uma linha por palavra. É com ela que a atenção trabalha.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Query, key e value: como uma busca no YouTube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 (Q)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48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YouTube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4688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você digita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803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"gol de bicicleta"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474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frase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794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palavra procura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343400" y="1554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(K)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343400" y="2148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YouTube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343400" y="24688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título de cada vídeo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343400" y="28803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"Top 10 gols de bicicleta"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343400" y="3474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frase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3794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palavra oferece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046720" y="1554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(V)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046720" y="2148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YouTube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0" y="24688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vídeo em si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046720" y="28803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vídeo que você assiste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046720" y="3474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frase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046720" y="3794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conteúdo que a palavra entrega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40080" y="4892040"/>
            <a:ext cx="10911535" cy="91440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489204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diferença: a atenção não escolhe um vídeo só. Ela mistura um pouco de cada, mais dos que combinam melhor.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busca que mistura as respostas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2194560" cy="822960"/>
          </a:xfrm>
          <a:prstGeom prst="rect">
            <a:avLst/>
          </a:prstGeom>
          <a:solidFill>
            <a:srgbClr val="F3F4F6"/>
          </a:solidFill>
          <a:ln w="19050">
            <a:solidFill>
              <a:srgbClr val="9E2A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697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cavalo + bispo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286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procuro (query)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1371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(key)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13716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1371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(value)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840480" y="178308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40480" y="178308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peão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0" y="1783080"/>
            <a:ext cx="12801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0" y="178308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132320" y="178308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0" y="178308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840480" y="228600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40480" y="228600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cavalo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0" y="2286000"/>
            <a:ext cx="1280160" cy="42976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0" y="228600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49%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132320" y="228600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32320" y="228600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840480" y="278892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840480" y="278892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bispo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669280" y="2788920"/>
            <a:ext cx="1280160" cy="42976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0" y="278892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49%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132320" y="278892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132320" y="278892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3840480" y="329184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840480" y="329184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torre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669280" y="3291840"/>
            <a:ext cx="12801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69280" y="329184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7132320" y="329184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132320" y="329184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3840480" y="379476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840480" y="379476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669280" y="3794760"/>
            <a:ext cx="12801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669280" y="379476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7132320" y="379476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132320" y="379476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2880360" y="310896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8366760" y="3108960"/>
            <a:ext cx="10972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8366760" y="2697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mistura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555480" y="2697480"/>
            <a:ext cx="18288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555480" y="2697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3.05</a:t>
            </a:r>
            <a:endParaRPr lang="en-US" sz="2600" dirty="0"/>
          </a:p>
        </p:txBody>
      </p:sp>
      <p:sp>
        <p:nvSpPr>
          <p:cNvPr id="46" name="Text 44"/>
          <p:cNvSpPr txBox="1"/>
          <p:nvPr/>
        </p:nvSpPr>
        <p:spPr>
          <a:xfrm>
            <a:off x="9555480" y="2286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40080" y="48006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vez de achar uma única entrada, a atenção mistura todas, dando mais peso às que combinam com a consulta.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PASSOS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1: comparar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palavra compara o que procura (query) com o que cada uma das outras oferece (key).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834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maior: combinam mais.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4023360"/>
            <a:ext cx="5394960" cy="749808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4206240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 = Q @ </a:t>
            </a:r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K.T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np.sqrt(d_k)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98348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K.T é a tabela K "deitada" (transposta), para comparar linha com linha.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0" y="2103120"/>
            <a:ext cx="1051560" cy="105156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0" y="210312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823960" y="2103120"/>
            <a:ext cx="10515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823960" y="210312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875520" y="2103120"/>
            <a:ext cx="1051560" cy="105156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875520" y="210312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0" y="3154680"/>
            <a:ext cx="10515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0" y="31546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823960" y="3154680"/>
            <a:ext cx="1051560" cy="105156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823960" y="31546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875520" y="3154680"/>
            <a:ext cx="1051560" cy="105156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75520" y="31546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772400" y="4206240"/>
            <a:ext cx="1051560" cy="105156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0" y="4206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823960" y="4206240"/>
            <a:ext cx="1051560" cy="105156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823960" y="4206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875520" y="4206240"/>
            <a:ext cx="1051560" cy="105156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875520" y="4206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1.41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675120" y="210312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675120" y="315468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675120" y="420624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1783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549640" y="1783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9601200" y="1783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0" y="53492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(comparações)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PASSOS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2: pesar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softmax transforma cada linha em porcentagens que somam 100%.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834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combina mais leva a maior fatia.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4023360"/>
            <a:ext cx="5394960" cy="749808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4206240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pesos = </a:t>
            </a:r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softmax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772400" y="2103120"/>
            <a:ext cx="1051560" cy="105156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0" y="210312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823960" y="2103120"/>
            <a:ext cx="1051560" cy="105156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23960" y="210312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875520" y="2103120"/>
            <a:ext cx="1051560" cy="105156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875520" y="210312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0" y="3154680"/>
            <a:ext cx="1051560" cy="105156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0" y="31546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823960" y="3154680"/>
            <a:ext cx="1051560" cy="105156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823960" y="31546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875520" y="3154680"/>
            <a:ext cx="1051560" cy="105156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875520" y="31546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772400" y="4206240"/>
            <a:ext cx="1051560" cy="105156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0" y="4206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823960" y="4206240"/>
            <a:ext cx="1051560" cy="105156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823960" y="4206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875520" y="4206240"/>
            <a:ext cx="1051560" cy="105156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875520" y="4206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675120" y="210312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675120" y="315468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675120" y="420624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498080" y="1783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549640" y="1783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601200" y="1783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0" y="53492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pesos: cada linha soma 100%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PASSOS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3: misturar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palavra recebe uma mistura dos conteúdos (values), com essas porcentagens.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5394960" cy="749808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3291840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saida = pesos @ </a:t>
            </a:r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4160520"/>
            <a:ext cx="5394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42519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 recebe: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de rei + 20% de protege + 40% de rainha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[6, 4]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223760" y="2103120"/>
            <a:ext cx="777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223760" y="2103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01000" y="2103120"/>
            <a:ext cx="777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01000" y="2103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223760" y="2880360"/>
            <a:ext cx="777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23760" y="28803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001000" y="2880360"/>
            <a:ext cx="777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01000" y="28803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223760" y="3657600"/>
            <a:ext cx="777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23760" y="3657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001000" y="3657600"/>
            <a:ext cx="777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01000" y="3657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126480" y="210312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288036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65760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17830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726680" y="17830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4526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246120"/>
            <a:ext cx="54864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0424160" y="2103120"/>
            <a:ext cx="777240" cy="77724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424160" y="2103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11201400" y="2103120"/>
            <a:ext cx="777240" cy="77724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1201400" y="2103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10424160" y="2880360"/>
            <a:ext cx="777240" cy="77724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424160" y="28803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11201400" y="2880360"/>
            <a:ext cx="777240" cy="77724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1201400" y="28803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10424160" y="3657600"/>
            <a:ext cx="777240" cy="77724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424160" y="3657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11201400" y="3657600"/>
            <a:ext cx="777240" cy="77724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1201400" y="3657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9326880" y="210312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288036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9326880" y="365760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0" y="17830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927080" y="17830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10424160" y="4526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PASSOS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três passos numa linha: a fórmula do artigo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5" name="Image 0" descr="/Users/giovannivasconcelos/Documents/University/tech_summit/attention/slides/assets/eq_atten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508760"/>
            <a:ext cx="8138160" cy="13867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35204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3611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4069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@ K.T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4343400" y="35204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3611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Pesar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4069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softmax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35204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0" y="3611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Misturar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8595360" y="4069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 V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52578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 linha é o coração do ChatGPT. O resto do Transformer é organização em volta dela.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PASSOS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Ninguém olha para o futuro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920240" y="2011680"/>
            <a:ext cx="621792" cy="621792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920240" y="201168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42032" y="2011680"/>
            <a:ext cx="62179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42032" y="201168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163824" y="2011680"/>
            <a:ext cx="62179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63824" y="201168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85616" y="2011680"/>
            <a:ext cx="62179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85616" y="201168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07408" y="2011680"/>
            <a:ext cx="62179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07408" y="201168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920240" y="2633472"/>
            <a:ext cx="621792" cy="621792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20240" y="26334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14%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542032" y="2633472"/>
            <a:ext cx="621792" cy="621792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542032" y="26334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163824" y="2633472"/>
            <a:ext cx="62179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63824" y="26334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85616" y="2633472"/>
            <a:ext cx="62179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785616" y="26334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407408" y="2633472"/>
            <a:ext cx="62179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407408" y="26334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920240" y="3255264"/>
            <a:ext cx="621792" cy="621792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920240" y="32552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542032" y="3255264"/>
            <a:ext cx="621792" cy="621792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542032" y="32552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163824" y="3255264"/>
            <a:ext cx="621792" cy="621792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163824" y="32552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785616" y="3255264"/>
            <a:ext cx="62179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785616" y="32552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407408" y="3255264"/>
            <a:ext cx="62179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07408" y="32552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1920240" y="3877056"/>
            <a:ext cx="621792" cy="621792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920240" y="387705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542032" y="3877056"/>
            <a:ext cx="621792" cy="621792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542032" y="387705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163824" y="3877056"/>
            <a:ext cx="621792" cy="621792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163824" y="387705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29%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785616" y="3877056"/>
            <a:ext cx="621792" cy="621792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785616" y="387705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407408" y="3877056"/>
            <a:ext cx="62179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407408" y="387705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1920240" y="4498848"/>
            <a:ext cx="621792" cy="621792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920240" y="44988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542032" y="4498848"/>
            <a:ext cx="621792" cy="621792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542032" y="44988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163824" y="4498848"/>
            <a:ext cx="621792" cy="621792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163824" y="44988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3785616" y="4498848"/>
            <a:ext cx="621792" cy="621792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785616" y="44988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4407408" y="4498848"/>
            <a:ext cx="621792" cy="621792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407408" y="44988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201168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822960" y="2633472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822960" y="3255264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822960" y="3877056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22960" y="4498848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645920" y="16916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2267712" y="16916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889504" y="16916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3511296" y="16916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4133088" y="16916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1920240" y="5212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de atenção com a máscara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035040" y="201168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palavra só olha para ela mesma e para as anteriores. Acima da diagonal, o peso é zero.</a:t>
            </a:r>
            <a:endParaRPr lang="en-US" sz="2000" dirty="0"/>
          </a:p>
        </p:txBody>
      </p:sp>
      <p:sp>
        <p:nvSpPr>
          <p:cNvPr id="67" name="Text 65"/>
          <p:cNvSpPr txBox="1"/>
          <p:nvPr/>
        </p:nvSpPr>
        <p:spPr>
          <a:xfrm>
            <a:off x="6035040" y="32461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quê? Na hora de escrever uma palavra, as seguintes ainda não existem.</a:t>
            </a:r>
            <a:endParaRPr lang="en-US" sz="1700" dirty="0"/>
          </a:p>
        </p:txBody>
      </p:sp>
      <p:sp>
        <p:nvSpPr>
          <p:cNvPr id="68" name="Shape 66"/>
          <p:cNvSpPr/>
          <p:nvPr/>
        </p:nvSpPr>
        <p:spPr>
          <a:xfrm>
            <a:off x="6035040" y="4251960"/>
            <a:ext cx="5486400" cy="749808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309360" y="4434840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np.tril(</a:t>
            </a:r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np.ones((T, T))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600" dirty="0"/>
          </a:p>
        </p:txBody>
      </p:sp>
      <p:sp>
        <p:nvSpPr>
          <p:cNvPr id="70" name="Text 68"/>
          <p:cNvSpPr txBox="1"/>
          <p:nvPr/>
        </p:nvSpPr>
        <p:spPr>
          <a:xfrm>
            <a:off x="6035040" y="5212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 = triângulo de baixo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1 no notebook: a atenção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1.1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16002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exemplo das três palavras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240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22402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passos: comparar, pesar, misturar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880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8803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dicionário de peças de xadrez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520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3520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máscara causal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0" y="1554480"/>
            <a:ext cx="5166360" cy="2286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75120" y="1737360"/>
            <a:ext cx="4709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 = Q @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troque por K.T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pesos =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  # troque por softmax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saida = pesos @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troque por 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np.tril(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troque por np.ones((T, T))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120640"/>
            <a:ext cx="10911535" cy="91440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512064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Troque cada ___ pela resposta do comentário e aperte Shift + Enter. A célula diz se está correto.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TRANSFORMER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Transformer em uma imagem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600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1600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286000" y="2766060"/>
            <a:ext cx="4114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743200" y="2148840"/>
            <a:ext cx="1691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43200" y="2148840"/>
            <a:ext cx="1691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vetores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posição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480560" y="2766060"/>
            <a:ext cx="4114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937760" y="1737360"/>
            <a:ext cx="3931920" cy="2057400"/>
          </a:xfrm>
          <a:prstGeom prst="rect">
            <a:avLst/>
          </a:prstGeom>
          <a:solidFill>
            <a:srgbClr val="F3F4F6"/>
          </a:solidFill>
          <a:ln w="15875">
            <a:solidFill>
              <a:srgbClr val="2F5D8A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4937760" y="134416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5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bloco, repetido várias vezes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166360" y="2148840"/>
            <a:ext cx="1600200" cy="123444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66360" y="2148840"/>
            <a:ext cx="1600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12280" y="2766060"/>
            <a:ext cx="1828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040880" y="2148840"/>
            <a:ext cx="1600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40880" y="2148840"/>
            <a:ext cx="1600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feed-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915400" y="2766060"/>
            <a:ext cx="4114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372600" y="2148840"/>
            <a:ext cx="2148840" cy="1234440"/>
          </a:xfrm>
          <a:prstGeom prst="rect">
            <a:avLst/>
          </a:prstGeom>
          <a:solidFill>
            <a:srgbClr val="F3F4F6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72600" y="214884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de cada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caractere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3434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47548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palavras trocam informação entre si. É o que vocês acabaram de fazer.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343400" y="43434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Feed-forward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4343400" y="47548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palavra "pensa sozinha" sobre o que recebeu.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046720" y="43434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Soma, não substitui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47548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acrescenta anotações ao que já existia, como escrever na margem em vez de apagar.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2 no notebook: o Transformer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Executar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16002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peças prontas do Transformer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240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3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22402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bloco: somar em vez de substituir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880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8803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treinar o modelo de ordenação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520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3520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para onde ele olhou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0" y="1554480"/>
            <a:ext cx="5166360" cy="151790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75120" y="1737360"/>
            <a:ext cx="47091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troque os dois ___ por x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self.attn(self.ln1(x))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self.ffn(self.ln2(x))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120640"/>
            <a:ext cx="10911535" cy="91440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512064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do intervalo: execute as seções 3.1 e 3.2. O modelo de xadrez treina enquanto vocês descansam.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modelo de ordenação aprendeu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pic>
        <p:nvPicPr>
          <p:cNvPr id="5" name="Image 0" descr="/Users/giovannivasconcelos/Documents/University/tech_summit/attention/slides/assets/sort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7139823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45663" y="1645920"/>
            <a:ext cx="3405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Entrada: 3 1 4 1 5 9 2 6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45663" y="2286000"/>
            <a:ext cx="34059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cada passo, o modelo olha para o número da entrada que vai escrever em seguida.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145663" y="3840480"/>
            <a:ext cx="3405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programou essa regra: ela surgiu do treino.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Intervalo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640080" y="3291840"/>
            <a:ext cx="6766560" cy="14630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347472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sair, execute as seções 3.1 e 3.2.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de xadrez treina enquanto isso.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0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31936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034272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36608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38944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241280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43616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045952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31936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34272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36608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38944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41280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643616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045952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0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31936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034272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436608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838944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241280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43616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045952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0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31936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034272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36608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838944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241280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643616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1045952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29600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631936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034272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436608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838944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241280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643616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045952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229600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31936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034272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436608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838944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241280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643616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1045952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229600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631936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034272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436608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838944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0241280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643616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1045952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229600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631936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034272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436608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838944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0241280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643616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1045952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229600" y="1737360"/>
            <a:ext cx="3218688" cy="3218688"/>
          </a:xfrm>
          <a:prstGeom prst="rect">
            <a:avLst/>
          </a:prstGeom>
          <a:ln w="12700">
            <a:solidFill>
              <a:srgbClr val="1B1B1B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Xadrez é só mais um texto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6583680" cy="118872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73736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;1.e4 e5 2.Nf3 Nc6 3.Bb5 a6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4.Ba4 Nf6 5.O-O Be7 6.Re1 b5 ...</a:t>
            </a:r>
            <a:endParaRPr lang="en-US" sz="1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600200"/>
          <a:ext cx="3959352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6791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 peão vai para e4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cavalo (N) vai para f3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Bxe5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bispo (B) captura em e5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xeque-mate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3246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mil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069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partidas reais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2971800" y="3246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2971800" y="4069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caracteres diferentes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246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4069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tabuleiros vistos pelo modelo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507492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o modelo joga lances válidos sem nunca ter visto um tabuleiro, de onde vem essa noção de onde estão as peças?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3 no notebook: xadrez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16916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partidas e ver onde o modelo erra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468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24688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mexer no controle de temperatura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246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32461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modelo contra o modelo de referência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0233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402336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jogar uma partida contra o modelo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640080" y="5120640"/>
            <a:ext cx="10911535" cy="91440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512064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precisa saber xadrez: clique numa peça e os pontos mostram para onde ela pode ir.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a atenção mudou tudo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83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Rápido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06040"/>
            <a:ext cx="3429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palavras fazem a conta ao mesmo tempo. Encaixa perfeitamente nas GPUs.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164592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783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2606040"/>
            <a:ext cx="3429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Rápido de treinar, deu para fazer modelos enormes. E quanto maior, melhor ele fica.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164592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641080" y="1783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para tudo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2606040"/>
            <a:ext cx="3429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Texto, código, imagens, som, proteínas. Tudo que vira uma sequência. Hoje, xadrez.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40080" y="4800600"/>
            <a:ext cx="10911535" cy="10058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80060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arquitetura dos grandes modelos é a mesma que vocês montaram hoje. A diferença é o tamanho.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Daqui até o ChatGPT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69494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60320"/>
                <a:gridCol w="292608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Hoje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ChatGPT, Claude, Gemini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Lê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pedaços de palavras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Tamanho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a 5 milhões de parâmetros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bilhões de parâmetros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Treino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minutos, 1 GPU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meses, milhares de GPUs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ajuste para seguir instruções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45262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arquitetura é a que vocês escreveram hoje.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6636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continuar: o vídeo "Let's build GPT", de Andrej Karpathy, e a série sobre Transformers do 3Blue1Brown.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18288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27432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i="1" dirty="0">
                <a:solidFill>
                  <a:srgbClr val="5F5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Perguntas?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3931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Vasconcelos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229600" y="43434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github.com/giovannibragasv/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transformer-do-zero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Attention is All You Need: construindo um Transformer do zero</dc:title>
  <dc:subject>PptxGenJS Presentation</dc:subject>
  <dc:creator>Giovanni Vasconcelos</dc:creator>
  <cp:lastModifiedBy>Giovanni Vasconcelos</cp:lastModifiedBy>
  <cp:revision>1</cp:revision>
  <dcterms:created xsi:type="dcterms:W3CDTF">2026-10-13T22:59:57Z</dcterms:created>
  <dcterms:modified xsi:type="dcterms:W3CDTF">2026-10-13T22:59:57Z</dcterms:modified>
</cp:coreProperties>
</file>
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(00:00). Apresente-se em uma frase e diga o combinado: o workshop é prático, cerca de metade do tempo é no notebook, e ninguém precisa ter visto Transformers antes. Quem estiver nos primeiros semestres vai acompanhar a intuição e usar as células de recuperação sem constrangimento; quem já conhece redes neurais vai escrever as partes centrais.
Mensagem central do dia: a mesma equação de uma linha que aparece no artigo de 2017 é o núcleo do GPT, do Claude e do Gemini. Ao final, a turma terá escrito essa equação e treinado um modelo que joga xadrez.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o roteiro rapidamente (1 minuto). Destaque que as faixas escuras são tempo de notebook e que a parte teórica vem sempre imediatamente antes da prática correspondente.
Combine o sinal para pedir ajuda (por exemplo, mão levantada ou um post-it no monitor) e apresente os monitores, que vão circular pela sala durante os exercícios.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gancho. Se o modelo de referência já estiver treinado, faça uma demonstração ao vivo de 1 a 2 minutos: abra o notebook de gabarito, rode a seção 3.5 e jogue três ou quatro lances contra o modelo.
Ponto a enfatizar: o modelo nunca recebe o tabuleiro. Ele vê somente a sequência de caracteres à esquerda e aprende a prever o caractere seguinte. Qualquer noção de "onde estão as peças" precisa emergir dentro da rede. Essa observação volta no slide sobre modelos de mundo.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Reserve até 10 minutos. Este é o ponto em que a turma mais trava, então espere todos concluírem antes de seguir. Os monitores devem circular pela sala.
Passo 2 é essencial: sem "Salvar uma cópia no Drive", as alterações se perdem ao fechar a aba. Passo 3: sem GPU, a Parte 3 fica inviável. Se o Colab recusar GPU por cota, a pessoa pode seguir em CPU até a Parte 2 e fazer a Parte 3 em dupla com um colega.
Peça que executem as duas primeiras células agora. A primeira baixa o repositório e o conjunto de dados (cerca de 10 MB); a segunda deve imprimir "Dispositivo: cuda".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Defina o objeto de estudo antes da arquitetura. Um modelo de linguagem atribui uma distribuição de probabilidade ao próximo token, dado o contexto. Gerar texto é repetir essa previsão: sorteia-se um token, ele é anexado ao contexto, e o processo recomeça.
Os valores do gráfico são ilustrativos. A pergunta de fundo para o resto do workshop é como a previsão em uma posição consegue usar a informação espalhada pelas posições anteriores. A resposta do artigo é a atenção.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Contexto histórico. Em 2017, o estado da arte em tradução eram RNNs (LSTM, GRU) em arquiteturas encoder-decoder, frequentemente já com um mecanismo de atenção (Bahdanau et al., 2015) acoplado.
Dois problemas motivam o artigo. Primeiro, o cálculo é sequencial: h_t depende de h_{t-1}, então não é possível paralelizar ao longo da sequência durante o treino, o que desperdiça GPUs. Segundo, a informação do primeiro token precisa atravessar n passos para chegar ao último, e o sinal (e o gradiente) se degrada no caminho.
A proposta do artigo, já no título, é abandonar a recorrência e usar apenas atenção.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Tabela 1 do artigo, que resume o argumento. n é o comprimento da sequência, d a dimensão da representação e k o tamanho do kernel da convolução.
Leitura: a self-attention conecta quaisquer duas posições em um número constante de operações sequenciais, e o caminho máximo entre elas tem comprimento 1. O custo é quadrático em n por camada, o que é aceitável quando n é menor que d, como era o caso em tradução de frases.
Vale antecipar que esse custo O(n²) é exatamente o que limita o tamanho do contexto dos LLMs atuais e motiva variantes como FlashAttention e atenção esparsa.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analogia que sustenta o resto do workshop. Em um dicionário convencional, a consulta precisa coincidir exatamente com uma chave. Na atenção, a consulta é comparada com todas as chaves, cada comparação vira um peso, e o resultado é a média dos valores ponderada por esses pesos.
No exemplo (o mesmo do notebook), a consulta mistura "cavalo" e "bispo". Os pesos se dividem entre essas duas chaves e o resultado é aproximadamente 3, o valor material de ambas. Pergunte à turma o que aconteceria com a consulta "peão + dama" (resposta: cerca de 5, a média de 1 e 9).
Vocabulário para fixar: query é o que se procura, key é o que cada item anuncia, value é o conteúdo que cada item entrega.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self-attention, as três matrizes são projeções lineares da mesma entrada X, que tem uma linha por token. W_Q, W_K e W_V são os parâmetros aprendidos da camada; o resto é álgebra sem parâmetros.
Ênfase nos shapes: X é T × d_model, as projeções levam para T × d_k. No notebook, d_model = 16 e d_k = 8 no exemplo em NumPy.
Observação útil para a turma mais avançada: as mesmas posições desempenham os três papéis. Cada token pergunta (query), é consultado (key) e entrega conteúdo (value).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equação central do artigo. Leia da direita para a esquerda, em três etapas, que são exatamente os passos do Exercício 2.
1. QKᵀ produz uma matriz T × T. A entrada (i, j) é o produto escalar entre a query da posição i e a key da posição j, isto é, a compatibilidade entre elas.
2. Divide-se por √d_k (próximo slide) e aplica-se a softmax em cada linha. Cada linha passa a ser uma distribuição de probabilidade sobre as posições.
3. Multiplica-se por V. A saída da posição i é a média dos values ponderada pela linha i.
Custo: a matriz T × T é a origem do custo quadrático mencionado na tabela anterior.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Argumento do artigo (nota de rodapé 4): se as componentes de q e k são independentes, com média 0 e variância 1, o produto escalar tem variância d_k. Com d_k grande, os scores ficam grandes em módulo, a softmax satura e seus gradientes ficam muito pequenos.
O gráfico reproduz o experimento da seção 1.3 do notebook: 10 keys aleatórias; a barra mede o maior peso médio da softmax. Sem escala, com d_k = 512, o maior peso já é 0.95, ou seja, quase one-hot. Com a escala, fica em torno de 0.3 para qualquer d_k.
Pergunta para a turma: o que aconteceria se dividíssemos por d_k em vez de √d_k? (A variância ficaria 1/d_k e a softmax tenderia à distribuição uniforme.)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gerar texto, a previsão na posição t só pode depender das posições 1 a t. Caso contrário, durante o treino o modelo "colaria" olhando o próximo token.
A implementação é simples: antes da softmax, os scores acima da diagonal recebem menos infinito. Como e^(-∞) = 0, esses pesos saem exatamente zero, e cada linha continua somando 1 sobre as posições permitidas.
Consequência prática importante: com a máscara, uma única passada pela sequência treina T previsões ao mesmo tempo, uma por posição. É isso que torna o treino de Transformers tão eficiente em comparação com RNNs.
Este é o Exercício 3 do notebook.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20 minutos (00:25 a 00:45).
Instruções para a turma: cada exercício termina com uma célula de verificação que imprime "Correto" ou uma dica do erro. Quem travar por mais de 3 minutos em um exercício deve usar a célula de recuperação logo abaixo e seguir em frente.
Pontos para circular pela sala:
- Exercício 1: o erro mais comum é esquecer keepdims=True, o que quebra o broadcasting.
- Exercício 2: esquecer de transpor K (o erro de shape denuncia) ou esquecer a divisão por √d_k (a verificação detecta e avisa).
- Exercício 3: np.tril(np.ones((T, T))) resolve em uma linha.
Aos 40 minutos, avise que faltam 5 minutos e peça que todos rodem as células 1.3 e 1.4 para ver os mapas de atenção. Feche comentando que os padrões ainda são aleatórios, pois as matrizes W não foram treinadas.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 vez de uma atenção com dimensão d_model, o artigo usa h cabeças menores, cada uma com dimensão d_model / h, em paralelo. No modelo base do artigo, h = 8 e d_k = 64.
Motivação: uma única softmax produz uma única média ponderada por posição. Várias cabeças permitem que a mesma posição combine informação de lugares diferentes por critérios diferentes (por exemplo, uma cabeça pode seguir a sintaxe, outra a correferência). O custo total é similar ao de uma cabeça de dimensão completa.
No notebook (Exercício 5), a implementação é uma linha: concatenar as saídas das cabeças no último eixo e aplicar a projeção W_O.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atenção, como definida, é invariante a permutações: embaralhar os tokens da entrada apenas embaralha as linhas da saída. Portanto, a ordem precisa ser informada explicitamente.
O artigo soma a cada embedding um vetor de senos e cossenos com frequências em progressão geométrica. Cada dimensão oscila com um período diferente, e posições relativas correspondem a transformações lineares desses vetores.
O artigo relata que embeddings de posição aprendidos dão resultados praticamente idênticos (Tabela 3, linha E). No notebook usamos a versão aprendida, como no GPT, e deixamos a senoidal como exercício para casa. Modelos atuais costumam usar RoPE, que aplica rotações às queries e keys.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bloco alterna comunicação (atenção, que mistura informação entre posições) e computação (FFN, uma MLP aplicada a cada posição de forma independente, com camada oculta 4 vezes maior).
As conexões residuais fazem com que cada subcamada aprenda apenas uma correção sobre x, e criam um caminho direto para o gradiente, o que permite empilhar muitos blocos. A LayerNorm mantém a escala das ativações.
Diferença em relação ao artigo: o original aplica a normalização depois da soma (post-LN). GPT-2 e praticamente todos os modelos atuais usam pre-LN, como no diagrama, porque treina de forma mais estável sem warm-up cuidadoso. Vale mencionar para quem for ler o artigo e estranhar.
Exercício 6: exatamente as duas linhas da equação.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artigo resolve tradução, então usa duas pilhas. O encoder lê a frase de origem inteira com self-attention sem máscara (cada palavra vê todas). O decoder gera a tradução token a token com self-attention causal e, em cada bloco, uma camada de cross-attention em que as queries vêm do decoder e as keys e values vêm da saída do encoder. É por ela que a tradução "consulta" a frase original.
Números do modelo base: N = 6 blocos em cada pilha, d_model = 512, h = 8 cabeças, d_ff = 2048, cerca de 65 milhões de parâmetros, treinado por 12 horas em 8 GPUs P100 (o modelo grande levou 3,5 dias).
Transição: no workshop vamos construir apenas a pilha da direita, sem a cross-attention. É isso que o GPT faz.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partir de 2018 a arquitetura se dividiu em três famílias, conforme a parte do Transformer original que se mantém.
Encoder-only (BERT): atenção bidirecional, treinado para preencher lacunas. Bom para classificação e para gerar embeddings de busca.
Decoder-only (GPT, Llama, Claude): atenção causal, treinado para prever o próximo token. Tornou-se dominante porque o mesmo objetivo simples escala para praticamente qualquer tarefa formulada como texto.
Encoder-decoder (o original, T5, Whisper): natural quando entrada e saída são sequências distintas, como tradução e transcrição.
O workshop fica na linha do meio.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Percorra o fluxo da esquerda para a direita, sempre falando dos shapes, que é onde a turma mais se perde.
A entrada são índices inteiros com shape (B, T). O embedding de token e o de posição produzem (B, T, C), com C = n_embd. Os N blocos preservam esse shape. A LayerNorm final e a camada linear levam a (B, T, V), um logit por item do vocabulário em cada posição.
A perda é a entropia cruzada entre os logits da posição t e o token da posição t+1. Graças à máscara causal, uma passada gera T exemplos de treino.
No notebook, a classe GPT é fornecida pronta: ela apenas junta as peças escritas nos exercícios 4 a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20 minutos (00:55 a 01:15).
O Exercício 4 é o mais importante do dia: é a mesma função do Exercício 2, agora com a dimensão de lote. Os erros esperados são usar k.T (que em tensores 3D inverte todas as dimensões, não só as duas últimas) e esquecer de recortar a máscara com [:T, :T]. A verificação compara o resultado com a versão em NumPy, o que costuma ser um bom momento de "fechamento" para a turma.
Os Exercícios 5 e 6 são curtos. Depois deles, a turma executa a seção 2.6: o modelo de ordenação treina em cerca de 30 segundos e deve chegar perto de 100% de acerto.
Aos 01:12, peça que todos executem as células 3.1 e 3.2 antes do intervalo.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Resultado real do modelo da seção 2.6 (2 camadas, 2 cabeças, cerca de 100 mil parâmetros, 2000 passos), para a entrada 3 1 4 1 5 9 2 6.
Cada linha é um passo da geração da parte ordenada; cada coluna é uma posição observada. A cabeça mostrada (camada 2, cabeça 0) concentra o peso, em cada passo, na posição da entrada que contém o dígito a ser escrito em seguida. Para escrever o 9, por exemplo, ela olha para o 9 da entrada.
Ninguém programou essa regra. O modelo recebeu apenas pares entrada/saída e a atenção emergiu como mecanismo de busca. Na turma, os padrões podem variar de cabeça para cabeça e de execução para execução; em geral, pelo menos uma das cabeças apresenta esse comportamento.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Intervalo de 5 minutos (01:15 a 01:20). Antes de liberar a turma, confirme que a maioria executou as células 3.1 e 3.2: a de treino deve estar imprimindo linhas "passo ... | perda ...". O treino dura 6 minutos e termina durante a pausa.
Se alguém estiver sem GPU, o treino em CPU será lento demais. Oriente essa pessoa a interromper a célula e usar o modelo de referência na seção 3.4.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conjunto de dados tem cerca de 60 mil partidas do banco público do Lichess (janeiro a março de 2013), filtradas por término normal e rating médio a partir de 1500, e revalidadas com python-chess. Cada partida é uma linha começando com ponto e vírgula, no formato usado por Adam Karvonen.
Tokenização: cada caractere é um token. O vocabulário inteiro tem 33 símbolos, mostrados embaixo. Isso simplifica muito o workshop, com o custo de sequências mais longas. LLMs de verdade usam BPE, com vocabulários de dezenas a centenas de milhares de subpalavras.
Um lance como "Nxe5" são quatro tokens. O modelo precisa aprender a soletrar lances, as regras de movimento e o estado do tabuleiro, tudo a partir do texto.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treino é idêntico ao da ordenação e ao de qualquer LLM: o alvo é a própria entrada deslocada em uma posição. Não há rótulos manuais.
Mostre o alinhamento: em cada coluna, o modelo vê tudo o que está em x até aquela coluna e precisa prever o caractere de y na mesma coluna.
Números do modelo da turma: 4 blocos, 4 cabeças, n_embd = 128, contexto de 256 caracteres, cerca de 0,8 milhão de parâmetros. A perda inicial fica perto de ln(33) ≈ 3,5, que corresponde a chutar uniformemente entre 33 caracteres, e cai para algo em torno de 1,0 em poucos minutos.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pergunta científica interessante do exercício. O modelo só vê texto. Para prever um lance legal de forma consistente, ele precisa, de algum modo, acompanhar a posição das peças.
A métrica usada no notebook é a taxa de legalidade: o modelo joga de brancas contra um adversário que sorteia lances, e medimos a fração de lances do modelo que são legais na primeira tentativa. Modelos pequenos treinados por minutos acertam bem a abertura e se perdem no meio-jogo. O modelo de referência deve ir melhor; comparem os números na seção 3.4.
Karvonen (2024) treinou modelos maiores com o mesmo formato de dados e mostrou, com sondas lineares, que é possível ler o estado do tabuleiro a partir das ativações internas. Ou seja, uma representação do tabuleiro emerge do objetivo de prever o próximo caractere. Esse resultado conversa com o trabalho de Li et al. (2023) sobre Othello.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geração, os logits são divididos por uma temperatura τ antes da softmax. τ menor que 1 acentua as diferenças e aproxima a escolha gulosa; τ maior que 1 achata a distribuição.
O gráfico usa logits ilustrativos para o lance das pretas depois de 1.e4. Com τ = 0,3, quase toda a massa vai para e5; com τ = 1,5, lances menos prováveis ganham espaço.
No xadrez isso tem um efeito visível: temperatura alta gera partidas mais variadas e mais lances ilegais. É o mesmo parâmetro "temperature" das APIs de LLMs. Na seção 3.3 a turma varia o valor e observa o efeito.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Tempo: 20 minutos (01:30 a 01:50). O treino da seção 3.2 já deve ter terminado durante o intervalo.
Roteiro sugerido: gerar três partidas e observar em que lance cada uma se torna ilegal (3.3); variar a temperatura; medir a taxa de legalidade do próprio modelo e comparar com a do modelo de referência (3.4); jogar contra o modelo (3.5).
Para jogar, a turma digita lances em notação algébrica. Quem não conhece a notação pode usar a tabela do slide anterior ou jogar aberturas conhecidas (1.e4, 2.Nf3, 3.Bc4). A seção 3.6 é um complemento para quem terminar antes.
Se o modelo de referência não estiver disponível, a seção 3.4 usa automaticamente o modelo treinado pela turma.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o conteúdo técnico mostrando que a distância entre o notebook e um LLM é, em grande parte, de escala e de pós-treino. A arquitetura é reconhecível: embeddings, blocos com atenção e FFN, residuais, LayerNorm, cabeça linear.
Diferenças que valem citar, se houver tempo: tokenização por BPE; posição via RoPE; atenção com KV cache na inferência e variantes como grouped-query attention; normalização RMSNorm; ativação SwiGLU. Depois do pré-treino vêm o ajuste por instruções e o aprendizado por reforço com feedback humano ou com recompensas verificáveis, que transformam um completador de texto em um assistente.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Indique a ordem de leitura sugerida: começar pelo vídeo do Karpathy (reforça tudo o que foi feito hoje, com o mesmo estilo de código), depois o texto ilustrado do Alammar, e então o artigo original, que fica muito mais legível depois do workshop. Karvonen e Li et al. são para quem se interessou pela pergunta dos modelos de mundo.
O repositório do workshop fica público; os notebooks, o gabarito e o script de pré-treino continuam disponíveis.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Agradeça, abra para perguntas (cerca de 5 minutos) e lembre que o link do notebook continua válido depois do evento.
Perguntas frequentes para as quais vale ter resposta pronta (ver o guia de estudos, seção de perguntas difíceis): por que o custo é quadrático; o que é KV cache; como o GPT passou de prever texto a seguir instruções; se o modelo de xadrez "entende" xadrez; qual a diferença entre este modelo e o AlphaZero.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0972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CESUPA TECH SUMMIT 2026  ·  WORKSHOP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6002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Attention is All You Need</a:t>
            </a:r>
            <a:endParaRPr lang="en-US" sz="4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514600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i="1" dirty="0">
                <a:solidFill>
                  <a:srgbClr val="5F5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Construindo um Transformer do zero</a:t>
            </a:r>
            <a:endParaRPr lang="en-US" sz="28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846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Giovanni Vasconcelos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230368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Outubro de 2026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818120" y="1371600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93608" y="137160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769096" y="137160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244584" y="137160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720072" y="137160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195560" y="137160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671048" y="137160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1146536" y="137160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7818120" y="1847088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293608" y="1847088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769096" y="1847088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9244584" y="1847088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720072" y="1847088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195560" y="1847088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671048" y="1847088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1146536" y="1847088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7818120" y="2322576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293608" y="2322576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8769096" y="2322576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244584" y="2322576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720072" y="2322576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195560" y="2322576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671048" y="2322576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1146536" y="2322576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818120" y="2798064"/>
            <a:ext cx="475488" cy="47548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293608" y="2798064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8769096" y="2798064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9244584" y="2798064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9720072" y="2798064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0195560" y="2798064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0671048" y="2798064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1146536" y="2798064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818120" y="3273552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8293608" y="3273552"/>
            <a:ext cx="475488" cy="47548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8769096" y="3273552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9244584" y="3273552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9720072" y="3273552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0195560" y="3273552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10671048" y="3273552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11146536" y="3273552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7818120" y="3749040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8293608" y="3749040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8769096" y="3749040"/>
            <a:ext cx="475488" cy="47548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9244584" y="3749040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9720072" y="3749040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0195560" y="3749040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0671048" y="374904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1146536" y="3749040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7818120" y="4224528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8293608" y="4224528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8769096" y="4224528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9244584" y="4224528"/>
            <a:ext cx="475488" cy="47548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9720072" y="4224528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0195560" y="4224528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10671048" y="4224528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1146536" y="4224528"/>
            <a:ext cx="475488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7818120" y="4700016"/>
            <a:ext cx="475488" cy="47548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8293608" y="4700016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8769096" y="4700016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9244584" y="4700016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9720072" y="4700016"/>
            <a:ext cx="475488" cy="47548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10195560" y="4700016"/>
            <a:ext cx="475488" cy="47548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10671048" y="4700016"/>
            <a:ext cx="475488" cy="47548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11146536" y="4700016"/>
            <a:ext cx="475488" cy="47548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7818120" y="52578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softmax(QKᵀ/√dₖ), com máscara causal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ROTEIRO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Roteiro das duas horas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60020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00:00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1645920" y="1655064"/>
            <a:ext cx="29260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148840" y="1600200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Abertura e acesso ao Colab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07568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00:15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1645920" y="2130552"/>
            <a:ext cx="29260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148840" y="2075688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Atenção: teoria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255117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00:25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1645920" y="2606040"/>
            <a:ext cx="292608" cy="292608"/>
          </a:xfrm>
          <a:prstGeom prst="rect">
            <a:avLst/>
          </a:prstGeom>
          <a:solidFill>
            <a:srgbClr val="2F5D8A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2148840" y="2551176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1 no notebook (NumPy)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302666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00:45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645920" y="3081528"/>
            <a:ext cx="29260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148840" y="3026664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do Transformer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3502152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00:55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1645920" y="3557016"/>
            <a:ext cx="292608" cy="292608"/>
          </a:xfrm>
          <a:prstGeom prst="rect">
            <a:avLst/>
          </a:prstGeom>
          <a:solidFill>
            <a:srgbClr val="2F5D8A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148840" y="3502152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2 no notebook (PyTorch)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640080" y="3977640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01:15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1645920" y="4032504"/>
            <a:ext cx="29260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2148840" y="3977640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Intervalo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640080" y="4453128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01:20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1645920" y="4507992"/>
            <a:ext cx="29260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2148840" y="4453128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Xadrez como linguagem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640080" y="4928616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01:30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1645920" y="4983480"/>
            <a:ext cx="292608" cy="292608"/>
          </a:xfrm>
          <a:prstGeom prst="rect">
            <a:avLst/>
          </a:prstGeom>
          <a:solidFill>
            <a:srgbClr val="2F5D8A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148840" y="4928616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3 no notebook (xadrez)</a:t>
            </a:r>
            <a:endParaRPr lang="en-US" sz="1700" dirty="0"/>
          </a:p>
        </p:txBody>
      </p:sp>
      <p:sp>
        <p:nvSpPr>
          <p:cNvPr id="30" name="Text 27"/>
          <p:cNvSpPr txBox="1"/>
          <p:nvPr/>
        </p:nvSpPr>
        <p:spPr>
          <a:xfrm>
            <a:off x="640080" y="5404104"/>
            <a:ext cx="914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01:50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1645920" y="5458968"/>
            <a:ext cx="292608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2148840" y="5404104"/>
            <a:ext cx="5943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Encerramento e perguntas</a:t>
            </a:r>
            <a:endParaRPr lang="en-US" sz="1700" dirty="0"/>
          </a:p>
        </p:txBody>
      </p:sp>
      <p:sp>
        <p:nvSpPr>
          <p:cNvPr id="33" name="Shape 30"/>
          <p:cNvSpPr/>
          <p:nvPr/>
        </p:nvSpPr>
        <p:spPr>
          <a:xfrm>
            <a:off x="8229600" y="1737360"/>
            <a:ext cx="3291840" cy="201168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8458200" y="192024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Legenda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Quadrado cheio: trabalho no notebook.</a:t>
            </a:r>
            <a:endParaRPr lang="en-US" sz="14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Quadrado vazado: exposição com slides.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vamos chegar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5852160" cy="237744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60120" y="1874520"/>
            <a:ext cx="5394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;1.e4 e5 2.Nf3 Nc6 3.Bb5 a6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4.Ba4 Nf6 5.O-O Be7 6.Re1 b5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7.Bb3 d6 8.c3 O-O 9.h3 </a:t>
            </a:r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9E2A2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Nb8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960120" y="333756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recebe apenas o texto e prevê o próximo caractere.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720840" y="3200400"/>
            <a:ext cx="64008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7589520" y="160020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991856" y="1600200"/>
            <a:ext cx="402336" cy="402336"/>
          </a:xfrm>
          <a:prstGeom prst="rect">
            <a:avLst/>
          </a:prstGeom>
          <a:solidFill>
            <a:srgbClr val="E8C4C4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8394192" y="160020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796528" y="160020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198864" y="160020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601200" y="160020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0003536" y="160020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0405872" y="160020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589520" y="200253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991856" y="200253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394192" y="200253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8796528" y="200253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198864" y="200253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601200" y="200253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003536" y="200253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0405872" y="200253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7589520" y="240487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991856" y="240487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8394192" y="2404872"/>
            <a:ext cx="402336" cy="402336"/>
          </a:xfrm>
          <a:prstGeom prst="rect">
            <a:avLst/>
          </a:prstGeom>
          <a:solidFill>
            <a:srgbClr val="E8C4C4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796528" y="240487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9198864" y="240487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601200" y="240487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0003536" y="240487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10405872" y="240487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7589520" y="280720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991856" y="280720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8394192" y="280720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8796528" y="280720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9198864" y="280720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9601200" y="280720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0003536" y="280720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0405872" y="280720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7589520" y="320954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7991856" y="320954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8394192" y="320954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8796528" y="320954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9198864" y="320954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9601200" y="320954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10003536" y="320954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10405872" y="320954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7589520" y="361188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91856" y="361188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8394192" y="361188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8796528" y="361188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9198864" y="361188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9601200" y="361188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0003536" y="361188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10405872" y="361188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7589520" y="401421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7991856" y="401421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8394192" y="401421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8796528" y="401421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9198864" y="401421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9601200" y="401421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0003536" y="401421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10405872" y="401421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7589520" y="441655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7991856" y="441655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8394192" y="441655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8796528" y="441655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9198864" y="441655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9601200" y="441655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10003536" y="441655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10405872" y="441655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7589520" y="1600200"/>
            <a:ext cx="3218688" cy="3218688"/>
          </a:xfrm>
          <a:prstGeom prst="rect">
            <a:avLst/>
          </a:prstGeom>
          <a:ln w="12700">
            <a:solidFill>
              <a:srgbClr val="1B1B1B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7589520" y="4937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tabuleiro nunca é mostrado ao modelo.</a:t>
            </a:r>
            <a:endParaRPr lang="en-US" sz="1400" dirty="0"/>
          </a:p>
        </p:txBody>
      </p:sp>
      <p:sp>
        <p:nvSpPr>
          <p:cNvPr id="76" name="Text 73"/>
          <p:cNvSpPr txBox="1"/>
          <p:nvPr/>
        </p:nvSpPr>
        <p:spPr>
          <a:xfrm>
            <a:off x="640080" y="5440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Transformer de ~1M de parâmetros, escrito pela turma, treinado em 6 minutos.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PREPARAÇÃO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Abrindo o notebook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645920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1463040" y="16916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Abra o link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075688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colab.research.google.com/github/giovannibragasv/transformer-do-zero/blob/main/workshop_aluno.ipynb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2670048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0" name="Text 7"/>
          <p:cNvSpPr txBox="1"/>
          <p:nvPr/>
        </p:nvSpPr>
        <p:spPr>
          <a:xfrm>
            <a:off x="1463040" y="2715768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Salve uma cópia</a:t>
            </a:r>
            <a:endParaRPr lang="en-US" sz="2000" dirty="0"/>
          </a:p>
        </p:txBody>
      </p:sp>
      <p:sp>
        <p:nvSpPr>
          <p:cNvPr id="11" name="Text 8"/>
          <p:cNvSpPr txBox="1"/>
          <p:nvPr/>
        </p:nvSpPr>
        <p:spPr>
          <a:xfrm>
            <a:off x="1463040" y="3099816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Arquivo &gt; Salvar uma cópia no Drive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40080" y="3694176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13" name="Text 10"/>
          <p:cNvSpPr txBox="1"/>
          <p:nvPr/>
        </p:nvSpPr>
        <p:spPr>
          <a:xfrm>
            <a:off x="1463040" y="3739896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Ative a GPU</a:t>
            </a:r>
            <a:endParaRPr lang="en-US" sz="2000" dirty="0"/>
          </a:p>
        </p:txBody>
      </p:sp>
      <p:sp>
        <p:nvSpPr>
          <p:cNvPr id="14" name="Text 11"/>
          <p:cNvSpPr txBox="1"/>
          <p:nvPr/>
        </p:nvSpPr>
        <p:spPr>
          <a:xfrm>
            <a:off x="1463040" y="4123944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Ambiente de execução &gt; Alterar o tipo de ambiente &gt; T4 GPU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" y="4718304"/>
            <a:ext cx="640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1463040" y="4764024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as células da seção 0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1463040" y="5148072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segunda célula deve imprimir: Dispositivo: cuda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" y="58978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Requisitos: navegador e conta Google. Nada é instalado no computador.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modelo de linguagem prevê o próximo token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6459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rei protege a </a:t>
            </a:r>
            <a:pPr indent="0" marL="0">
              <a:buNone/>
            </a:pPr>
            <a:r>
              <a:rPr lang="en-US" sz="30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____</a:t>
            </a:r>
            <a:endParaRPr lang="en-US" sz="3000" dirty="0"/>
          </a:p>
        </p:txBody>
      </p:sp>
      <p:pic>
        <p:nvPicPr>
          <p:cNvPr id="7" name="Image 0" descr="/Users/giovannivasconcelos/Documents/University/tech_summit/attention/slides/assets/eq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560320"/>
            <a:ext cx="4808637" cy="11430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393192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Treinar é minimizar a entropia cruzada da previsão do token seguinte, em cada posição.</a:t>
            </a:r>
            <a:endParaRPr lang="en-US" sz="15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4754880"/>
            <a:ext cx="5029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Gerar é amostrar dessa distribuição, anexar o token e repetir.</a:t>
            </a:r>
            <a:endParaRPr lang="en-US" sz="1500" dirty="0"/>
          </a:p>
        </p:txBody>
      </p:sp>
      <p:pic>
        <p:nvPicPr>
          <p:cNvPr id="10" name="Image 1" descr="/Users/giovannivasconcelos/Documents/University/tech_summit/attention/slides/assets/ch_nexttoke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787260"/>
            <a:ext cx="5120640" cy="374067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2017: redes recorrentes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1097280" y="2377440"/>
            <a:ext cx="1188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097280" y="237744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h₁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097280" y="37033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 flipV="1">
            <a:off x="1691640" y="3246120"/>
            <a:ext cx="0" cy="41148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286000" y="2788920"/>
            <a:ext cx="86868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1" name="Shape 8"/>
          <p:cNvSpPr/>
          <p:nvPr/>
        </p:nvSpPr>
        <p:spPr>
          <a:xfrm>
            <a:off x="3154680" y="2377440"/>
            <a:ext cx="1188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154680" y="237744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h₂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3154680" y="37033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 flipV="1">
            <a:off x="3749040" y="3246120"/>
            <a:ext cx="0" cy="41148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4343400" y="2788920"/>
            <a:ext cx="86868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6" name="Shape 13"/>
          <p:cNvSpPr/>
          <p:nvPr/>
        </p:nvSpPr>
        <p:spPr>
          <a:xfrm>
            <a:off x="5212080" y="2377440"/>
            <a:ext cx="1188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212080" y="237744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h₃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5212080" y="37033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 flipV="1">
            <a:off x="5806440" y="3246120"/>
            <a:ext cx="0" cy="41148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6400800" y="2788920"/>
            <a:ext cx="86868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>
            <a:off x="7269480" y="2377440"/>
            <a:ext cx="1188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7269480" y="237744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h₄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269480" y="37033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 flipV="1">
            <a:off x="7863840" y="3246120"/>
            <a:ext cx="0" cy="41148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5" name="Shape 22"/>
          <p:cNvSpPr/>
          <p:nvPr/>
        </p:nvSpPr>
        <p:spPr>
          <a:xfrm>
            <a:off x="8458200" y="2788920"/>
            <a:ext cx="86868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9326880" y="2377440"/>
            <a:ext cx="11887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326880" y="2377440"/>
            <a:ext cx="1188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h₅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9326880" y="37033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rainha</a:t>
            </a:r>
            <a:endParaRPr lang="en-US" sz="1600" dirty="0"/>
          </a:p>
        </p:txBody>
      </p:sp>
      <p:sp>
        <p:nvSpPr>
          <p:cNvPr id="29" name="Shape 26"/>
          <p:cNvSpPr/>
          <p:nvPr/>
        </p:nvSpPr>
        <p:spPr>
          <a:xfrm flipV="1">
            <a:off x="9921240" y="3246120"/>
            <a:ext cx="0" cy="41148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30" name="Text 27"/>
          <p:cNvSpPr txBox="1"/>
          <p:nvPr/>
        </p:nvSpPr>
        <p:spPr>
          <a:xfrm>
            <a:off x="1097280" y="16002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hₜ = f(hₜ₋₁, xₜ)</a:t>
            </a:r>
            <a:endParaRPr lang="en-US" sz="2000" dirty="0"/>
          </a:p>
        </p:txBody>
      </p:sp>
      <p:sp>
        <p:nvSpPr>
          <p:cNvPr id="31" name="Text 28"/>
          <p:cNvSpPr txBox="1"/>
          <p:nvPr/>
        </p:nvSpPr>
        <p:spPr>
          <a:xfrm>
            <a:off x="640080" y="45262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sequencial</a:t>
            </a:r>
            <a:endParaRPr lang="en-US" sz="1900" dirty="0"/>
          </a:p>
        </p:txBody>
      </p:sp>
      <p:sp>
        <p:nvSpPr>
          <p:cNvPr id="32" name="Text 29"/>
          <p:cNvSpPr txBox="1"/>
          <p:nvPr/>
        </p:nvSpPr>
        <p:spPr>
          <a:xfrm>
            <a:off x="640080" y="49377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estado depende do anterior. O treino não pode ser paralelizado ao longo da sequência.</a:t>
            </a:r>
            <a:endParaRPr lang="en-US" sz="1600" dirty="0"/>
          </a:p>
        </p:txBody>
      </p:sp>
      <p:sp>
        <p:nvSpPr>
          <p:cNvPr id="33" name="Text 30"/>
          <p:cNvSpPr txBox="1"/>
          <p:nvPr/>
        </p:nvSpPr>
        <p:spPr>
          <a:xfrm>
            <a:off x="6217920" y="45262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Caminho longo</a:t>
            </a:r>
            <a:endParaRPr lang="en-US" sz="1900" dirty="0"/>
          </a:p>
        </p:txBody>
      </p:sp>
      <p:sp>
        <p:nvSpPr>
          <p:cNvPr id="34" name="Text 31"/>
          <p:cNvSpPr txBox="1"/>
          <p:nvPr/>
        </p:nvSpPr>
        <p:spPr>
          <a:xfrm>
            <a:off x="6217920" y="49377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informação de “o” percorre n passos até “rainha”. Dependências distantes se degradam.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proposta: apenas atenção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1153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651760"/>
                <a:gridCol w="2743200"/>
                <a:gridCol w="2590495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Tipo de camada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 por camada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Operações sequenciais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Caminho máximo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Self-attention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O(n² · d)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Recorrente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 · d²)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Convolucional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O(k · n · d²)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O(logₖ n)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Vaswani et al. (2017), Tabela 1. n = comprimento da sequência; d = dimensão; k = tamanho do kernel.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48463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Qualquer posição acessa qualquer outra em um único passo, e todas as posições são processadas em paralelo.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Atenção como consulta a um dicionário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40080" y="2697480"/>
            <a:ext cx="2194560" cy="822960"/>
          </a:xfrm>
          <a:prstGeom prst="rect">
            <a:avLst/>
          </a:prstGeom>
          <a:solidFill>
            <a:srgbClr val="F3F4F6"/>
          </a:solidFill>
          <a:ln w="19050">
            <a:solidFill>
              <a:srgbClr val="9E2A2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269748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cavalo + bispo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22860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840480" y="13716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669280" y="1371600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132320" y="1371600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840480" y="1783080"/>
            <a:ext cx="164592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840480" y="1783080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peão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669280" y="1783080"/>
            <a:ext cx="128016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669280" y="1783080"/>
            <a:ext cx="1280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7132320" y="1783080"/>
            <a:ext cx="109728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132320" y="1783080"/>
            <a:ext cx="1097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3840480" y="2286000"/>
            <a:ext cx="164592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3840480" y="2286000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cavalo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5669280" y="2286000"/>
            <a:ext cx="1280160" cy="42976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5669280" y="2286000"/>
            <a:ext cx="1280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7132320" y="2286000"/>
            <a:ext cx="109728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7132320" y="2286000"/>
            <a:ext cx="1097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3840480" y="2788920"/>
            <a:ext cx="164592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840480" y="2788920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bispo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5669280" y="2788920"/>
            <a:ext cx="1280160" cy="42976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5669280" y="2788920"/>
            <a:ext cx="1280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7132320" y="2788920"/>
            <a:ext cx="109728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7132320" y="2788920"/>
            <a:ext cx="1097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30" name="Shape 27"/>
          <p:cNvSpPr/>
          <p:nvPr/>
        </p:nvSpPr>
        <p:spPr>
          <a:xfrm>
            <a:off x="3840480" y="3291840"/>
            <a:ext cx="164592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840480" y="3291840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torre</a:t>
            </a:r>
            <a:endParaRPr lang="en-US" sz="1500" dirty="0"/>
          </a:p>
        </p:txBody>
      </p:sp>
      <p:sp>
        <p:nvSpPr>
          <p:cNvPr id="32" name="Shape 29"/>
          <p:cNvSpPr/>
          <p:nvPr/>
        </p:nvSpPr>
        <p:spPr>
          <a:xfrm>
            <a:off x="5669280" y="3291840"/>
            <a:ext cx="128016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5669280" y="3291840"/>
            <a:ext cx="1280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</a:t>
            </a:r>
            <a:endParaRPr lang="en-US" sz="1500" dirty="0"/>
          </a:p>
        </p:txBody>
      </p:sp>
      <p:sp>
        <p:nvSpPr>
          <p:cNvPr id="34" name="Shape 31"/>
          <p:cNvSpPr/>
          <p:nvPr/>
        </p:nvSpPr>
        <p:spPr>
          <a:xfrm>
            <a:off x="7132320" y="3291840"/>
            <a:ext cx="109728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7132320" y="3291840"/>
            <a:ext cx="1097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36" name="Shape 33"/>
          <p:cNvSpPr/>
          <p:nvPr/>
        </p:nvSpPr>
        <p:spPr>
          <a:xfrm>
            <a:off x="3840480" y="3794760"/>
            <a:ext cx="164592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840480" y="3794760"/>
            <a:ext cx="16459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</a:t>
            </a:r>
            <a:endParaRPr lang="en-US" sz="1500" dirty="0"/>
          </a:p>
        </p:txBody>
      </p:sp>
      <p:sp>
        <p:nvSpPr>
          <p:cNvPr id="38" name="Shape 35"/>
          <p:cNvSpPr/>
          <p:nvPr/>
        </p:nvSpPr>
        <p:spPr>
          <a:xfrm>
            <a:off x="5669280" y="3794760"/>
            <a:ext cx="1280160" cy="42976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669280" y="3794760"/>
            <a:ext cx="1280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0.01</a:t>
            </a:r>
            <a:endParaRPr lang="en-US" sz="1500" dirty="0"/>
          </a:p>
        </p:txBody>
      </p:sp>
      <p:sp>
        <p:nvSpPr>
          <p:cNvPr id="40" name="Shape 37"/>
          <p:cNvSpPr/>
          <p:nvPr/>
        </p:nvSpPr>
        <p:spPr>
          <a:xfrm>
            <a:off x="7132320" y="3794760"/>
            <a:ext cx="1097280" cy="429768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7132320" y="3794760"/>
            <a:ext cx="109728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500" dirty="0"/>
          </a:p>
        </p:txBody>
      </p:sp>
      <p:sp>
        <p:nvSpPr>
          <p:cNvPr id="42" name="Shape 39"/>
          <p:cNvSpPr/>
          <p:nvPr/>
        </p:nvSpPr>
        <p:spPr>
          <a:xfrm>
            <a:off x="2880360" y="3108960"/>
            <a:ext cx="86868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43" name="Shape 40"/>
          <p:cNvSpPr/>
          <p:nvPr/>
        </p:nvSpPr>
        <p:spPr>
          <a:xfrm>
            <a:off x="8366760" y="3108960"/>
            <a:ext cx="54864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44" name="Text 41"/>
          <p:cNvSpPr txBox="1"/>
          <p:nvPr/>
        </p:nvSpPr>
        <p:spPr>
          <a:xfrm>
            <a:off x="8321040" y="269748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Σ peso · value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>
            <a:off x="9052560" y="2697480"/>
            <a:ext cx="192024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9052560" y="269748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3.05</a:t>
            </a:r>
            <a:endParaRPr lang="en-US" sz="2600" dirty="0"/>
          </a:p>
        </p:txBody>
      </p:sp>
      <p:sp>
        <p:nvSpPr>
          <p:cNvPr id="47" name="Text 44"/>
          <p:cNvSpPr txBox="1"/>
          <p:nvPr/>
        </p:nvSpPr>
        <p:spPr>
          <a:xfrm>
            <a:off x="9052560" y="228600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</a:t>
            </a:r>
            <a:endParaRPr lang="en-US" sz="1400" dirty="0"/>
          </a:p>
        </p:txBody>
      </p:sp>
      <p:sp>
        <p:nvSpPr>
          <p:cNvPr id="48" name="Text 45"/>
          <p:cNvSpPr txBox="1"/>
          <p:nvPr/>
        </p:nvSpPr>
        <p:spPr>
          <a:xfrm>
            <a:off x="640080" y="4800600"/>
            <a:ext cx="10789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pesos vêm da similaridade entre a query e cada key (produto escalar seguido de softmax). A saída é uma média ponderada dos values.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Queries, keys e values vêm da própria sequência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pic>
        <p:nvPicPr>
          <p:cNvPr id="6" name="Image 0" descr="/Users/giovannivasconcelos/Documents/University/tech_summit/attention/slides/assets/eq_qk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00200"/>
            <a:ext cx="6555921" cy="50292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40080" y="2743200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" name="Shape 4"/>
          <p:cNvSpPr/>
          <p:nvPr/>
        </p:nvSpPr>
        <p:spPr>
          <a:xfrm>
            <a:off x="1024128" y="2743200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1408176" y="2743200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1792224" y="2743200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2176272" y="2743200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560320" y="2743200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640080" y="3127248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1024128" y="3127248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1408176" y="3127248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1792224" y="3127248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176272" y="3127248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2560320" y="3127248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640080" y="3511296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1024128" y="3511296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1408176" y="3511296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1792224" y="3511296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2176272" y="3511296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2560320" y="3511296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40080" y="3895344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1024128" y="3895344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1408176" y="3895344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8" name="Shape 24"/>
          <p:cNvSpPr/>
          <p:nvPr/>
        </p:nvSpPr>
        <p:spPr>
          <a:xfrm>
            <a:off x="1792224" y="3895344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2176272" y="3895344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2560320" y="3895344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640080" y="4279392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1024128" y="4279392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1408176" y="4279392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1792224" y="4279392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5" name="Shape 31"/>
          <p:cNvSpPr/>
          <p:nvPr/>
        </p:nvSpPr>
        <p:spPr>
          <a:xfrm>
            <a:off x="2176272" y="4279392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2560320" y="4279392"/>
            <a:ext cx="384048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40080" y="4754880"/>
            <a:ext cx="23042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2000" dirty="0"/>
          </a:p>
        </p:txBody>
      </p:sp>
      <p:sp>
        <p:nvSpPr>
          <p:cNvPr id="38" name="Text 34"/>
          <p:cNvSpPr txBox="1"/>
          <p:nvPr/>
        </p:nvSpPr>
        <p:spPr>
          <a:xfrm>
            <a:off x="640080" y="5120640"/>
            <a:ext cx="23042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× d_model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 flipV="1">
            <a:off x="3108960" y="2743200"/>
            <a:ext cx="1463040" cy="96012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40" name="Shape 36"/>
          <p:cNvSpPr/>
          <p:nvPr/>
        </p:nvSpPr>
        <p:spPr>
          <a:xfrm>
            <a:off x="4709160" y="228600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4892040" y="228600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5074920" y="228600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257800" y="228600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4" name="Shape 40"/>
          <p:cNvSpPr/>
          <p:nvPr/>
        </p:nvSpPr>
        <p:spPr>
          <a:xfrm>
            <a:off x="4709160" y="246888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4892040" y="246888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5074920" y="246888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5257800" y="246888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4709160" y="265176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4892040" y="265176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5074920" y="265176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5257800" y="265176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4709160" y="283464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4892040" y="283464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5074920" y="283464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5" name="Shape 51"/>
          <p:cNvSpPr/>
          <p:nvPr/>
        </p:nvSpPr>
        <p:spPr>
          <a:xfrm>
            <a:off x="5257800" y="283464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6" name="Shape 52"/>
          <p:cNvSpPr/>
          <p:nvPr/>
        </p:nvSpPr>
        <p:spPr>
          <a:xfrm>
            <a:off x="4709160" y="301752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4892040" y="301752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5074920" y="301752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9" name="Shape 55"/>
          <p:cNvSpPr/>
          <p:nvPr/>
        </p:nvSpPr>
        <p:spPr>
          <a:xfrm>
            <a:off x="5257800" y="3017520"/>
            <a:ext cx="182880" cy="18288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0" name="Text 56"/>
          <p:cNvSpPr txBox="1"/>
          <p:nvPr/>
        </p:nvSpPr>
        <p:spPr>
          <a:xfrm>
            <a:off x="557784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</a:t>
            </a:r>
            <a:endParaRPr lang="en-US" sz="2200" dirty="0"/>
          </a:p>
        </p:txBody>
      </p:sp>
      <p:sp>
        <p:nvSpPr>
          <p:cNvPr id="61" name="Text 57"/>
          <p:cNvSpPr txBox="1"/>
          <p:nvPr/>
        </p:nvSpPr>
        <p:spPr>
          <a:xfrm>
            <a:off x="6035040" y="246888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X W_Q  ·  T × d_k  ·  consultas</a:t>
            </a:r>
            <a:endParaRPr lang="en-US" sz="1400" dirty="0"/>
          </a:p>
        </p:txBody>
      </p:sp>
      <p:sp>
        <p:nvSpPr>
          <p:cNvPr id="62" name="Shape 58"/>
          <p:cNvSpPr/>
          <p:nvPr/>
        </p:nvSpPr>
        <p:spPr>
          <a:xfrm>
            <a:off x="3108960" y="3703320"/>
            <a:ext cx="1463040" cy="27432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63" name="Shape 59"/>
          <p:cNvSpPr/>
          <p:nvPr/>
        </p:nvSpPr>
        <p:spPr>
          <a:xfrm>
            <a:off x="4709160" y="352044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4892040" y="352044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5074920" y="352044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5257800" y="352044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7" name="Shape 63"/>
          <p:cNvSpPr/>
          <p:nvPr/>
        </p:nvSpPr>
        <p:spPr>
          <a:xfrm>
            <a:off x="4709160" y="370332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4892040" y="370332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5074920" y="370332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5257800" y="370332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4709160" y="388620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2" name="Shape 68"/>
          <p:cNvSpPr/>
          <p:nvPr/>
        </p:nvSpPr>
        <p:spPr>
          <a:xfrm>
            <a:off x="4892040" y="388620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3" name="Shape 69"/>
          <p:cNvSpPr/>
          <p:nvPr/>
        </p:nvSpPr>
        <p:spPr>
          <a:xfrm>
            <a:off x="5074920" y="388620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5257800" y="388620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4709160" y="406908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6" name="Shape 72"/>
          <p:cNvSpPr/>
          <p:nvPr/>
        </p:nvSpPr>
        <p:spPr>
          <a:xfrm>
            <a:off x="4892040" y="406908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5074920" y="406908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5257800" y="406908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9" name="Shape 75"/>
          <p:cNvSpPr/>
          <p:nvPr/>
        </p:nvSpPr>
        <p:spPr>
          <a:xfrm>
            <a:off x="4709160" y="425196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0" name="Shape 76"/>
          <p:cNvSpPr/>
          <p:nvPr/>
        </p:nvSpPr>
        <p:spPr>
          <a:xfrm>
            <a:off x="4892040" y="425196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5074920" y="425196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>
            <a:off x="5257800" y="4251960"/>
            <a:ext cx="182880" cy="18288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3" name="Text 79"/>
          <p:cNvSpPr txBox="1"/>
          <p:nvPr/>
        </p:nvSpPr>
        <p:spPr>
          <a:xfrm>
            <a:off x="5577840" y="3703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endParaRPr lang="en-US" sz="2200" dirty="0"/>
          </a:p>
        </p:txBody>
      </p:sp>
      <p:sp>
        <p:nvSpPr>
          <p:cNvPr id="84" name="Text 80"/>
          <p:cNvSpPr txBox="1"/>
          <p:nvPr/>
        </p:nvSpPr>
        <p:spPr>
          <a:xfrm>
            <a:off x="6035040" y="370332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X W_K  ·  T × d_k  ·  chaves</a:t>
            </a:r>
            <a:endParaRPr lang="en-US" sz="1400" dirty="0"/>
          </a:p>
        </p:txBody>
      </p:sp>
      <p:sp>
        <p:nvSpPr>
          <p:cNvPr id="85" name="Shape 81"/>
          <p:cNvSpPr/>
          <p:nvPr/>
        </p:nvSpPr>
        <p:spPr>
          <a:xfrm>
            <a:off x="3108960" y="3703320"/>
            <a:ext cx="1463040" cy="150876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86" name="Shape 82"/>
          <p:cNvSpPr/>
          <p:nvPr/>
        </p:nvSpPr>
        <p:spPr>
          <a:xfrm>
            <a:off x="4709160" y="475488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7" name="Shape 83"/>
          <p:cNvSpPr/>
          <p:nvPr/>
        </p:nvSpPr>
        <p:spPr>
          <a:xfrm>
            <a:off x="4892040" y="475488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5074920" y="475488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5257800" y="475488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4709160" y="493776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1" name="Shape 87"/>
          <p:cNvSpPr/>
          <p:nvPr/>
        </p:nvSpPr>
        <p:spPr>
          <a:xfrm>
            <a:off x="4892040" y="493776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2" name="Shape 88"/>
          <p:cNvSpPr/>
          <p:nvPr/>
        </p:nvSpPr>
        <p:spPr>
          <a:xfrm>
            <a:off x="5074920" y="493776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3" name="Shape 89"/>
          <p:cNvSpPr/>
          <p:nvPr/>
        </p:nvSpPr>
        <p:spPr>
          <a:xfrm>
            <a:off x="5257800" y="493776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4" name="Shape 90"/>
          <p:cNvSpPr/>
          <p:nvPr/>
        </p:nvSpPr>
        <p:spPr>
          <a:xfrm>
            <a:off x="4709160" y="512064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4892040" y="512064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6" name="Shape 92"/>
          <p:cNvSpPr/>
          <p:nvPr/>
        </p:nvSpPr>
        <p:spPr>
          <a:xfrm>
            <a:off x="5074920" y="512064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>
            <a:off x="5257800" y="512064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4709160" y="530352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>
            <a:off x="4892040" y="530352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0" name="Shape 96"/>
          <p:cNvSpPr/>
          <p:nvPr/>
        </p:nvSpPr>
        <p:spPr>
          <a:xfrm>
            <a:off x="5074920" y="530352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1" name="Shape 97"/>
          <p:cNvSpPr/>
          <p:nvPr/>
        </p:nvSpPr>
        <p:spPr>
          <a:xfrm>
            <a:off x="5257800" y="530352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4709160" y="548640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3" name="Shape 99"/>
          <p:cNvSpPr/>
          <p:nvPr/>
        </p:nvSpPr>
        <p:spPr>
          <a:xfrm>
            <a:off x="4892040" y="548640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4" name="Shape 100"/>
          <p:cNvSpPr/>
          <p:nvPr/>
        </p:nvSpPr>
        <p:spPr>
          <a:xfrm>
            <a:off x="5074920" y="548640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>
            <a:off x="5257800" y="5486400"/>
            <a:ext cx="182880" cy="18288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6" name="Text 102"/>
          <p:cNvSpPr txBox="1"/>
          <p:nvPr/>
        </p:nvSpPr>
        <p:spPr>
          <a:xfrm>
            <a:off x="5577840" y="4937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</a:t>
            </a:r>
            <a:endParaRPr lang="en-US" sz="2200" dirty="0"/>
          </a:p>
        </p:txBody>
      </p:sp>
      <p:sp>
        <p:nvSpPr>
          <p:cNvPr id="107" name="Text 103"/>
          <p:cNvSpPr txBox="1"/>
          <p:nvPr/>
        </p:nvSpPr>
        <p:spPr>
          <a:xfrm>
            <a:off x="6035040" y="493776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X W_V  ·  T × d_k  ·  conteúdos</a:t>
            </a:r>
            <a:endParaRPr lang="en-US" sz="1400" dirty="0"/>
          </a:p>
        </p:txBody>
      </p:sp>
      <p:sp>
        <p:nvSpPr>
          <p:cNvPr id="108" name="Shape 104"/>
          <p:cNvSpPr/>
          <p:nvPr/>
        </p:nvSpPr>
        <p:spPr>
          <a:xfrm>
            <a:off x="8778240" y="2377440"/>
            <a:ext cx="2743200" cy="283464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09" name="Text 105"/>
          <p:cNvSpPr txBox="1"/>
          <p:nvPr/>
        </p:nvSpPr>
        <p:spPr>
          <a:xfrm>
            <a:off x="9006840" y="2560320"/>
            <a:ext cx="2377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Parâmetros aprendidos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Somente W_Q, W_K e W_V. Treinar a camada é ajustar essas três matrizes.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token desempenha os três papéis ao mesmo tempo.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Scaled dot-product attention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pic>
        <p:nvPicPr>
          <p:cNvPr id="6" name="Image 0" descr="/Users/giovannivasconcelos/Documents/University/tech_summit/attention/slides/assets/eq_atten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1680" y="1508760"/>
            <a:ext cx="8138160" cy="13867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35204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8" name="Text 4"/>
          <p:cNvSpPr txBox="1"/>
          <p:nvPr/>
        </p:nvSpPr>
        <p:spPr>
          <a:xfrm>
            <a:off x="1188720" y="36118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Compatibilidade</a:t>
            </a:r>
            <a:endParaRPr lang="en-US" sz="1900" dirty="0"/>
          </a:p>
        </p:txBody>
      </p:sp>
      <p:sp>
        <p:nvSpPr>
          <p:cNvPr id="9" name="Text 5"/>
          <p:cNvSpPr txBox="1"/>
          <p:nvPr/>
        </p:nvSpPr>
        <p:spPr>
          <a:xfrm>
            <a:off x="1188720" y="406908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QKᵀ gera uma matriz T × T. A entrada (i, j) mede o quanto a posição i se relaciona com a posição j.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4343400" y="35204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400" dirty="0"/>
          </a:p>
        </p:txBody>
      </p:sp>
      <p:sp>
        <p:nvSpPr>
          <p:cNvPr id="11" name="Text 7"/>
          <p:cNvSpPr txBox="1"/>
          <p:nvPr/>
        </p:nvSpPr>
        <p:spPr>
          <a:xfrm>
            <a:off x="4892040" y="36118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Normalização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4892040" y="406908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Divide-se por √dₖ e aplica-se a softmax em cada linha, que passa a somar 1.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046720" y="35204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9E2A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4" name="Text 10"/>
          <p:cNvSpPr txBox="1"/>
          <p:nvPr/>
        </p:nvSpPr>
        <p:spPr>
          <a:xfrm>
            <a:off x="8595360" y="361188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Combinação</a:t>
            </a:r>
            <a:endParaRPr lang="en-US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8595360" y="4069080"/>
            <a:ext cx="29260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Multiplica-se por V: cada posição recebe uma média ponderada dos values.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dividir por √dₖ?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pic>
        <p:nvPicPr>
          <p:cNvPr id="6" name="Image 0" descr="/Users/giovannivasconcelos/Documents/University/tech_summit/attention/slides/assets/eq_v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00200"/>
            <a:ext cx="4399948" cy="10515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297180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variância dₖ, os scores crescem com a dimensão, a softmax satura e o gradiente se anula. Dividir por √dₖ restaura a variância 1.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4389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10 keys, pesos uniformes valeriam 0.10.</a:t>
            </a:r>
            <a:endParaRPr lang="en-US" sz="1400" dirty="0"/>
          </a:p>
        </p:txBody>
      </p:sp>
      <p:pic>
        <p:nvPicPr>
          <p:cNvPr id="9" name="Image 1" descr="/Users/giovannivasconcelos/Documents/University/tech_summit/attention/slides/assets/ch_sqrtd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07963" y="1463040"/>
            <a:ext cx="5249115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Máscara causal: ninguém olha para o futuro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1920240" y="2011680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1920240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2487168" y="2011680"/>
            <a:ext cx="566928" cy="566928"/>
          </a:xfrm>
          <a:prstGeom prst="rect">
            <a:avLst/>
          </a:prstGeom>
          <a:solidFill>
            <a:srgbClr val="F6E7E7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487168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−∞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3054096" y="2011680"/>
            <a:ext cx="566928" cy="566928"/>
          </a:xfrm>
          <a:prstGeom prst="rect">
            <a:avLst/>
          </a:prstGeom>
          <a:solidFill>
            <a:srgbClr val="F6E7E7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054096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−∞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3621024" y="2011680"/>
            <a:ext cx="566928" cy="566928"/>
          </a:xfrm>
          <a:prstGeom prst="rect">
            <a:avLst/>
          </a:prstGeom>
          <a:solidFill>
            <a:srgbClr val="F6E7E7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621024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−∞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187952" y="2011680"/>
            <a:ext cx="566928" cy="566928"/>
          </a:xfrm>
          <a:prstGeom prst="rect">
            <a:avLst/>
          </a:prstGeom>
          <a:solidFill>
            <a:srgbClr val="F6E7E7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187952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−∞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1920240" y="2578608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920240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2487168" y="2578608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487168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3054096" y="2578608"/>
            <a:ext cx="566928" cy="566928"/>
          </a:xfrm>
          <a:prstGeom prst="rect">
            <a:avLst/>
          </a:prstGeom>
          <a:solidFill>
            <a:srgbClr val="F6E7E7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054096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−∞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3621024" y="2578608"/>
            <a:ext cx="566928" cy="566928"/>
          </a:xfrm>
          <a:prstGeom prst="rect">
            <a:avLst/>
          </a:prstGeom>
          <a:solidFill>
            <a:srgbClr val="F6E7E7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621024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−∞</a:t>
            </a:r>
            <a:endParaRPr lang="en-US" sz="1300" dirty="0"/>
          </a:p>
        </p:txBody>
      </p:sp>
      <p:sp>
        <p:nvSpPr>
          <p:cNvPr id="24" name="Shape 21"/>
          <p:cNvSpPr/>
          <p:nvPr/>
        </p:nvSpPr>
        <p:spPr>
          <a:xfrm>
            <a:off x="4187952" y="2578608"/>
            <a:ext cx="566928" cy="566928"/>
          </a:xfrm>
          <a:prstGeom prst="rect">
            <a:avLst/>
          </a:prstGeom>
          <a:solidFill>
            <a:srgbClr val="F6E7E7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4187952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−∞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>
            <a:off x="1920240" y="3145536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920240" y="3145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2487168" y="3145536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2487168" y="3145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</a:t>
            </a:r>
            <a:endParaRPr lang="en-US" sz="1300" dirty="0"/>
          </a:p>
        </p:txBody>
      </p:sp>
      <p:sp>
        <p:nvSpPr>
          <p:cNvPr id="30" name="Shape 27"/>
          <p:cNvSpPr/>
          <p:nvPr/>
        </p:nvSpPr>
        <p:spPr>
          <a:xfrm>
            <a:off x="3054096" y="3145536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3054096" y="3145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3621024" y="3145536"/>
            <a:ext cx="566928" cy="566928"/>
          </a:xfrm>
          <a:prstGeom prst="rect">
            <a:avLst/>
          </a:prstGeom>
          <a:solidFill>
            <a:srgbClr val="F6E7E7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3621024" y="3145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−∞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4187952" y="3145536"/>
            <a:ext cx="566928" cy="566928"/>
          </a:xfrm>
          <a:prstGeom prst="rect">
            <a:avLst/>
          </a:prstGeom>
          <a:solidFill>
            <a:srgbClr val="F6E7E7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187952" y="3145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−∞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1920240" y="3712464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1920240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2487168" y="3712464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2487168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</a:t>
            </a:r>
            <a:endParaRPr lang="en-US" sz="1300" dirty="0"/>
          </a:p>
        </p:txBody>
      </p:sp>
      <p:sp>
        <p:nvSpPr>
          <p:cNvPr id="40" name="Shape 37"/>
          <p:cNvSpPr/>
          <p:nvPr/>
        </p:nvSpPr>
        <p:spPr>
          <a:xfrm>
            <a:off x="3054096" y="3712464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054096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</a:t>
            </a:r>
            <a:endParaRPr lang="en-US" sz="1300" dirty="0"/>
          </a:p>
        </p:txBody>
      </p:sp>
      <p:sp>
        <p:nvSpPr>
          <p:cNvPr id="42" name="Shape 39"/>
          <p:cNvSpPr/>
          <p:nvPr/>
        </p:nvSpPr>
        <p:spPr>
          <a:xfrm>
            <a:off x="3621024" y="3712464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3621024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1300" dirty="0"/>
          </a:p>
        </p:txBody>
      </p:sp>
      <p:sp>
        <p:nvSpPr>
          <p:cNvPr id="44" name="Shape 41"/>
          <p:cNvSpPr/>
          <p:nvPr/>
        </p:nvSpPr>
        <p:spPr>
          <a:xfrm>
            <a:off x="4187952" y="3712464"/>
            <a:ext cx="566928" cy="566928"/>
          </a:xfrm>
          <a:prstGeom prst="rect">
            <a:avLst/>
          </a:prstGeom>
          <a:solidFill>
            <a:srgbClr val="F6E7E7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4187952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−∞</a:t>
            </a:r>
            <a:endParaRPr lang="en-US" sz="1300" dirty="0"/>
          </a:p>
        </p:txBody>
      </p:sp>
      <p:sp>
        <p:nvSpPr>
          <p:cNvPr id="46" name="Shape 43"/>
          <p:cNvSpPr/>
          <p:nvPr/>
        </p:nvSpPr>
        <p:spPr>
          <a:xfrm>
            <a:off x="1920240" y="4279392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1920240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487168" y="4279392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2487168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</a:t>
            </a:r>
            <a:endParaRPr lang="en-US" sz="1300" dirty="0"/>
          </a:p>
        </p:txBody>
      </p:sp>
      <p:sp>
        <p:nvSpPr>
          <p:cNvPr id="50" name="Shape 47"/>
          <p:cNvSpPr/>
          <p:nvPr/>
        </p:nvSpPr>
        <p:spPr>
          <a:xfrm>
            <a:off x="3054096" y="4279392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3054096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1.3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3621024" y="4279392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3621024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</a:t>
            </a:r>
            <a:endParaRPr lang="en-US" sz="1300" dirty="0"/>
          </a:p>
        </p:txBody>
      </p:sp>
      <p:sp>
        <p:nvSpPr>
          <p:cNvPr id="54" name="Shape 51"/>
          <p:cNvSpPr/>
          <p:nvPr/>
        </p:nvSpPr>
        <p:spPr>
          <a:xfrm>
            <a:off x="4187952" y="4279392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4187952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</a:t>
            </a:r>
            <a:endParaRPr lang="en-US" sz="1300" dirty="0"/>
          </a:p>
        </p:txBody>
      </p:sp>
      <p:sp>
        <p:nvSpPr>
          <p:cNvPr id="56" name="Text 53"/>
          <p:cNvSpPr txBox="1"/>
          <p:nvPr/>
        </p:nvSpPr>
        <p:spPr>
          <a:xfrm>
            <a:off x="822960" y="20116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300" dirty="0"/>
          </a:p>
        </p:txBody>
      </p:sp>
      <p:sp>
        <p:nvSpPr>
          <p:cNvPr id="57" name="Text 54"/>
          <p:cNvSpPr txBox="1"/>
          <p:nvPr/>
        </p:nvSpPr>
        <p:spPr>
          <a:xfrm>
            <a:off x="822960" y="25786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</a:t>
            </a:r>
            <a:endParaRPr lang="en-US" sz="1300" dirty="0"/>
          </a:p>
        </p:txBody>
      </p:sp>
      <p:sp>
        <p:nvSpPr>
          <p:cNvPr id="58" name="Text 55"/>
          <p:cNvSpPr txBox="1"/>
          <p:nvPr/>
        </p:nvSpPr>
        <p:spPr>
          <a:xfrm>
            <a:off x="822960" y="314553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</a:t>
            </a:r>
            <a:endParaRPr lang="en-US" sz="1300" dirty="0"/>
          </a:p>
        </p:txBody>
      </p:sp>
      <p:sp>
        <p:nvSpPr>
          <p:cNvPr id="59" name="Text 56"/>
          <p:cNvSpPr txBox="1"/>
          <p:nvPr/>
        </p:nvSpPr>
        <p:spPr>
          <a:xfrm>
            <a:off x="8229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60" name="Text 57"/>
          <p:cNvSpPr txBox="1"/>
          <p:nvPr/>
        </p:nvSpPr>
        <p:spPr>
          <a:xfrm>
            <a:off x="822960" y="427939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rainha</a:t>
            </a:r>
            <a:endParaRPr lang="en-US" sz="1300" dirty="0"/>
          </a:p>
        </p:txBody>
      </p:sp>
      <p:sp>
        <p:nvSpPr>
          <p:cNvPr id="61" name="Text 58"/>
          <p:cNvSpPr txBox="1"/>
          <p:nvPr/>
        </p:nvSpPr>
        <p:spPr>
          <a:xfrm>
            <a:off x="1645920" y="169164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300" dirty="0"/>
          </a:p>
        </p:txBody>
      </p:sp>
      <p:sp>
        <p:nvSpPr>
          <p:cNvPr id="62" name="Text 59"/>
          <p:cNvSpPr txBox="1"/>
          <p:nvPr/>
        </p:nvSpPr>
        <p:spPr>
          <a:xfrm>
            <a:off x="2212848" y="169164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</a:t>
            </a:r>
            <a:endParaRPr lang="en-US" sz="1300" dirty="0"/>
          </a:p>
        </p:txBody>
      </p:sp>
      <p:sp>
        <p:nvSpPr>
          <p:cNvPr id="63" name="Text 60"/>
          <p:cNvSpPr txBox="1"/>
          <p:nvPr/>
        </p:nvSpPr>
        <p:spPr>
          <a:xfrm>
            <a:off x="2779776" y="169164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</a:t>
            </a:r>
            <a:endParaRPr lang="en-US" sz="1300" dirty="0"/>
          </a:p>
        </p:txBody>
      </p:sp>
      <p:sp>
        <p:nvSpPr>
          <p:cNvPr id="64" name="Text 61"/>
          <p:cNvSpPr txBox="1"/>
          <p:nvPr/>
        </p:nvSpPr>
        <p:spPr>
          <a:xfrm>
            <a:off x="3346704" y="169164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65" name="Text 62"/>
          <p:cNvSpPr txBox="1"/>
          <p:nvPr/>
        </p:nvSpPr>
        <p:spPr>
          <a:xfrm>
            <a:off x="3913632" y="169164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rainha</a:t>
            </a:r>
            <a:endParaRPr lang="en-US" sz="1300" dirty="0"/>
          </a:p>
        </p:txBody>
      </p:sp>
      <p:sp>
        <p:nvSpPr>
          <p:cNvPr id="66" name="Text 63"/>
          <p:cNvSpPr txBox="1"/>
          <p:nvPr/>
        </p:nvSpPr>
        <p:spPr>
          <a:xfrm>
            <a:off x="1920240" y="49834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scores com máscara</a:t>
            </a:r>
            <a:endParaRPr lang="en-US" sz="1400" dirty="0"/>
          </a:p>
        </p:txBody>
      </p:sp>
      <p:sp>
        <p:nvSpPr>
          <p:cNvPr id="67" name="Shape 64"/>
          <p:cNvSpPr/>
          <p:nvPr/>
        </p:nvSpPr>
        <p:spPr>
          <a:xfrm>
            <a:off x="5029200" y="3429000"/>
            <a:ext cx="100584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68" name="Text 65"/>
          <p:cNvSpPr txBox="1"/>
          <p:nvPr/>
        </p:nvSpPr>
        <p:spPr>
          <a:xfrm>
            <a:off x="4983480" y="301752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</a:t>
            </a:r>
            <a:endParaRPr lang="en-US" sz="1400" dirty="0"/>
          </a:p>
        </p:txBody>
      </p:sp>
      <p:sp>
        <p:nvSpPr>
          <p:cNvPr id="69" name="Shape 66"/>
          <p:cNvSpPr/>
          <p:nvPr/>
        </p:nvSpPr>
        <p:spPr>
          <a:xfrm>
            <a:off x="7406640" y="2011680"/>
            <a:ext cx="566928" cy="56692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0" name="Text 67"/>
          <p:cNvSpPr txBox="1"/>
          <p:nvPr/>
        </p:nvSpPr>
        <p:spPr>
          <a:xfrm>
            <a:off x="7406640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</a:t>
            </a:r>
            <a:endParaRPr lang="en-US" sz="1200" dirty="0"/>
          </a:p>
        </p:txBody>
      </p:sp>
      <p:sp>
        <p:nvSpPr>
          <p:cNvPr id="71" name="Shape 68"/>
          <p:cNvSpPr/>
          <p:nvPr/>
        </p:nvSpPr>
        <p:spPr>
          <a:xfrm>
            <a:off x="7973568" y="2011680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2" name="Text 69"/>
          <p:cNvSpPr txBox="1"/>
          <p:nvPr/>
        </p:nvSpPr>
        <p:spPr>
          <a:xfrm>
            <a:off x="7973568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73" name="Shape 70"/>
          <p:cNvSpPr/>
          <p:nvPr/>
        </p:nvSpPr>
        <p:spPr>
          <a:xfrm>
            <a:off x="8540496" y="2011680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4" name="Text 71"/>
          <p:cNvSpPr txBox="1"/>
          <p:nvPr/>
        </p:nvSpPr>
        <p:spPr>
          <a:xfrm>
            <a:off x="8540496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75" name="Shape 72"/>
          <p:cNvSpPr/>
          <p:nvPr/>
        </p:nvSpPr>
        <p:spPr>
          <a:xfrm>
            <a:off x="9107424" y="2011680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6" name="Text 73"/>
          <p:cNvSpPr txBox="1"/>
          <p:nvPr/>
        </p:nvSpPr>
        <p:spPr>
          <a:xfrm>
            <a:off x="9107424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77" name="Shape 74"/>
          <p:cNvSpPr/>
          <p:nvPr/>
        </p:nvSpPr>
        <p:spPr>
          <a:xfrm>
            <a:off x="9674352" y="2011680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8" name="Text 75"/>
          <p:cNvSpPr txBox="1"/>
          <p:nvPr/>
        </p:nvSpPr>
        <p:spPr>
          <a:xfrm>
            <a:off x="9674352" y="2011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79" name="Shape 76"/>
          <p:cNvSpPr/>
          <p:nvPr/>
        </p:nvSpPr>
        <p:spPr>
          <a:xfrm>
            <a:off x="7406640" y="2578608"/>
            <a:ext cx="566928" cy="56692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0" name="Text 77"/>
          <p:cNvSpPr txBox="1"/>
          <p:nvPr/>
        </p:nvSpPr>
        <p:spPr>
          <a:xfrm>
            <a:off x="7406640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0.14</a:t>
            </a:r>
            <a:endParaRPr lang="en-US" sz="1200" dirty="0"/>
          </a:p>
        </p:txBody>
      </p:sp>
      <p:sp>
        <p:nvSpPr>
          <p:cNvPr id="81" name="Shape 78"/>
          <p:cNvSpPr/>
          <p:nvPr/>
        </p:nvSpPr>
        <p:spPr>
          <a:xfrm>
            <a:off x="7973568" y="2578608"/>
            <a:ext cx="566928" cy="566928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2" name="Text 79"/>
          <p:cNvSpPr txBox="1"/>
          <p:nvPr/>
        </p:nvSpPr>
        <p:spPr>
          <a:xfrm>
            <a:off x="7973568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0.86</a:t>
            </a:r>
            <a:endParaRPr lang="en-US" sz="1200" dirty="0"/>
          </a:p>
        </p:txBody>
      </p:sp>
      <p:sp>
        <p:nvSpPr>
          <p:cNvPr id="83" name="Shape 80"/>
          <p:cNvSpPr/>
          <p:nvPr/>
        </p:nvSpPr>
        <p:spPr>
          <a:xfrm>
            <a:off x="8540496" y="2578608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4" name="Text 81"/>
          <p:cNvSpPr txBox="1"/>
          <p:nvPr/>
        </p:nvSpPr>
        <p:spPr>
          <a:xfrm>
            <a:off x="8540496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85" name="Shape 82"/>
          <p:cNvSpPr/>
          <p:nvPr/>
        </p:nvSpPr>
        <p:spPr>
          <a:xfrm>
            <a:off x="9107424" y="2578608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6" name="Text 83"/>
          <p:cNvSpPr txBox="1"/>
          <p:nvPr/>
        </p:nvSpPr>
        <p:spPr>
          <a:xfrm>
            <a:off x="9107424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87" name="Shape 84"/>
          <p:cNvSpPr/>
          <p:nvPr/>
        </p:nvSpPr>
        <p:spPr>
          <a:xfrm>
            <a:off x="9674352" y="2578608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88" name="Text 85"/>
          <p:cNvSpPr txBox="1"/>
          <p:nvPr/>
        </p:nvSpPr>
        <p:spPr>
          <a:xfrm>
            <a:off x="9674352" y="25786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89" name="Shape 86"/>
          <p:cNvSpPr/>
          <p:nvPr/>
        </p:nvSpPr>
        <p:spPr>
          <a:xfrm>
            <a:off x="7406640" y="3145536"/>
            <a:ext cx="566928" cy="56692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0" name="Text 87"/>
          <p:cNvSpPr txBox="1"/>
          <p:nvPr/>
        </p:nvSpPr>
        <p:spPr>
          <a:xfrm>
            <a:off x="7406640" y="3145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0.24</a:t>
            </a:r>
            <a:endParaRPr lang="en-US" sz="1200" dirty="0"/>
          </a:p>
        </p:txBody>
      </p:sp>
      <p:sp>
        <p:nvSpPr>
          <p:cNvPr id="91" name="Shape 88"/>
          <p:cNvSpPr/>
          <p:nvPr/>
        </p:nvSpPr>
        <p:spPr>
          <a:xfrm>
            <a:off x="7973568" y="3145536"/>
            <a:ext cx="566928" cy="566928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7973568" y="3145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0.60</a:t>
            </a:r>
            <a:endParaRPr lang="en-US" sz="1200" dirty="0"/>
          </a:p>
        </p:txBody>
      </p:sp>
      <p:sp>
        <p:nvSpPr>
          <p:cNvPr id="93" name="Shape 90"/>
          <p:cNvSpPr/>
          <p:nvPr/>
        </p:nvSpPr>
        <p:spPr>
          <a:xfrm>
            <a:off x="8540496" y="3145536"/>
            <a:ext cx="566928" cy="56692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4" name="Text 91"/>
          <p:cNvSpPr txBox="1"/>
          <p:nvPr/>
        </p:nvSpPr>
        <p:spPr>
          <a:xfrm>
            <a:off x="8540496" y="3145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0.16</a:t>
            </a:r>
            <a:endParaRPr lang="en-US" sz="1200" dirty="0"/>
          </a:p>
        </p:txBody>
      </p:sp>
      <p:sp>
        <p:nvSpPr>
          <p:cNvPr id="95" name="Shape 92"/>
          <p:cNvSpPr/>
          <p:nvPr/>
        </p:nvSpPr>
        <p:spPr>
          <a:xfrm>
            <a:off x="9107424" y="3145536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6" name="Text 93"/>
          <p:cNvSpPr txBox="1"/>
          <p:nvPr/>
        </p:nvSpPr>
        <p:spPr>
          <a:xfrm>
            <a:off x="9107424" y="3145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97" name="Shape 94"/>
          <p:cNvSpPr/>
          <p:nvPr/>
        </p:nvSpPr>
        <p:spPr>
          <a:xfrm>
            <a:off x="9674352" y="3145536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8" name="Text 95"/>
          <p:cNvSpPr txBox="1"/>
          <p:nvPr/>
        </p:nvSpPr>
        <p:spPr>
          <a:xfrm>
            <a:off x="9674352" y="31455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99" name="Shape 96"/>
          <p:cNvSpPr/>
          <p:nvPr/>
        </p:nvSpPr>
        <p:spPr>
          <a:xfrm>
            <a:off x="7406640" y="3712464"/>
            <a:ext cx="566928" cy="56692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0" name="Text 97"/>
          <p:cNvSpPr txBox="1"/>
          <p:nvPr/>
        </p:nvSpPr>
        <p:spPr>
          <a:xfrm>
            <a:off x="7406640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0.13</a:t>
            </a:r>
            <a:endParaRPr lang="en-US" sz="1200" dirty="0"/>
          </a:p>
        </p:txBody>
      </p:sp>
      <p:sp>
        <p:nvSpPr>
          <p:cNvPr id="101" name="Shape 98"/>
          <p:cNvSpPr/>
          <p:nvPr/>
        </p:nvSpPr>
        <p:spPr>
          <a:xfrm>
            <a:off x="7973568" y="3712464"/>
            <a:ext cx="566928" cy="56692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2" name="Text 99"/>
          <p:cNvSpPr txBox="1"/>
          <p:nvPr/>
        </p:nvSpPr>
        <p:spPr>
          <a:xfrm>
            <a:off x="7973568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0.22</a:t>
            </a:r>
            <a:endParaRPr lang="en-US" sz="1200" dirty="0"/>
          </a:p>
        </p:txBody>
      </p:sp>
      <p:sp>
        <p:nvSpPr>
          <p:cNvPr id="103" name="Shape 100"/>
          <p:cNvSpPr/>
          <p:nvPr/>
        </p:nvSpPr>
        <p:spPr>
          <a:xfrm>
            <a:off x="8540496" y="3712464"/>
            <a:ext cx="566928" cy="56692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4" name="Text 101"/>
          <p:cNvSpPr txBox="1"/>
          <p:nvPr/>
        </p:nvSpPr>
        <p:spPr>
          <a:xfrm>
            <a:off x="8540496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0.29</a:t>
            </a:r>
            <a:endParaRPr lang="en-US" sz="1200" dirty="0"/>
          </a:p>
        </p:txBody>
      </p:sp>
      <p:sp>
        <p:nvSpPr>
          <p:cNvPr id="105" name="Shape 102"/>
          <p:cNvSpPr/>
          <p:nvPr/>
        </p:nvSpPr>
        <p:spPr>
          <a:xfrm>
            <a:off x="9107424" y="3712464"/>
            <a:ext cx="566928" cy="56692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6" name="Text 103"/>
          <p:cNvSpPr txBox="1"/>
          <p:nvPr/>
        </p:nvSpPr>
        <p:spPr>
          <a:xfrm>
            <a:off x="9107424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0.36</a:t>
            </a:r>
            <a:endParaRPr lang="en-US" sz="1200" dirty="0"/>
          </a:p>
        </p:txBody>
      </p:sp>
      <p:sp>
        <p:nvSpPr>
          <p:cNvPr id="107" name="Shape 104"/>
          <p:cNvSpPr/>
          <p:nvPr/>
        </p:nvSpPr>
        <p:spPr>
          <a:xfrm>
            <a:off x="9674352" y="3712464"/>
            <a:ext cx="566928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8" name="Text 105"/>
          <p:cNvSpPr txBox="1"/>
          <p:nvPr/>
        </p:nvSpPr>
        <p:spPr>
          <a:xfrm>
            <a:off x="9674352" y="371246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1200" dirty="0"/>
          </a:p>
        </p:txBody>
      </p:sp>
      <p:sp>
        <p:nvSpPr>
          <p:cNvPr id="109" name="Shape 106"/>
          <p:cNvSpPr/>
          <p:nvPr/>
        </p:nvSpPr>
        <p:spPr>
          <a:xfrm>
            <a:off x="7406640" y="4279392"/>
            <a:ext cx="566928" cy="56692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0" name="Text 107"/>
          <p:cNvSpPr txBox="1"/>
          <p:nvPr/>
        </p:nvSpPr>
        <p:spPr>
          <a:xfrm>
            <a:off x="7406640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0.08</a:t>
            </a:r>
            <a:endParaRPr lang="en-US" sz="1200" dirty="0"/>
          </a:p>
        </p:txBody>
      </p:sp>
      <p:sp>
        <p:nvSpPr>
          <p:cNvPr id="111" name="Shape 108"/>
          <p:cNvSpPr/>
          <p:nvPr/>
        </p:nvSpPr>
        <p:spPr>
          <a:xfrm>
            <a:off x="7973568" y="4279392"/>
            <a:ext cx="566928" cy="566928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2" name="Text 109"/>
          <p:cNvSpPr txBox="1"/>
          <p:nvPr/>
        </p:nvSpPr>
        <p:spPr>
          <a:xfrm>
            <a:off x="7973568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0.44</a:t>
            </a:r>
            <a:endParaRPr lang="en-US" sz="1200" dirty="0"/>
          </a:p>
        </p:txBody>
      </p:sp>
      <p:sp>
        <p:nvSpPr>
          <p:cNvPr id="113" name="Shape 110"/>
          <p:cNvSpPr/>
          <p:nvPr/>
        </p:nvSpPr>
        <p:spPr>
          <a:xfrm>
            <a:off x="8540496" y="4279392"/>
            <a:ext cx="566928" cy="56692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4" name="Text 111"/>
          <p:cNvSpPr txBox="1"/>
          <p:nvPr/>
        </p:nvSpPr>
        <p:spPr>
          <a:xfrm>
            <a:off x="8540496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0.24</a:t>
            </a:r>
            <a:endParaRPr lang="en-US" sz="1200" dirty="0"/>
          </a:p>
        </p:txBody>
      </p:sp>
      <p:sp>
        <p:nvSpPr>
          <p:cNvPr id="115" name="Shape 112"/>
          <p:cNvSpPr/>
          <p:nvPr/>
        </p:nvSpPr>
        <p:spPr>
          <a:xfrm>
            <a:off x="9107424" y="4279392"/>
            <a:ext cx="566928" cy="56692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6" name="Text 113"/>
          <p:cNvSpPr txBox="1"/>
          <p:nvPr/>
        </p:nvSpPr>
        <p:spPr>
          <a:xfrm>
            <a:off x="9107424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0.11</a:t>
            </a:r>
            <a:endParaRPr lang="en-US" sz="1200" dirty="0"/>
          </a:p>
        </p:txBody>
      </p:sp>
      <p:sp>
        <p:nvSpPr>
          <p:cNvPr id="117" name="Shape 114"/>
          <p:cNvSpPr/>
          <p:nvPr/>
        </p:nvSpPr>
        <p:spPr>
          <a:xfrm>
            <a:off x="9674352" y="4279392"/>
            <a:ext cx="566928" cy="566928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8" name="Text 115"/>
          <p:cNvSpPr txBox="1"/>
          <p:nvPr/>
        </p:nvSpPr>
        <p:spPr>
          <a:xfrm>
            <a:off x="9674352" y="42793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0.13</a:t>
            </a:r>
            <a:endParaRPr lang="en-US" sz="1200" dirty="0"/>
          </a:p>
        </p:txBody>
      </p:sp>
      <p:sp>
        <p:nvSpPr>
          <p:cNvPr id="119" name="Text 116"/>
          <p:cNvSpPr txBox="1"/>
          <p:nvPr/>
        </p:nvSpPr>
        <p:spPr>
          <a:xfrm>
            <a:off x="6309360" y="20116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300" dirty="0"/>
          </a:p>
        </p:txBody>
      </p:sp>
      <p:sp>
        <p:nvSpPr>
          <p:cNvPr id="120" name="Text 117"/>
          <p:cNvSpPr txBox="1"/>
          <p:nvPr/>
        </p:nvSpPr>
        <p:spPr>
          <a:xfrm>
            <a:off x="6309360" y="25786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</a:t>
            </a:r>
            <a:endParaRPr lang="en-US" sz="1300" dirty="0"/>
          </a:p>
        </p:txBody>
      </p:sp>
      <p:sp>
        <p:nvSpPr>
          <p:cNvPr id="121" name="Text 118"/>
          <p:cNvSpPr txBox="1"/>
          <p:nvPr/>
        </p:nvSpPr>
        <p:spPr>
          <a:xfrm>
            <a:off x="6309360" y="314553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</a:t>
            </a:r>
            <a:endParaRPr lang="en-US" sz="1300" dirty="0"/>
          </a:p>
        </p:txBody>
      </p:sp>
      <p:sp>
        <p:nvSpPr>
          <p:cNvPr id="122" name="Text 119"/>
          <p:cNvSpPr txBox="1"/>
          <p:nvPr/>
        </p:nvSpPr>
        <p:spPr>
          <a:xfrm>
            <a:off x="63093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123" name="Text 120"/>
          <p:cNvSpPr txBox="1"/>
          <p:nvPr/>
        </p:nvSpPr>
        <p:spPr>
          <a:xfrm>
            <a:off x="6309360" y="427939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rainha</a:t>
            </a:r>
            <a:endParaRPr lang="en-US" sz="1300" dirty="0"/>
          </a:p>
        </p:txBody>
      </p:sp>
      <p:sp>
        <p:nvSpPr>
          <p:cNvPr id="124" name="Text 121"/>
          <p:cNvSpPr txBox="1"/>
          <p:nvPr/>
        </p:nvSpPr>
        <p:spPr>
          <a:xfrm>
            <a:off x="7132320" y="169164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</a:t>
            </a:r>
            <a:endParaRPr lang="en-US" sz="1300" dirty="0"/>
          </a:p>
        </p:txBody>
      </p:sp>
      <p:sp>
        <p:nvSpPr>
          <p:cNvPr id="125" name="Text 122"/>
          <p:cNvSpPr txBox="1"/>
          <p:nvPr/>
        </p:nvSpPr>
        <p:spPr>
          <a:xfrm>
            <a:off x="7699248" y="169164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</a:t>
            </a:r>
            <a:endParaRPr lang="en-US" sz="1300" dirty="0"/>
          </a:p>
        </p:txBody>
      </p:sp>
      <p:sp>
        <p:nvSpPr>
          <p:cNvPr id="126" name="Text 123"/>
          <p:cNvSpPr txBox="1"/>
          <p:nvPr/>
        </p:nvSpPr>
        <p:spPr>
          <a:xfrm>
            <a:off x="8266176" y="169164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protege</a:t>
            </a:r>
            <a:endParaRPr lang="en-US" sz="1300" dirty="0"/>
          </a:p>
        </p:txBody>
      </p:sp>
      <p:sp>
        <p:nvSpPr>
          <p:cNvPr id="127" name="Text 124"/>
          <p:cNvSpPr txBox="1"/>
          <p:nvPr/>
        </p:nvSpPr>
        <p:spPr>
          <a:xfrm>
            <a:off x="8833104" y="169164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128" name="Text 125"/>
          <p:cNvSpPr txBox="1"/>
          <p:nvPr/>
        </p:nvSpPr>
        <p:spPr>
          <a:xfrm>
            <a:off x="9400032" y="1691640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rainha</a:t>
            </a:r>
            <a:endParaRPr lang="en-US" sz="1300" dirty="0"/>
          </a:p>
        </p:txBody>
      </p:sp>
      <p:sp>
        <p:nvSpPr>
          <p:cNvPr id="129" name="Text 126"/>
          <p:cNvSpPr txBox="1"/>
          <p:nvPr/>
        </p:nvSpPr>
        <p:spPr>
          <a:xfrm>
            <a:off x="7406640" y="498348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pesos (cada linha soma 1)</a:t>
            </a:r>
            <a:endParaRPr lang="en-US" sz="1400" dirty="0"/>
          </a:p>
        </p:txBody>
      </p:sp>
      <p:sp>
        <p:nvSpPr>
          <p:cNvPr id="130" name="Text 127"/>
          <p:cNvSpPr txBox="1"/>
          <p:nvPr/>
        </p:nvSpPr>
        <p:spPr>
          <a:xfrm>
            <a:off x="640080" y="548640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a máscara vale 0, o score recebe −∞ antes da softmax, e o peso resultante é exatamente zero.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1 no notebook: atenção em NumPy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5544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2F5D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min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14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00:25 até 00:45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023360" y="1600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1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6126480" y="16002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 numericamente estável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10515600" y="16002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1.1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023360" y="2468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2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6126480" y="24688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atencao(Q, K, V): scores, softmax e média ponderada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0" y="24688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1.2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023360" y="3337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3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6126480" y="3337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mascara_causal(T) com np.tril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10515600" y="33375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1.4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4023360" y="42062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Executar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6126480" y="42062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experimento com √dₖ e mapas de self-attention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10515600" y="42062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1.3, 1.4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40080" y="5257800"/>
            <a:ext cx="10911535" cy="77724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14400" y="5257800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Travou por mais de 3 minutos? Use a célula [Recuperação] logo abaixo do exercício e siga adiante.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Multi-head attention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pic>
        <p:nvPicPr>
          <p:cNvPr id="6" name="Image 0" descr="/Users/giovannivasconcelos/Documents/University/tech_summit/attention/slides/assets/eq_mh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8014422" cy="50292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40080" y="3291840"/>
            <a:ext cx="1280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640080" y="329184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2200" dirty="0"/>
          </a:p>
        </p:txBody>
      </p:sp>
      <p:sp>
        <p:nvSpPr>
          <p:cNvPr id="9" name="Shape 5"/>
          <p:cNvSpPr/>
          <p:nvPr/>
        </p:nvSpPr>
        <p:spPr>
          <a:xfrm flipV="1">
            <a:off x="1965960" y="2651760"/>
            <a:ext cx="777240" cy="109728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0" name="Shape 6"/>
          <p:cNvSpPr/>
          <p:nvPr/>
        </p:nvSpPr>
        <p:spPr>
          <a:xfrm>
            <a:off x="2834640" y="2377440"/>
            <a:ext cx="2103120" cy="548640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2834640" y="23774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cabeça 1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4983480" y="2651760"/>
            <a:ext cx="960120" cy="109728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 flipV="1">
            <a:off x="1965960" y="3383280"/>
            <a:ext cx="777240" cy="36576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2834640" y="3108960"/>
            <a:ext cx="2103120" cy="548640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2834640" y="31089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cabeça 2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4983480" y="3383280"/>
            <a:ext cx="960120" cy="36576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7" name="Shape 13"/>
          <p:cNvSpPr/>
          <p:nvPr/>
        </p:nvSpPr>
        <p:spPr>
          <a:xfrm>
            <a:off x="1965960" y="3749040"/>
            <a:ext cx="777240" cy="36576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2834640" y="3840480"/>
            <a:ext cx="2103120" cy="548640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834640" y="38404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cabeça 3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 flipV="1">
            <a:off x="4983480" y="3749040"/>
            <a:ext cx="960120" cy="36576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1965960" y="3749040"/>
            <a:ext cx="777240" cy="109728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2" name="Shape 18"/>
          <p:cNvSpPr/>
          <p:nvPr/>
        </p:nvSpPr>
        <p:spPr>
          <a:xfrm>
            <a:off x="2834640" y="4572000"/>
            <a:ext cx="2103120" cy="548640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834640" y="457200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cabeça h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 flipV="1">
            <a:off x="4983480" y="3749040"/>
            <a:ext cx="960120" cy="109728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5" name="Text 21"/>
          <p:cNvSpPr txBox="1"/>
          <p:nvPr/>
        </p:nvSpPr>
        <p:spPr>
          <a:xfrm>
            <a:off x="2834640" y="4297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⋮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6035040" y="3291840"/>
            <a:ext cx="164592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035040" y="329184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Concat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7726680" y="3749040"/>
            <a:ext cx="59436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9" name="Shape 25"/>
          <p:cNvSpPr/>
          <p:nvPr/>
        </p:nvSpPr>
        <p:spPr>
          <a:xfrm>
            <a:off x="8412480" y="3291840"/>
            <a:ext cx="109728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30" name="Text 26"/>
          <p:cNvSpPr txBox="1"/>
          <p:nvPr/>
        </p:nvSpPr>
        <p:spPr>
          <a:xfrm>
            <a:off x="8412480" y="3291840"/>
            <a:ext cx="1097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W_O</a:t>
            </a:r>
            <a:endParaRPr lang="en-US" sz="1600" dirty="0"/>
          </a:p>
        </p:txBody>
      </p:sp>
      <p:sp>
        <p:nvSpPr>
          <p:cNvPr id="31" name="Shape 27"/>
          <p:cNvSpPr/>
          <p:nvPr/>
        </p:nvSpPr>
        <p:spPr>
          <a:xfrm>
            <a:off x="9555480" y="3749040"/>
            <a:ext cx="59436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32" name="Shape 28"/>
          <p:cNvSpPr/>
          <p:nvPr/>
        </p:nvSpPr>
        <p:spPr>
          <a:xfrm>
            <a:off x="10241280" y="3291840"/>
            <a:ext cx="12801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241280" y="329184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</a:t>
            </a:r>
            <a:endParaRPr lang="en-US" sz="1600" dirty="0"/>
          </a:p>
        </p:txBody>
      </p:sp>
      <p:sp>
        <p:nvSpPr>
          <p:cNvPr id="34" name="Text 30"/>
          <p:cNvSpPr txBox="1"/>
          <p:nvPr/>
        </p:nvSpPr>
        <p:spPr>
          <a:xfrm>
            <a:off x="640080" y="54864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cabeça tem suas próprias W_Q, W_K, W_V, com dimensão d_model / h.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Codificação de posição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pic>
        <p:nvPicPr>
          <p:cNvPr id="6" name="Image 0" descr="/Users/giovannivasconcelos/Documents/University/tech_summit/attention/slides/assets/eq_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7498080" cy="642693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251460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atenção é invariante a permutações da entrada: sem essa informação, “o rei protege a rainha” e “a rainha protege o rei” seriam indistinguíveis.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4160520"/>
            <a:ext cx="48463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artigo soma essa codificação ao embedding de cada token. No notebook, como no GPT, os vetores de posição são aprendidos.</a:t>
            </a:r>
            <a:endParaRPr lang="en-US" sz="1500" dirty="0"/>
          </a:p>
        </p:txBody>
      </p:sp>
      <p:pic>
        <p:nvPicPr>
          <p:cNvPr id="9" name="Image 1" descr="/Users/giovannivasconcelos/Documents/University/tech_summit/attention/slides/assets/ch_p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7861" y="2377440"/>
            <a:ext cx="4829319" cy="36576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bloco do Transformer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pic>
        <p:nvPicPr>
          <p:cNvPr id="6" name="Image 0" descr="/Users/giovannivasconcelos/Documents/University/tech_summit/attention/slides/assets/eq_bl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7596231" cy="4572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3291840"/>
            <a:ext cx="457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2400" dirty="0"/>
          </a:p>
        </p:txBody>
      </p:sp>
      <p:sp>
        <p:nvSpPr>
          <p:cNvPr id="8" name="Shape 4"/>
          <p:cNvSpPr/>
          <p:nvPr/>
        </p:nvSpPr>
        <p:spPr>
          <a:xfrm>
            <a:off x="960120" y="3703320"/>
            <a:ext cx="27432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9" name="Shape 5"/>
          <p:cNvSpPr/>
          <p:nvPr/>
        </p:nvSpPr>
        <p:spPr>
          <a:xfrm>
            <a:off x="1280160" y="3291840"/>
            <a:ext cx="1371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280160" y="329184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LayerNorm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2679192" y="3703320"/>
            <a:ext cx="219456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2926080" y="3291840"/>
            <a:ext cx="1645920" cy="822960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926080" y="3291840"/>
            <a:ext cx="1645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Multi-head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attention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4599432" y="3703320"/>
            <a:ext cx="310896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5" name="Shape 11"/>
          <p:cNvSpPr/>
          <p:nvPr/>
        </p:nvSpPr>
        <p:spPr>
          <a:xfrm>
            <a:off x="4937760" y="3429000"/>
            <a:ext cx="548640" cy="5486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1B1B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937760" y="3429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200" dirty="0"/>
          </a:p>
        </p:txBody>
      </p:sp>
      <p:sp>
        <p:nvSpPr>
          <p:cNvPr id="17" name="Shape 13"/>
          <p:cNvSpPr/>
          <p:nvPr/>
        </p:nvSpPr>
        <p:spPr>
          <a:xfrm>
            <a:off x="5513832" y="3703320"/>
            <a:ext cx="310896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8" name="Shape 14"/>
          <p:cNvSpPr/>
          <p:nvPr/>
        </p:nvSpPr>
        <p:spPr>
          <a:xfrm>
            <a:off x="5852160" y="3291840"/>
            <a:ext cx="13716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852160" y="329184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LayerNorm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7251192" y="3703320"/>
            <a:ext cx="219456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7498080" y="3291840"/>
            <a:ext cx="1371600" cy="822960"/>
          </a:xfrm>
          <a:prstGeom prst="rect">
            <a:avLst/>
          </a:prstGeom>
          <a:solidFill>
            <a:srgbClr val="F3F4F6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498080" y="329184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FFN</a:t>
            </a:r>
            <a:endParaRPr lang="en-US" sz="1400" dirty="0"/>
          </a:p>
        </p:txBody>
      </p:sp>
      <p:sp>
        <p:nvSpPr>
          <p:cNvPr id="23" name="Shape 19"/>
          <p:cNvSpPr/>
          <p:nvPr/>
        </p:nvSpPr>
        <p:spPr>
          <a:xfrm>
            <a:off x="8897112" y="3703320"/>
            <a:ext cx="265176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4" name="Shape 20"/>
          <p:cNvSpPr/>
          <p:nvPr/>
        </p:nvSpPr>
        <p:spPr>
          <a:xfrm>
            <a:off x="9189720" y="3429000"/>
            <a:ext cx="548640" cy="54864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1B1B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9189720" y="34290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</a:t>
            </a:r>
            <a:endParaRPr lang="en-US" sz="2200" dirty="0"/>
          </a:p>
        </p:txBody>
      </p:sp>
      <p:sp>
        <p:nvSpPr>
          <p:cNvPr id="26" name="Shape 22"/>
          <p:cNvSpPr/>
          <p:nvPr/>
        </p:nvSpPr>
        <p:spPr>
          <a:xfrm>
            <a:off x="9784080" y="3703320"/>
            <a:ext cx="731520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7" name="Text 23"/>
          <p:cNvSpPr txBox="1"/>
          <p:nvPr/>
        </p:nvSpPr>
        <p:spPr>
          <a:xfrm>
            <a:off x="10561320" y="329184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 flipV="1">
            <a:off x="1005840" y="2788920"/>
            <a:ext cx="0" cy="914400"/>
          </a:xfrm>
          <a:prstGeom prst="line">
            <a:avLst/>
          </a:prstGeom>
          <a:noFill/>
          <a:ln w="15875">
            <a:solidFill>
              <a:srgbClr val="9E2A2B"/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1005840" y="2788920"/>
            <a:ext cx="4160520" cy="0"/>
          </a:xfrm>
          <a:prstGeom prst="line">
            <a:avLst/>
          </a:prstGeom>
          <a:noFill/>
          <a:ln w="15875">
            <a:solidFill>
              <a:srgbClr val="9E2A2B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5166360" y="2788920"/>
            <a:ext cx="0" cy="612648"/>
          </a:xfrm>
          <a:prstGeom prst="line">
            <a:avLst/>
          </a:prstGeom>
          <a:noFill/>
          <a:ln w="15875">
            <a:solidFill>
              <a:srgbClr val="9E2A2B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 flipV="1">
            <a:off x="5577840" y="2788920"/>
            <a:ext cx="0" cy="914400"/>
          </a:xfrm>
          <a:prstGeom prst="line">
            <a:avLst/>
          </a:prstGeom>
          <a:noFill/>
          <a:ln w="15875">
            <a:solidFill>
              <a:srgbClr val="9E2A2B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577840" y="2788920"/>
            <a:ext cx="3886200" cy="0"/>
          </a:xfrm>
          <a:prstGeom prst="line">
            <a:avLst/>
          </a:prstGeom>
          <a:noFill/>
          <a:ln w="15875">
            <a:solidFill>
              <a:srgbClr val="9E2A2B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9464040" y="2788920"/>
            <a:ext cx="0" cy="612648"/>
          </a:xfrm>
          <a:prstGeom prst="line">
            <a:avLst/>
          </a:prstGeom>
          <a:noFill/>
          <a:ln w="15875">
            <a:solidFill>
              <a:srgbClr val="9E2A2B"/>
            </a:solidFill>
            <a:prstDash val="solid"/>
            <a:tailEnd type="triangle"/>
          </a:ln>
        </p:spPr>
      </p:sp>
      <p:sp>
        <p:nvSpPr>
          <p:cNvPr id="34" name="Text 30"/>
          <p:cNvSpPr txBox="1"/>
          <p:nvPr/>
        </p:nvSpPr>
        <p:spPr>
          <a:xfrm>
            <a:off x="2560320" y="2377440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conexão residual</a:t>
            </a:r>
            <a:endParaRPr lang="en-US" sz="1300" dirty="0"/>
          </a:p>
        </p:txBody>
      </p:sp>
      <p:sp>
        <p:nvSpPr>
          <p:cNvPr id="35" name="Text 31"/>
          <p:cNvSpPr txBox="1"/>
          <p:nvPr/>
        </p:nvSpPr>
        <p:spPr>
          <a:xfrm>
            <a:off x="640080" y="4892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</a:t>
            </a:r>
            <a:endParaRPr lang="en-US" sz="1700" dirty="0"/>
          </a:p>
        </p:txBody>
      </p:sp>
      <p:sp>
        <p:nvSpPr>
          <p:cNvPr id="36" name="Text 32"/>
          <p:cNvSpPr txBox="1"/>
          <p:nvPr/>
        </p:nvSpPr>
        <p:spPr>
          <a:xfrm>
            <a:off x="640080" y="528523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comunicação entre posições</a:t>
            </a:r>
            <a:endParaRPr lang="en-US" sz="1500" dirty="0"/>
          </a:p>
        </p:txBody>
      </p:sp>
      <p:sp>
        <p:nvSpPr>
          <p:cNvPr id="37" name="Text 33"/>
          <p:cNvSpPr txBox="1"/>
          <p:nvPr/>
        </p:nvSpPr>
        <p:spPr>
          <a:xfrm>
            <a:off x="4343400" y="4892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FFN</a:t>
            </a:r>
            <a:endParaRPr lang="en-US" sz="1700" dirty="0"/>
          </a:p>
        </p:txBody>
      </p:sp>
      <p:sp>
        <p:nvSpPr>
          <p:cNvPr id="38" name="Text 34"/>
          <p:cNvSpPr txBox="1"/>
          <p:nvPr/>
        </p:nvSpPr>
        <p:spPr>
          <a:xfrm>
            <a:off x="4343400" y="528523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computação em cada posição, isoladamente</a:t>
            </a:r>
            <a:endParaRPr lang="en-US" sz="1500" dirty="0"/>
          </a:p>
        </p:txBody>
      </p:sp>
      <p:sp>
        <p:nvSpPr>
          <p:cNvPr id="39" name="Text 35"/>
          <p:cNvSpPr txBox="1"/>
          <p:nvPr/>
        </p:nvSpPr>
        <p:spPr>
          <a:xfrm>
            <a:off x="8046720" y="48920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Residual + LayerNorm</a:t>
            </a:r>
            <a:endParaRPr lang="en-US" sz="1700" dirty="0"/>
          </a:p>
        </p:txBody>
      </p:sp>
      <p:sp>
        <p:nvSpPr>
          <p:cNvPr id="40" name="Text 36"/>
          <p:cNvSpPr txBox="1"/>
          <p:nvPr/>
        </p:nvSpPr>
        <p:spPr>
          <a:xfrm>
            <a:off x="8046720" y="5285232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permitem empilhar dezenas de blocos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arquitetura original: encoder-decoder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097280" y="1508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1097280" y="1965960"/>
            <a:ext cx="3291840" cy="1728216"/>
          </a:xfrm>
          <a:prstGeom prst="rect">
            <a:avLst/>
          </a:prstGeom>
          <a:solidFill>
            <a:srgbClr val="F3F4F6"/>
          </a:solidFill>
          <a:ln w="12700">
            <a:solidFill>
              <a:srgbClr val="9A9A9A"/>
            </a:solidFill>
            <a:prstDash val="dash"/>
          </a:ln>
        </p:spPr>
      </p:sp>
      <p:sp>
        <p:nvSpPr>
          <p:cNvPr id="8" name="Shape 5"/>
          <p:cNvSpPr/>
          <p:nvPr/>
        </p:nvSpPr>
        <p:spPr>
          <a:xfrm>
            <a:off x="1371600" y="2194560"/>
            <a:ext cx="2743200" cy="512064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371600" y="219456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Self-attention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1371600" y="2852928"/>
            <a:ext cx="27432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371600" y="2852928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FFN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4434840" y="20116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N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217920" y="15087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Decoder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6217920" y="1965960"/>
            <a:ext cx="3291840" cy="2386584"/>
          </a:xfrm>
          <a:prstGeom prst="rect">
            <a:avLst/>
          </a:prstGeom>
          <a:solidFill>
            <a:srgbClr val="F3F4F6"/>
          </a:solidFill>
          <a:ln w="12700">
            <a:solidFill>
              <a:srgbClr val="9A9A9A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6492240" y="2194560"/>
            <a:ext cx="2743200" cy="512064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492240" y="2194560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Self-attention causal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6492240" y="2852928"/>
            <a:ext cx="2743200" cy="512064"/>
          </a:xfrm>
          <a:prstGeom prst="rect">
            <a:avLst/>
          </a:prstGeom>
          <a:solidFill>
            <a:srgbClr val="BFD0E3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492240" y="2852928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Cross-attention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492240" y="3511296"/>
            <a:ext cx="274320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492240" y="3511296"/>
            <a:ext cx="2743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FFN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9555480" y="2011680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N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434840" y="2971800"/>
            <a:ext cx="2011680" cy="137160"/>
          </a:xfrm>
          <a:prstGeom prst="line">
            <a:avLst/>
          </a:prstGeom>
          <a:noFill/>
          <a:ln w="22225">
            <a:solidFill>
              <a:srgbClr val="9E2A2B"/>
            </a:solidFill>
            <a:prstDash val="solid"/>
            <a:tailEnd type="triangle"/>
          </a:ln>
        </p:spPr>
      </p:sp>
      <p:sp>
        <p:nvSpPr>
          <p:cNvPr id="23" name="Text 20"/>
          <p:cNvSpPr txBox="1"/>
          <p:nvPr/>
        </p:nvSpPr>
        <p:spPr>
          <a:xfrm>
            <a:off x="4206240" y="324612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e values do encoder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1097280" y="388620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king protects the queen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1097280" y="42062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frase de origem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6217920" y="45262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‹início› O rei protege a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6217920" y="48463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saída gerada até agora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9966960" y="1508760"/>
            <a:ext cx="164592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C9C9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10104120" y="1645920"/>
            <a:ext cx="1463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500"/>
              </a:spcAft>
              <a:buNone/>
            </a:pPr>
            <a:r>
              <a:rPr lang="en-US" sz="13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base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6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d_model = 512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= 8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d_ff = 2048</a:t>
            </a:r>
            <a:endParaRPr lang="en-US" sz="1300" dirty="0"/>
          </a:p>
          <a:p>
            <a:pPr indent="0" marL="0">
              <a:spcAft>
                <a:spcPts val="500"/>
              </a:spcAft>
              <a:buNone/>
            </a:pPr>
            <a:r>
              <a:rPr lang="en-US" sz="13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65M parâmetros</a:t>
            </a:r>
            <a:endParaRPr lang="en-US" sz="1300" dirty="0"/>
          </a:p>
        </p:txBody>
      </p:sp>
      <p:sp>
        <p:nvSpPr>
          <p:cNvPr id="30" name="Text 27"/>
          <p:cNvSpPr txBox="1"/>
          <p:nvPr/>
        </p:nvSpPr>
        <p:spPr>
          <a:xfrm>
            <a:off x="640080" y="55321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Hoje construímos apenas a pilha do decoder, sem a cross-attention. Essa é a arquitetura do GPT.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famílias a partir do mesmo bloco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1153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834640"/>
                <a:gridCol w="3017520"/>
                <a:gridCol w="27733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Família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Atenção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Objetivo de treino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Exemplos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Encoder-only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bidirecional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preencher tokens mascarados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BERT, RoBERTa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Decoder-only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causal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prever o próximo token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9E2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GPT, Llama, Claude, este workshop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Encoder-decoder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bidirecional + causal + cruzada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gerar a saída condicionada à entrada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Transformer original, T5, Whisper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40080" y="480060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objetivo “prever o próximo token” é simples o bastante para usar qualquer texto como dado de treino, sem rotulação manual. Esse é o principal motivo de a família decoder-only ter se tornado dominante.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modelo completo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40080" y="2194560"/>
            <a:ext cx="14630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640080" y="219456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3429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(B, T)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2130552" y="2743200"/>
            <a:ext cx="338328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496312" y="2194560"/>
            <a:ext cx="14630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496312" y="219456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posição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2496312" y="3429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(B, T, C)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3986784" y="2743200"/>
            <a:ext cx="338328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4352544" y="2194560"/>
            <a:ext cx="1463040" cy="1097280"/>
          </a:xfrm>
          <a:prstGeom prst="rect">
            <a:avLst/>
          </a:prstGeom>
          <a:solidFill>
            <a:srgbClr val="E8EEF5"/>
          </a:solidFill>
          <a:ln w="12700">
            <a:solidFill>
              <a:srgbClr val="2F5D8A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352544" y="219456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× N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352544" y="3429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(B, T, C)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843016" y="2743200"/>
            <a:ext cx="338328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6208776" y="2194560"/>
            <a:ext cx="14630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208776" y="219456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LayerNorm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6208776" y="3429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(B, T, C)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7699248" y="2743200"/>
            <a:ext cx="338328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8065008" y="2194560"/>
            <a:ext cx="146304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8065008" y="219456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linear</a:t>
            </a:r>
            <a:endParaRPr lang="en-US" sz="1400" dirty="0"/>
          </a:p>
        </p:txBody>
      </p:sp>
      <p:sp>
        <p:nvSpPr>
          <p:cNvPr id="24" name="Text 21"/>
          <p:cNvSpPr txBox="1"/>
          <p:nvPr/>
        </p:nvSpPr>
        <p:spPr>
          <a:xfrm>
            <a:off x="8065008" y="3429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(B, T, V)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9555480" y="2743200"/>
            <a:ext cx="338328" cy="0"/>
          </a:xfrm>
          <a:prstGeom prst="line">
            <a:avLst/>
          </a:prstGeom>
          <a:noFill/>
          <a:ln w="15875">
            <a:solidFill>
              <a:srgbClr val="1B1B1B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>
            <a:off x="9921240" y="2194560"/>
            <a:ext cx="1463040" cy="1097280"/>
          </a:xfrm>
          <a:prstGeom prst="rect">
            <a:avLst/>
          </a:prstGeom>
          <a:solidFill>
            <a:srgbClr val="F3F4F6"/>
          </a:solidFill>
          <a:ln w="12700">
            <a:solidFill>
              <a:srgbClr val="1B1B1B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9921240" y="2194560"/>
            <a:ext cx="1463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9921240" y="342900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p(próximo)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640080" y="41148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= lote  ·  T = posições  ·  C = n_embd  ·  V = tamanho do vocabulário</a:t>
            </a:r>
            <a:endParaRPr lang="en-US" sz="1400" dirty="0"/>
          </a:p>
        </p:txBody>
      </p:sp>
      <p:pic>
        <p:nvPicPr>
          <p:cNvPr id="30" name="Image 0" descr="/Users/giovannivasconcelos/Documents/University/tech_summit/attention/slides/assets/eq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4572000"/>
            <a:ext cx="4616291" cy="1097280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5760720" y="4800600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passada pela sequência produz T previsões, todas treinadas em paralelo.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2 no notebook: o Transformer em PyTorch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5544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2F5D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min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14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00:55 até 01:15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023360" y="16002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4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6126480" y="16002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Head.forward: a atenção com lote e máscara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10515600" y="16002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2.2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4023360" y="24688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5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6126480" y="246888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MultiHeadAttention: concatenar as cabeças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0515600" y="246888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2.3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4023360" y="33375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 6</a:t>
            </a:r>
            <a:endParaRPr lang="en-US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6126480" y="33375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Block: as duas conexões residuais</a:t>
            </a:r>
            <a:endParaRPr lang="en-US" sz="1700" dirty="0"/>
          </a:p>
        </p:txBody>
      </p:sp>
      <p:sp>
        <p:nvSpPr>
          <p:cNvPr id="16" name="Text 13"/>
          <p:cNvSpPr txBox="1"/>
          <p:nvPr/>
        </p:nvSpPr>
        <p:spPr>
          <a:xfrm>
            <a:off x="10515600" y="333756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2.4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4023360" y="42062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Executar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6126480" y="420624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treinar o modelo de ordenação e ver a atenção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10515600" y="42062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2.6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640080" y="5257800"/>
            <a:ext cx="10911535" cy="77724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14400" y="5257800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 ao shape: </a:t>
            </a:r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tensores (B, T, C), use k.transpose(-2, -1), e não k.T.</a:t>
            </a:r>
            <a:endParaRPr lang="en-US" sz="17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 modelo de ordenação aprendeu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pic>
        <p:nvPicPr>
          <p:cNvPr id="6" name="Image 0" descr="/Users/giovannivasconcelos/Documents/University/tech_summit/attention/slides/assets/sort_heat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08760"/>
            <a:ext cx="7139823" cy="42062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145663" y="1645920"/>
            <a:ext cx="3405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Entrada: 3 1 4 1 5 9 2 6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8145663" y="2240280"/>
            <a:ext cx="34059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linha é um passo da geração; cada coluna, uma posição observada.</a:t>
            </a:r>
            <a:endParaRPr lang="en-US" sz="1600" dirty="0"/>
          </a:p>
        </p:txBody>
      </p:sp>
      <p:sp>
        <p:nvSpPr>
          <p:cNvPr id="9" name="Text 5"/>
          <p:cNvSpPr txBox="1"/>
          <p:nvPr/>
        </p:nvSpPr>
        <p:spPr>
          <a:xfrm>
            <a:off x="8145663" y="3200400"/>
            <a:ext cx="340595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cada passo, a cabeça se concentra no dígito da entrada que será escrito a seguir.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8145663" y="4343400"/>
            <a:ext cx="34059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regra não foi programada: ela emergiu do treino.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40080" y="58064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 2, cabeça 0. A linha tracejada separa entrada e saída.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INTERVALO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173736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Intervalo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26974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i="1" dirty="0">
                <a:solidFill>
                  <a:srgbClr val="5F5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minutos</a:t>
            </a:r>
            <a:endParaRPr lang="en-US" sz="2600" dirty="0"/>
          </a:p>
        </p:txBody>
      </p:sp>
      <p:sp>
        <p:nvSpPr>
          <p:cNvPr id="7" name="Shape 4"/>
          <p:cNvSpPr/>
          <p:nvPr/>
        </p:nvSpPr>
        <p:spPr>
          <a:xfrm>
            <a:off x="640080" y="3840480"/>
            <a:ext cx="6766560" cy="146304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14400" y="4023360"/>
            <a:ext cx="6309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sair, execute as seções 3.1 e 3.2.</a:t>
            </a:r>
            <a:endParaRPr lang="en-US" sz="19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modelo de xadrez treina por 6 minutos enquanto isso.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8229600" y="173736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631936" y="173736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034272" y="173736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9436608" y="173736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9838944" y="173736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10241280" y="173736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643616" y="173736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1045952" y="173736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229600" y="213969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631936" y="213969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034272" y="213969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9436608" y="213969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838944" y="213969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10241280" y="213969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643616" y="213969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1045952" y="213969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8229600" y="254203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631936" y="254203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034272" y="254203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436608" y="254203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9838944" y="254203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241280" y="254203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643616" y="254203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1045952" y="254203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8229600" y="294436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8631936" y="294436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9034272" y="294436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9436608" y="294436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9838944" y="294436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10241280" y="294436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0643616" y="2944368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1045952" y="2944368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229600" y="334670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8631936" y="334670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9034272" y="334670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9436608" y="334670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9838944" y="334670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10241280" y="334670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10643616" y="3346704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11045952" y="3346704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8229600" y="374904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8631936" y="374904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9034272" y="374904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9436608" y="374904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9838944" y="374904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10241280" y="374904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0643616" y="3749040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1045952" y="3749040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8229600" y="415137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8631936" y="415137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9034272" y="415137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9436608" y="415137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9838944" y="415137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10241280" y="415137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10643616" y="4151376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1045952" y="4151376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8229600" y="455371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8631936" y="455371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9034272" y="455371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9436608" y="455371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9838944" y="455371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10241280" y="455371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1" name="Shape 68"/>
          <p:cNvSpPr/>
          <p:nvPr/>
        </p:nvSpPr>
        <p:spPr>
          <a:xfrm>
            <a:off x="10643616" y="4553712"/>
            <a:ext cx="402336" cy="402336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11045952" y="4553712"/>
            <a:ext cx="402336" cy="402336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3" name="Shape 70"/>
          <p:cNvSpPr/>
          <p:nvPr/>
        </p:nvSpPr>
        <p:spPr>
          <a:xfrm>
            <a:off x="8229600" y="1737360"/>
            <a:ext cx="3218688" cy="3218688"/>
          </a:xfrm>
          <a:prstGeom prst="rect">
            <a:avLst/>
          </a:prstGeom>
          <a:ln w="12700">
            <a:solidFill>
              <a:srgbClr val="1B1B1B"/>
            </a:solidFill>
            <a:prstDash val="solid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XADREZ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Xadrez como linguagem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40080" y="1600200"/>
            <a:ext cx="6583680" cy="118872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914400" y="1737360"/>
            <a:ext cx="6217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;1.e4 e5 2.Nf3 Nc6 3.Bb5 a6</a:t>
            </a:r>
            <a:endParaRPr lang="en-US" sz="18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4.Ba4 Nf6 5.O-O Be7 6.Re1 b5 ...</a:t>
            </a:r>
            <a:endParaRPr lang="en-US" sz="18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589520" y="1600200"/>
          <a:ext cx="395935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249631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Símbolo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Significado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 B  R  Q  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cavalo, bispo, torre, dama, rei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e4, Nf3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casa de destino (peão quando não há letra)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  #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xeque, xeque-mate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O-O  O-O-O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roque pequeno, roque grande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5"/>
          <p:cNvSpPr txBox="1"/>
          <p:nvPr/>
        </p:nvSpPr>
        <p:spPr>
          <a:xfrm>
            <a:off x="640080" y="31546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Vocabulário completo: 33 caracteres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640080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64008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⏎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1024128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102412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␣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1408176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140817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792224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792224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2176272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176272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2560320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256032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2944368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94436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300" dirty="0"/>
          </a:p>
        </p:txBody>
      </p:sp>
      <p:sp>
        <p:nvSpPr>
          <p:cNvPr id="24" name="Shape 20"/>
          <p:cNvSpPr/>
          <p:nvPr/>
        </p:nvSpPr>
        <p:spPr>
          <a:xfrm>
            <a:off x="3328416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32841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26" name="Shape 22"/>
          <p:cNvSpPr/>
          <p:nvPr/>
        </p:nvSpPr>
        <p:spPr>
          <a:xfrm>
            <a:off x="3712464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3712464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4096512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4096512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30" name="Shape 26"/>
          <p:cNvSpPr/>
          <p:nvPr/>
        </p:nvSpPr>
        <p:spPr>
          <a:xfrm>
            <a:off x="4480560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48056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4864608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486460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5248656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5248656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Shape 32"/>
          <p:cNvSpPr/>
          <p:nvPr/>
        </p:nvSpPr>
        <p:spPr>
          <a:xfrm>
            <a:off x="5632704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5632704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300" dirty="0"/>
          </a:p>
        </p:txBody>
      </p:sp>
      <p:sp>
        <p:nvSpPr>
          <p:cNvPr id="38" name="Shape 34"/>
          <p:cNvSpPr/>
          <p:nvPr/>
        </p:nvSpPr>
        <p:spPr>
          <a:xfrm>
            <a:off x="6016752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6016752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6400800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6400800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>
            <a:off x="6784848" y="3611880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784848" y="36118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300" dirty="0"/>
          </a:p>
        </p:txBody>
      </p:sp>
      <p:sp>
        <p:nvSpPr>
          <p:cNvPr id="44" name="Shape 40"/>
          <p:cNvSpPr/>
          <p:nvPr/>
        </p:nvSpPr>
        <p:spPr>
          <a:xfrm>
            <a:off x="640080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40080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24128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024128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300" dirty="0"/>
          </a:p>
        </p:txBody>
      </p:sp>
      <p:sp>
        <p:nvSpPr>
          <p:cNvPr id="48" name="Shape 44"/>
          <p:cNvSpPr/>
          <p:nvPr/>
        </p:nvSpPr>
        <p:spPr>
          <a:xfrm>
            <a:off x="1408176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1408176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endParaRPr lang="en-US" sz="1300" dirty="0"/>
          </a:p>
        </p:txBody>
      </p:sp>
      <p:sp>
        <p:nvSpPr>
          <p:cNvPr id="50" name="Shape 46"/>
          <p:cNvSpPr/>
          <p:nvPr/>
        </p:nvSpPr>
        <p:spPr>
          <a:xfrm>
            <a:off x="1792224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1792224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>
            <a:off x="2176272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2176272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</a:t>
            </a:r>
            <a:endParaRPr lang="en-US" sz="1300" dirty="0"/>
          </a:p>
        </p:txBody>
      </p:sp>
      <p:sp>
        <p:nvSpPr>
          <p:cNvPr id="54" name="Shape 50"/>
          <p:cNvSpPr/>
          <p:nvPr/>
        </p:nvSpPr>
        <p:spPr>
          <a:xfrm>
            <a:off x="2560320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2560320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</a:t>
            </a:r>
            <a:endParaRPr lang="en-US" sz="1300" dirty="0"/>
          </a:p>
        </p:txBody>
      </p:sp>
      <p:sp>
        <p:nvSpPr>
          <p:cNvPr id="56" name="Shape 52"/>
          <p:cNvSpPr/>
          <p:nvPr/>
        </p:nvSpPr>
        <p:spPr>
          <a:xfrm>
            <a:off x="2944368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2944368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endParaRPr lang="en-US" sz="1300" dirty="0"/>
          </a:p>
        </p:txBody>
      </p:sp>
      <p:sp>
        <p:nvSpPr>
          <p:cNvPr id="58" name="Shape 54"/>
          <p:cNvSpPr/>
          <p:nvPr/>
        </p:nvSpPr>
        <p:spPr>
          <a:xfrm>
            <a:off x="3328416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3328416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</a:t>
            </a:r>
            <a:endParaRPr lang="en-US" sz="1300" dirty="0"/>
          </a:p>
        </p:txBody>
      </p:sp>
      <p:sp>
        <p:nvSpPr>
          <p:cNvPr id="60" name="Shape 56"/>
          <p:cNvSpPr/>
          <p:nvPr/>
        </p:nvSpPr>
        <p:spPr>
          <a:xfrm>
            <a:off x="3712464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3712464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</a:t>
            </a:r>
            <a:endParaRPr lang="en-US" sz="1300" dirty="0"/>
          </a:p>
        </p:txBody>
      </p:sp>
      <p:sp>
        <p:nvSpPr>
          <p:cNvPr id="62" name="Shape 58"/>
          <p:cNvSpPr/>
          <p:nvPr/>
        </p:nvSpPr>
        <p:spPr>
          <a:xfrm>
            <a:off x="4096512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3" name="Text 59"/>
          <p:cNvSpPr txBox="1"/>
          <p:nvPr/>
        </p:nvSpPr>
        <p:spPr>
          <a:xfrm>
            <a:off x="4096512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300" dirty="0"/>
          </a:p>
        </p:txBody>
      </p:sp>
      <p:sp>
        <p:nvSpPr>
          <p:cNvPr id="64" name="Shape 60"/>
          <p:cNvSpPr/>
          <p:nvPr/>
        </p:nvSpPr>
        <p:spPr>
          <a:xfrm>
            <a:off x="4480560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5" name="Text 61"/>
          <p:cNvSpPr txBox="1"/>
          <p:nvPr/>
        </p:nvSpPr>
        <p:spPr>
          <a:xfrm>
            <a:off x="4480560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endParaRPr lang="en-US" sz="1300" dirty="0"/>
          </a:p>
        </p:txBody>
      </p:sp>
      <p:sp>
        <p:nvSpPr>
          <p:cNvPr id="66" name="Shape 62"/>
          <p:cNvSpPr/>
          <p:nvPr/>
        </p:nvSpPr>
        <p:spPr>
          <a:xfrm>
            <a:off x="4864608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7" name="Text 63"/>
          <p:cNvSpPr txBox="1"/>
          <p:nvPr/>
        </p:nvSpPr>
        <p:spPr>
          <a:xfrm>
            <a:off x="4864608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300" dirty="0"/>
          </a:p>
        </p:txBody>
      </p:sp>
      <p:sp>
        <p:nvSpPr>
          <p:cNvPr id="68" name="Shape 64"/>
          <p:cNvSpPr/>
          <p:nvPr/>
        </p:nvSpPr>
        <p:spPr>
          <a:xfrm>
            <a:off x="5248656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9" name="Text 65"/>
          <p:cNvSpPr txBox="1"/>
          <p:nvPr/>
        </p:nvSpPr>
        <p:spPr>
          <a:xfrm>
            <a:off x="5248656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1300" dirty="0"/>
          </a:p>
        </p:txBody>
      </p:sp>
      <p:sp>
        <p:nvSpPr>
          <p:cNvPr id="70" name="Shape 66"/>
          <p:cNvSpPr/>
          <p:nvPr/>
        </p:nvSpPr>
        <p:spPr>
          <a:xfrm>
            <a:off x="5632704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1" name="Text 67"/>
          <p:cNvSpPr txBox="1"/>
          <p:nvPr/>
        </p:nvSpPr>
        <p:spPr>
          <a:xfrm>
            <a:off x="5632704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</a:t>
            </a:r>
            <a:endParaRPr lang="en-US" sz="1300" dirty="0"/>
          </a:p>
        </p:txBody>
      </p:sp>
      <p:sp>
        <p:nvSpPr>
          <p:cNvPr id="72" name="Shape 68"/>
          <p:cNvSpPr/>
          <p:nvPr/>
        </p:nvSpPr>
        <p:spPr>
          <a:xfrm>
            <a:off x="6016752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3" name="Text 69"/>
          <p:cNvSpPr txBox="1"/>
          <p:nvPr/>
        </p:nvSpPr>
        <p:spPr>
          <a:xfrm>
            <a:off x="6016752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endParaRPr lang="en-US" sz="1300" dirty="0"/>
          </a:p>
        </p:txBody>
      </p:sp>
      <p:sp>
        <p:nvSpPr>
          <p:cNvPr id="74" name="Shape 70"/>
          <p:cNvSpPr/>
          <p:nvPr/>
        </p:nvSpPr>
        <p:spPr>
          <a:xfrm>
            <a:off x="6400800" y="3995928"/>
            <a:ext cx="384048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5" name="Text 71"/>
          <p:cNvSpPr txBox="1"/>
          <p:nvPr/>
        </p:nvSpPr>
        <p:spPr>
          <a:xfrm>
            <a:off x="6400800" y="39959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</a:t>
            </a:r>
            <a:endParaRPr lang="en-US" sz="1300" dirty="0"/>
          </a:p>
        </p:txBody>
      </p:sp>
      <p:sp>
        <p:nvSpPr>
          <p:cNvPr id="76" name="Text 72"/>
          <p:cNvSpPr txBox="1"/>
          <p:nvPr/>
        </p:nvSpPr>
        <p:spPr>
          <a:xfrm>
            <a:off x="640080" y="4663440"/>
            <a:ext cx="6766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mil partidas do Lichess (2013), rating médio ≥ 1500, 24 milhões de caracteres. Cada caractere é um token.</a:t>
            </a:r>
            <a:endParaRPr lang="en-US" sz="15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XADREZ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mesmo objetivo, outro texto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005840" y="182880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05840" y="2441448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173736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73736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173736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73736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224028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224028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224028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224028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274320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274320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274320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274320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324612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24612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324612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324612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374904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7490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374904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374904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␣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425196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9" name="Text 26"/>
          <p:cNvSpPr txBox="1"/>
          <p:nvPr/>
        </p:nvSpPr>
        <p:spPr>
          <a:xfrm>
            <a:off x="425196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␣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425196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425196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600" dirty="0"/>
          </a:p>
        </p:txBody>
      </p:sp>
      <p:sp>
        <p:nvSpPr>
          <p:cNvPr id="32" name="Shape 29"/>
          <p:cNvSpPr/>
          <p:nvPr/>
        </p:nvSpPr>
        <p:spPr>
          <a:xfrm>
            <a:off x="475488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475488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</a:t>
            </a:r>
            <a:endParaRPr lang="en-US" sz="1600" dirty="0"/>
          </a:p>
        </p:txBody>
      </p:sp>
      <p:sp>
        <p:nvSpPr>
          <p:cNvPr id="34" name="Shape 31"/>
          <p:cNvSpPr/>
          <p:nvPr/>
        </p:nvSpPr>
        <p:spPr>
          <a:xfrm>
            <a:off x="475488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75488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600" dirty="0"/>
          </a:p>
        </p:txBody>
      </p:sp>
      <p:sp>
        <p:nvSpPr>
          <p:cNvPr id="36" name="Shape 33"/>
          <p:cNvSpPr/>
          <p:nvPr/>
        </p:nvSpPr>
        <p:spPr>
          <a:xfrm>
            <a:off x="525780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525780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600" dirty="0"/>
          </a:p>
        </p:txBody>
      </p:sp>
      <p:sp>
        <p:nvSpPr>
          <p:cNvPr id="38" name="Shape 35"/>
          <p:cNvSpPr/>
          <p:nvPr/>
        </p:nvSpPr>
        <p:spPr>
          <a:xfrm>
            <a:off x="525780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525780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␣</a:t>
            </a:r>
            <a:endParaRPr lang="en-US" sz="1600" dirty="0"/>
          </a:p>
        </p:txBody>
      </p:sp>
      <p:sp>
        <p:nvSpPr>
          <p:cNvPr id="40" name="Shape 37"/>
          <p:cNvSpPr/>
          <p:nvPr/>
        </p:nvSpPr>
        <p:spPr>
          <a:xfrm>
            <a:off x="576072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576072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␣</a:t>
            </a:r>
            <a:endParaRPr lang="en-US" sz="1600" dirty="0"/>
          </a:p>
        </p:txBody>
      </p:sp>
      <p:sp>
        <p:nvSpPr>
          <p:cNvPr id="42" name="Shape 39"/>
          <p:cNvSpPr/>
          <p:nvPr/>
        </p:nvSpPr>
        <p:spPr>
          <a:xfrm>
            <a:off x="576072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576072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600" dirty="0"/>
          </a:p>
        </p:txBody>
      </p:sp>
      <p:sp>
        <p:nvSpPr>
          <p:cNvPr id="44" name="Shape 41"/>
          <p:cNvSpPr/>
          <p:nvPr/>
        </p:nvSpPr>
        <p:spPr>
          <a:xfrm>
            <a:off x="626364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2636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600" dirty="0"/>
          </a:p>
        </p:txBody>
      </p:sp>
      <p:sp>
        <p:nvSpPr>
          <p:cNvPr id="46" name="Shape 43"/>
          <p:cNvSpPr/>
          <p:nvPr/>
        </p:nvSpPr>
        <p:spPr>
          <a:xfrm>
            <a:off x="626364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47" name="Text 44"/>
          <p:cNvSpPr txBox="1"/>
          <p:nvPr/>
        </p:nvSpPr>
        <p:spPr>
          <a:xfrm>
            <a:off x="626364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600" dirty="0"/>
          </a:p>
        </p:txBody>
      </p:sp>
      <p:sp>
        <p:nvSpPr>
          <p:cNvPr id="48" name="Shape 45"/>
          <p:cNvSpPr/>
          <p:nvPr/>
        </p:nvSpPr>
        <p:spPr>
          <a:xfrm>
            <a:off x="676656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676656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600" dirty="0"/>
          </a:p>
        </p:txBody>
      </p:sp>
      <p:sp>
        <p:nvSpPr>
          <p:cNvPr id="50" name="Shape 47"/>
          <p:cNvSpPr/>
          <p:nvPr/>
        </p:nvSpPr>
        <p:spPr>
          <a:xfrm>
            <a:off x="676656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51" name="Text 48"/>
          <p:cNvSpPr txBox="1"/>
          <p:nvPr/>
        </p:nvSpPr>
        <p:spPr>
          <a:xfrm>
            <a:off x="676656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600" dirty="0"/>
          </a:p>
        </p:txBody>
      </p:sp>
      <p:sp>
        <p:nvSpPr>
          <p:cNvPr id="52" name="Shape 49"/>
          <p:cNvSpPr/>
          <p:nvPr/>
        </p:nvSpPr>
        <p:spPr>
          <a:xfrm>
            <a:off x="726948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3" name="Text 50"/>
          <p:cNvSpPr txBox="1"/>
          <p:nvPr/>
        </p:nvSpPr>
        <p:spPr>
          <a:xfrm>
            <a:off x="726948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600" dirty="0"/>
          </a:p>
        </p:txBody>
      </p:sp>
      <p:sp>
        <p:nvSpPr>
          <p:cNvPr id="54" name="Shape 51"/>
          <p:cNvSpPr/>
          <p:nvPr/>
        </p:nvSpPr>
        <p:spPr>
          <a:xfrm>
            <a:off x="726948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55" name="Text 52"/>
          <p:cNvSpPr txBox="1"/>
          <p:nvPr/>
        </p:nvSpPr>
        <p:spPr>
          <a:xfrm>
            <a:off x="726948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1600" dirty="0"/>
          </a:p>
        </p:txBody>
      </p:sp>
      <p:sp>
        <p:nvSpPr>
          <p:cNvPr id="56" name="Shape 53"/>
          <p:cNvSpPr/>
          <p:nvPr/>
        </p:nvSpPr>
        <p:spPr>
          <a:xfrm>
            <a:off x="777240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57" name="Text 54"/>
          <p:cNvSpPr txBox="1"/>
          <p:nvPr/>
        </p:nvSpPr>
        <p:spPr>
          <a:xfrm>
            <a:off x="777240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</a:t>
            </a:r>
            <a:endParaRPr lang="en-US" sz="1600" dirty="0"/>
          </a:p>
        </p:txBody>
      </p:sp>
      <p:sp>
        <p:nvSpPr>
          <p:cNvPr id="58" name="Shape 55"/>
          <p:cNvSpPr/>
          <p:nvPr/>
        </p:nvSpPr>
        <p:spPr>
          <a:xfrm>
            <a:off x="777240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59" name="Text 56"/>
          <p:cNvSpPr txBox="1"/>
          <p:nvPr/>
        </p:nvSpPr>
        <p:spPr>
          <a:xfrm>
            <a:off x="777240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600" dirty="0"/>
          </a:p>
        </p:txBody>
      </p:sp>
      <p:sp>
        <p:nvSpPr>
          <p:cNvPr id="60" name="Shape 57"/>
          <p:cNvSpPr/>
          <p:nvPr/>
        </p:nvSpPr>
        <p:spPr>
          <a:xfrm>
            <a:off x="827532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1" name="Text 58"/>
          <p:cNvSpPr txBox="1"/>
          <p:nvPr/>
        </p:nvSpPr>
        <p:spPr>
          <a:xfrm>
            <a:off x="827532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600" dirty="0"/>
          </a:p>
        </p:txBody>
      </p:sp>
      <p:sp>
        <p:nvSpPr>
          <p:cNvPr id="62" name="Shape 59"/>
          <p:cNvSpPr/>
          <p:nvPr/>
        </p:nvSpPr>
        <p:spPr>
          <a:xfrm>
            <a:off x="827532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63" name="Text 60"/>
          <p:cNvSpPr txBox="1"/>
          <p:nvPr/>
        </p:nvSpPr>
        <p:spPr>
          <a:xfrm>
            <a:off x="827532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␣</a:t>
            </a:r>
            <a:endParaRPr lang="en-US" sz="1600" dirty="0"/>
          </a:p>
        </p:txBody>
      </p:sp>
      <p:sp>
        <p:nvSpPr>
          <p:cNvPr id="64" name="Shape 61"/>
          <p:cNvSpPr/>
          <p:nvPr/>
        </p:nvSpPr>
        <p:spPr>
          <a:xfrm>
            <a:off x="877824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87782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␣</a:t>
            </a:r>
            <a:endParaRPr lang="en-US" sz="1600" dirty="0"/>
          </a:p>
        </p:txBody>
      </p:sp>
      <p:sp>
        <p:nvSpPr>
          <p:cNvPr id="66" name="Shape 63"/>
          <p:cNvSpPr/>
          <p:nvPr/>
        </p:nvSpPr>
        <p:spPr>
          <a:xfrm>
            <a:off x="877824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67" name="Text 64"/>
          <p:cNvSpPr txBox="1"/>
          <p:nvPr/>
        </p:nvSpPr>
        <p:spPr>
          <a:xfrm>
            <a:off x="877824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600" dirty="0"/>
          </a:p>
        </p:txBody>
      </p:sp>
      <p:sp>
        <p:nvSpPr>
          <p:cNvPr id="68" name="Shape 65"/>
          <p:cNvSpPr/>
          <p:nvPr/>
        </p:nvSpPr>
        <p:spPr>
          <a:xfrm>
            <a:off x="928116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69" name="Text 66"/>
          <p:cNvSpPr txBox="1"/>
          <p:nvPr/>
        </p:nvSpPr>
        <p:spPr>
          <a:xfrm>
            <a:off x="928116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endParaRPr lang="en-US" sz="1600" dirty="0"/>
          </a:p>
        </p:txBody>
      </p:sp>
      <p:sp>
        <p:nvSpPr>
          <p:cNvPr id="70" name="Shape 67"/>
          <p:cNvSpPr/>
          <p:nvPr/>
        </p:nvSpPr>
        <p:spPr>
          <a:xfrm>
            <a:off x="928116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928116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600" dirty="0"/>
          </a:p>
        </p:txBody>
      </p:sp>
      <p:sp>
        <p:nvSpPr>
          <p:cNvPr id="72" name="Shape 69"/>
          <p:cNvSpPr/>
          <p:nvPr/>
        </p:nvSpPr>
        <p:spPr>
          <a:xfrm>
            <a:off x="978408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3" name="Text 70"/>
          <p:cNvSpPr txBox="1"/>
          <p:nvPr/>
        </p:nvSpPr>
        <p:spPr>
          <a:xfrm>
            <a:off x="978408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endParaRPr lang="en-US" sz="1600" dirty="0"/>
          </a:p>
        </p:txBody>
      </p:sp>
      <p:sp>
        <p:nvSpPr>
          <p:cNvPr id="74" name="Shape 71"/>
          <p:cNvSpPr/>
          <p:nvPr/>
        </p:nvSpPr>
        <p:spPr>
          <a:xfrm>
            <a:off x="978408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75" name="Text 72"/>
          <p:cNvSpPr txBox="1"/>
          <p:nvPr/>
        </p:nvSpPr>
        <p:spPr>
          <a:xfrm>
            <a:off x="978408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600" dirty="0"/>
          </a:p>
        </p:txBody>
      </p:sp>
      <p:sp>
        <p:nvSpPr>
          <p:cNvPr id="76" name="Shape 73"/>
          <p:cNvSpPr/>
          <p:nvPr/>
        </p:nvSpPr>
        <p:spPr>
          <a:xfrm>
            <a:off x="10287000" y="1828800"/>
            <a:ext cx="50292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77" name="Text 74"/>
          <p:cNvSpPr txBox="1"/>
          <p:nvPr/>
        </p:nvSpPr>
        <p:spPr>
          <a:xfrm>
            <a:off x="1028700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600" dirty="0"/>
          </a:p>
        </p:txBody>
      </p:sp>
      <p:sp>
        <p:nvSpPr>
          <p:cNvPr id="78" name="Shape 75"/>
          <p:cNvSpPr/>
          <p:nvPr/>
        </p:nvSpPr>
        <p:spPr>
          <a:xfrm>
            <a:off x="10287000" y="2441448"/>
            <a:ext cx="502920" cy="502920"/>
          </a:xfrm>
          <a:prstGeom prst="rect">
            <a:avLst/>
          </a:prstGeom>
          <a:solidFill>
            <a:srgbClr val="E8EEF5"/>
          </a:solidFill>
          <a:ln w="9525">
            <a:solidFill>
              <a:srgbClr val="BFD0E3"/>
            </a:solidFill>
            <a:prstDash val="solid"/>
          </a:ln>
        </p:spPr>
      </p:sp>
      <p:sp>
        <p:nvSpPr>
          <p:cNvPr id="79" name="Text 76"/>
          <p:cNvSpPr txBox="1"/>
          <p:nvPr/>
        </p:nvSpPr>
        <p:spPr>
          <a:xfrm>
            <a:off x="10287000" y="24414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␣</a:t>
            </a:r>
            <a:endParaRPr lang="en-US" sz="1600" dirty="0"/>
          </a:p>
        </p:txBody>
      </p:sp>
      <p:sp>
        <p:nvSpPr>
          <p:cNvPr id="80" name="Text 77"/>
          <p:cNvSpPr txBox="1"/>
          <p:nvPr/>
        </p:nvSpPr>
        <p:spPr>
          <a:xfrm>
            <a:off x="640080" y="33375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alvo y é a própria entrada deslocada em uma posição. Não há rotulação manual.</a:t>
            </a:r>
            <a:endParaRPr lang="en-US" sz="1800" dirty="0"/>
          </a:p>
        </p:txBody>
      </p:sp>
      <p:sp>
        <p:nvSpPr>
          <p:cNvPr id="81" name="Text 78"/>
          <p:cNvSpPr txBox="1"/>
          <p:nvPr/>
        </p:nvSpPr>
        <p:spPr>
          <a:xfrm>
            <a:off x="640080" y="41605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F5D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0,8M</a:t>
            </a:r>
            <a:endParaRPr lang="en-US" sz="4000" dirty="0"/>
          </a:p>
        </p:txBody>
      </p:sp>
      <p:sp>
        <p:nvSpPr>
          <p:cNvPr id="82" name="Text 79"/>
          <p:cNvSpPr txBox="1"/>
          <p:nvPr/>
        </p:nvSpPr>
        <p:spPr>
          <a:xfrm>
            <a:off x="640080" y="4983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parâmetros</a:t>
            </a:r>
            <a:endParaRPr lang="en-US" sz="1500" dirty="0"/>
          </a:p>
        </p:txBody>
      </p:sp>
      <p:sp>
        <p:nvSpPr>
          <p:cNvPr id="83" name="Text 80"/>
          <p:cNvSpPr txBox="1"/>
          <p:nvPr/>
        </p:nvSpPr>
        <p:spPr>
          <a:xfrm>
            <a:off x="3383280" y="41605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F5D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× 4</a:t>
            </a:r>
            <a:endParaRPr lang="en-US" sz="4000" dirty="0"/>
          </a:p>
        </p:txBody>
      </p:sp>
      <p:sp>
        <p:nvSpPr>
          <p:cNvPr id="84" name="Text 81"/>
          <p:cNvSpPr txBox="1"/>
          <p:nvPr/>
        </p:nvSpPr>
        <p:spPr>
          <a:xfrm>
            <a:off x="3383280" y="4983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blocos × cabeças</a:t>
            </a:r>
            <a:endParaRPr lang="en-US" sz="1500" dirty="0"/>
          </a:p>
        </p:txBody>
      </p:sp>
      <p:sp>
        <p:nvSpPr>
          <p:cNvPr id="85" name="Text 82"/>
          <p:cNvSpPr txBox="1"/>
          <p:nvPr/>
        </p:nvSpPr>
        <p:spPr>
          <a:xfrm>
            <a:off x="6126480" y="41605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F5D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256</a:t>
            </a:r>
            <a:endParaRPr lang="en-US" sz="4000" dirty="0"/>
          </a:p>
        </p:txBody>
      </p:sp>
      <p:sp>
        <p:nvSpPr>
          <p:cNvPr id="86" name="Text 83"/>
          <p:cNvSpPr txBox="1"/>
          <p:nvPr/>
        </p:nvSpPr>
        <p:spPr>
          <a:xfrm>
            <a:off x="6126480" y="4983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caracteres de contexto</a:t>
            </a:r>
            <a:endParaRPr lang="en-US" sz="1500" dirty="0"/>
          </a:p>
        </p:txBody>
      </p:sp>
      <p:sp>
        <p:nvSpPr>
          <p:cNvPr id="87" name="Text 84"/>
          <p:cNvSpPr txBox="1"/>
          <p:nvPr/>
        </p:nvSpPr>
        <p:spPr>
          <a:xfrm>
            <a:off x="8869680" y="41605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2F5D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min</a:t>
            </a:r>
            <a:endParaRPr lang="en-US" sz="4000" dirty="0"/>
          </a:p>
        </p:txBody>
      </p:sp>
      <p:sp>
        <p:nvSpPr>
          <p:cNvPr id="88" name="Text 85"/>
          <p:cNvSpPr txBox="1"/>
          <p:nvPr/>
        </p:nvSpPr>
        <p:spPr>
          <a:xfrm>
            <a:off x="8869680" y="49834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treino em uma T4</a:t>
            </a:r>
            <a:endParaRPr lang="en-US" sz="15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XADREZ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modelo sabe onde estão as peças?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40080" y="16459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97280" y="16459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554480" y="16459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2011680" y="16459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468880" y="16459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926080" y="16459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383280" y="16459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840480" y="16459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0080" y="21031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97280" y="21031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1554480" y="21031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2011680" y="21031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2468880" y="21031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2926080" y="21031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3383280" y="21031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840480" y="21031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640080" y="25603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97280" y="25603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554480" y="25603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2011680" y="25603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2468880" y="25603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2926080" y="25603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383280" y="25603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3840480" y="25603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40080" y="30175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097280" y="30175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1554480" y="30175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2011680" y="30175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2468880" y="3017520"/>
            <a:ext cx="457200" cy="457200"/>
          </a:xfrm>
          <a:prstGeom prst="rect">
            <a:avLst/>
          </a:prstGeom>
          <a:solidFill>
            <a:srgbClr val="BFD0E3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2926080" y="30175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3383280" y="30175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3840480" y="30175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40080" y="34747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1097280" y="34747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1554480" y="34747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2011680" y="34747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2468880" y="3474720"/>
            <a:ext cx="457200" cy="457200"/>
          </a:xfrm>
          <a:prstGeom prst="rect">
            <a:avLst/>
          </a:prstGeom>
          <a:solidFill>
            <a:srgbClr val="BFD0E3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2926080" y="34747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3383280" y="34747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3840480" y="34747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640080" y="39319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1097280" y="39319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1554480" y="39319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2011680" y="39319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2468880" y="39319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2926080" y="3931920"/>
            <a:ext cx="457200" cy="457200"/>
          </a:xfrm>
          <a:prstGeom prst="rect">
            <a:avLst/>
          </a:prstGeom>
          <a:solidFill>
            <a:srgbClr val="BFD0E3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2" name="Shape 49"/>
          <p:cNvSpPr/>
          <p:nvPr/>
        </p:nvSpPr>
        <p:spPr>
          <a:xfrm>
            <a:off x="3383280" y="39319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3840480" y="39319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640080" y="43891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1097280" y="43891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1554480" y="43891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2011680" y="43891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2468880" y="43891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2926080" y="43891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0" name="Shape 57"/>
          <p:cNvSpPr/>
          <p:nvPr/>
        </p:nvSpPr>
        <p:spPr>
          <a:xfrm>
            <a:off x="3383280" y="43891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1" name="Shape 58"/>
          <p:cNvSpPr/>
          <p:nvPr/>
        </p:nvSpPr>
        <p:spPr>
          <a:xfrm>
            <a:off x="3840480" y="43891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640080" y="48463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3" name="Shape 60"/>
          <p:cNvSpPr/>
          <p:nvPr/>
        </p:nvSpPr>
        <p:spPr>
          <a:xfrm>
            <a:off x="1097280" y="48463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1554480" y="48463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5" name="Shape 62"/>
          <p:cNvSpPr/>
          <p:nvPr/>
        </p:nvSpPr>
        <p:spPr>
          <a:xfrm>
            <a:off x="2011680" y="48463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2468880" y="48463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7" name="Shape 64"/>
          <p:cNvSpPr/>
          <p:nvPr/>
        </p:nvSpPr>
        <p:spPr>
          <a:xfrm>
            <a:off x="2926080" y="48463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8" name="Shape 65"/>
          <p:cNvSpPr/>
          <p:nvPr/>
        </p:nvSpPr>
        <p:spPr>
          <a:xfrm>
            <a:off x="3383280" y="4846320"/>
            <a:ext cx="457200" cy="457200"/>
          </a:xfrm>
          <a:prstGeom prst="rect">
            <a:avLst/>
          </a:prstGeom>
          <a:solidFill>
            <a:srgbClr val="D9DEE5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69" name="Shape 66"/>
          <p:cNvSpPr/>
          <p:nvPr/>
        </p:nvSpPr>
        <p:spPr>
          <a:xfrm>
            <a:off x="3840480" y="4846320"/>
            <a:ext cx="4572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EE5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640080" y="1645920"/>
            <a:ext cx="3657600" cy="3657600"/>
          </a:xfrm>
          <a:prstGeom prst="rect">
            <a:avLst/>
          </a:prstGeom>
          <a:ln w="12700">
            <a:solidFill>
              <a:srgbClr val="1B1B1B"/>
            </a:solidFill>
            <a:prstDash val="solid"/>
          </a:ln>
        </p:spPr>
      </p:sp>
      <p:sp>
        <p:nvSpPr>
          <p:cNvPr id="71" name="Text 68"/>
          <p:cNvSpPr txBox="1"/>
          <p:nvPr/>
        </p:nvSpPr>
        <p:spPr>
          <a:xfrm>
            <a:off x="4937760" y="164592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Hipótese: para prever lances legais, a rede precisa manter internamente uma representação do tabuleiro.</a:t>
            </a:r>
            <a:endParaRPr lang="en-US" sz="1900" dirty="0"/>
          </a:p>
        </p:txBody>
      </p:sp>
      <p:sp>
        <p:nvSpPr>
          <p:cNvPr id="72" name="Text 69"/>
          <p:cNvSpPr txBox="1"/>
          <p:nvPr/>
        </p:nvSpPr>
        <p:spPr>
          <a:xfrm>
            <a:off x="4937760" y="27889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 do notebook</a:t>
            </a:r>
            <a:endParaRPr lang="en-US" sz="1700" dirty="0"/>
          </a:p>
        </p:txBody>
      </p:sp>
      <p:sp>
        <p:nvSpPr>
          <p:cNvPr id="73" name="Text 70"/>
          <p:cNvSpPr txBox="1"/>
          <p:nvPr/>
        </p:nvSpPr>
        <p:spPr>
          <a:xfrm>
            <a:off x="4937760" y="315468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Taxa de legalidade: fração dos lances do modelo que são legais na primeira tentativa, jogando contra um adversário aleatório.</a:t>
            </a:r>
            <a:endParaRPr lang="en-US" sz="1600" dirty="0"/>
          </a:p>
        </p:txBody>
      </p:sp>
      <p:sp>
        <p:nvSpPr>
          <p:cNvPr id="74" name="Text 71"/>
          <p:cNvSpPr txBox="1"/>
          <p:nvPr/>
        </p:nvSpPr>
        <p:spPr>
          <a:xfrm>
            <a:off x="4937760" y="4114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 na literatura</a:t>
            </a:r>
            <a:endParaRPr lang="en-US" sz="1700" dirty="0"/>
          </a:p>
        </p:txBody>
      </p:sp>
      <p:sp>
        <p:nvSpPr>
          <p:cNvPr id="75" name="Text 72"/>
          <p:cNvSpPr txBox="1"/>
          <p:nvPr/>
        </p:nvSpPr>
        <p:spPr>
          <a:xfrm>
            <a:off x="4937760" y="448056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Karvonen (2024) mostra que sondas lineares recuperam o estado do tabuleiro a partir das ativações de modelos treinados apenas com texto PGN.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XADREZ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Temperatura de amostragem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pic>
        <p:nvPicPr>
          <p:cNvPr id="6" name="Image 0" descr="/Users/giovannivasconcelos/Documents/University/tech_summit/attention/slides/assets/eq_tem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1752380" cy="128016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292608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 &lt; 1 concentra a probabilidade no token mais provável.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640080" y="35204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τ &gt; 1 aproxima a distribuição da uniforme.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429768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mesmo parâmetro “temperature” das APIs de modelos de linguagem.</a:t>
            </a:r>
            <a:endParaRPr lang="en-US" sz="1500" dirty="0"/>
          </a:p>
        </p:txBody>
      </p:sp>
      <p:pic>
        <p:nvPicPr>
          <p:cNvPr id="10" name="Image 1" descr="/Users/giovannivasconcelos/Documents/University/tech_summit/attention/slides/assets/ch_tem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29682" y="1463040"/>
            <a:ext cx="5714236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PRÁTICA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3 no notebook: xadrez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5544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2F5D8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 min</a:t>
            </a:r>
            <a:endParaRPr lang="en-US" sz="54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146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01:30 até 01:50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4023360" y="16002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3.3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5577840" y="160020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gerar partidas e encontrar o primeiro lance ilegal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4023360" y="23317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3.3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577840" y="233172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variar a temperatura e comparar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4023360" y="30632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3.4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5577840" y="306324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comparar a taxa de legalidade com o modelo de referência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4023360" y="37947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3.5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5577840" y="379476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jogar uma partida contra o modelo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4023360" y="4526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seção 3.6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5577840" y="45262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complemento: visualizar a atenção no xadrez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640080" y="5440680"/>
            <a:ext cx="10911535" cy="685800"/>
          </a:xfrm>
          <a:prstGeom prst="rect">
            <a:avLst/>
          </a:prstGeom>
          <a:solidFill>
            <a:srgbClr val="F3F4F6"/>
          </a:solidFill>
          <a:ln w="12700">
            <a:solidFill>
              <a:srgbClr val="F3F4F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14400" y="5440680"/>
            <a:ext cx="1036289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Lances em notação algébrica: e4, Nf3, exd5, O-O, Qxf7#. Digite “sair” para encerrar.</a:t>
            </a:r>
            <a:endParaRPr lang="en-US" sz="16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ENCERRAMENTO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Daqui até um LLM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45920"/>
          <a:ext cx="1091153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931920"/>
                <a:gridCol w="4785055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Este workshop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 LLM de grande porte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caracteres (33)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subpalavras via BPE (~10⁵)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Parâmetros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0,8M a 5M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10⁹ a 10¹²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Dados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MB de partidas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trilhões de tokens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Treino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minutos em uma T4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meses em milhares de GPUs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Etapas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pré-treino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1B1B1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pré-treino, ajuste por instruções, RLHF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109728" marB="109728" anchor="ctr">
                    <a:lnL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C9C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"/>
          <p:cNvSpPr txBox="1"/>
          <p:nvPr/>
        </p:nvSpPr>
        <p:spPr>
          <a:xfrm>
            <a:off x="640080" y="53035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arquitetura é, em essência, a que foi escrita hoje.</a:t>
            </a:r>
            <a:endParaRPr lang="en-US" sz="2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20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9E2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ENCERRAMENTO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566928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 e próximos passos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1645920"/>
            <a:ext cx="107899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Vaswani, A. et al. (2017).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Attention Is All You Need. NeurIPS. arXiv:1706.03762.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Karpathy, A. (2023).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Let's build GPT: from scratch, in code, spelled out. Vídeo; repositório nanoGPT.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Alammar, J. (2018).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Illustrated Transformer. jalammar.github.io.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Karvonen, A. (2024).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Emergent World Models and Latent Variable Estimation in Chess-Playing Language Models. arXiv:2403.15498.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Li, K. et al. (2023).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Emergent World Representations: Exploring a Sequence Model Trained on a Synthetic Task. ICLR.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Prince, S. (2023).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Understanding Deep Learning, cap. 12 (Transformers). MIT Press.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892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Exercícios para casa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640080" y="525780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F5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Trocar o embedding de posição pelo senoidal · aumentar n_layer e n_embd · treinar em outro corpus.</a:t>
            </a:r>
            <a:endParaRPr lang="en-US" sz="15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002975" y="6446520"/>
            <a:ext cx="5486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A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82880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rgbClr val="1B1B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Obrigado.</a:t>
            </a:r>
            <a:endParaRPr lang="en-US" sz="60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29260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i="1" dirty="0">
                <a:solidFill>
                  <a:srgbClr val="5F5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Perguntas?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4805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B1B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Giovanni Vasconcelos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4892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F5F5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colab.research.google.com/github/giovannibragasv/transformer-do-zero/blob/main/workshop_aluno.ipynb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778240" y="1737360"/>
            <a:ext cx="457200" cy="457200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9235440" y="17373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9692640" y="17373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149840" y="17373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607040" y="17373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1064240" y="17373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778240" y="2194560"/>
            <a:ext cx="457200" cy="45720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9235440" y="2194560"/>
            <a:ext cx="457200" cy="45720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9692640" y="21945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10149840" y="21945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607040" y="21945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11064240" y="21945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8778240" y="2651760"/>
            <a:ext cx="457200" cy="457200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9235440" y="2651760"/>
            <a:ext cx="457200" cy="45720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692640" y="2651760"/>
            <a:ext cx="457200" cy="457200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149840" y="26517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0607040" y="26517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11064240" y="26517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8778240" y="3108960"/>
            <a:ext cx="457200" cy="457200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9235440" y="3108960"/>
            <a:ext cx="457200" cy="45720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9692640" y="3108960"/>
            <a:ext cx="457200" cy="457200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10149840" y="3108960"/>
            <a:ext cx="457200" cy="457200"/>
          </a:xfrm>
          <a:prstGeom prst="rect">
            <a:avLst/>
          </a:prstGeom>
          <a:solidFill>
            <a:srgbClr val="E8EEF5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10607040" y="31089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11064240" y="31089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8778240" y="3566160"/>
            <a:ext cx="457200" cy="45720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235440" y="3566160"/>
            <a:ext cx="457200" cy="45720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9692640" y="3566160"/>
            <a:ext cx="457200" cy="45720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10149840" y="3566160"/>
            <a:ext cx="457200" cy="45720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10607040" y="3566160"/>
            <a:ext cx="457200" cy="457200"/>
          </a:xfrm>
          <a:prstGeom prst="rect">
            <a:avLst/>
          </a:prstGeom>
          <a:solidFill>
            <a:srgbClr val="7FA0C4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11064240" y="356616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8778240" y="4023360"/>
            <a:ext cx="457200" cy="457200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9235440" y="4023360"/>
            <a:ext cx="457200" cy="45720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9692640" y="4023360"/>
            <a:ext cx="457200" cy="457200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0149840" y="4023360"/>
            <a:ext cx="457200" cy="45720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0607040" y="4023360"/>
            <a:ext cx="457200" cy="457200"/>
          </a:xfrm>
          <a:prstGeom prst="rect">
            <a:avLst/>
          </a:prstGeom>
          <a:solidFill>
            <a:srgbClr val="2F5D8A"/>
          </a:solidFill>
          <a:ln w="9525">
            <a:solidFill>
              <a:srgbClr val="C9C9C9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11064240" y="4023360"/>
            <a:ext cx="457200" cy="457200"/>
          </a:xfrm>
          <a:prstGeom prst="rect">
            <a:avLst/>
          </a:prstGeom>
          <a:solidFill>
            <a:srgbClr val="BFD0E3"/>
          </a:solidFill>
          <a:ln w="9525">
            <a:solidFill>
              <a:srgbClr val="C9C9C9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Attention is All You Need: construindo um Transformer do zero</dc:title>
  <dc:subject>PptxGenJS Presentation</dc:subject>
  <dc:creator>Giovanni Vasconcelos</dc:creator>
  <cp:lastModifiedBy>Giovanni Vasconcelos</cp:lastModifiedBy>
  <cp:revision>1</cp:revision>
  <dcterms:created xsi:type="dcterms:W3CDTF">2026-09-23T20:53:04Z</dcterms:created>
  <dcterms:modified xsi:type="dcterms:W3CDTF">2026-09-23T20:53:04Z</dcterms:modified>
</cp:coreProperties>
</file>